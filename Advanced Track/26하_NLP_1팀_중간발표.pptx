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71" r:id="rId4"/>
    <p:sldId id="283" r:id="rId5"/>
    <p:sldId id="282" r:id="rId6"/>
    <p:sldId id="285" r:id="rId7"/>
    <p:sldId id="284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5" r:id="rId17"/>
    <p:sldId id="294" r:id="rId18"/>
    <p:sldId id="281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2727" autoAdjust="0"/>
  </p:normalViewPr>
  <p:slideViewPr>
    <p:cSldViewPr snapToGrid="0">
      <p:cViewPr varScale="1">
        <p:scale>
          <a:sx n="109" d="100"/>
          <a:sy n="109" d="100"/>
        </p:scale>
        <p:origin x="667" y="8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FC77C09-F715-3465-2229-B635D03DC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EB56601-AA58-27B3-F51B-70B465D469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4602590-C87F-6568-9C6E-48D100BAD9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3206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DA7B0558-6BC6-30D6-1179-E68F2DD0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CEB77C8D-5F98-1398-C538-69D578FF05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562905DC-886D-46E6-F023-381808F225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2296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F1043BA3-0B8F-6C43-6B3F-7A56F3F6E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0289EDA3-21D8-93D5-F10A-2C09B0A9F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91B1E9D4-B42D-2F2B-34B3-CC3993F617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5510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871E04D-AE5B-4F99-31F4-870A0B897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D4DAB049-2C3F-F013-B260-835DA1E4F6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84E6D4BF-EB15-0500-045A-1D81D5C154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7569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B9C0CC7-1107-248D-5230-66EB0815D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EEE54B81-5D79-8A09-F7C9-C00252F070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E5FC1194-E436-3039-2EB9-370D2C7702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3222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4032384-4ED3-5A3F-6742-0B847C549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BEDEBF4F-0DDA-F571-E7DA-DA603C9244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AEA2C818-4ED0-9DD2-3D0E-9046460242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9537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CB647C00-B613-F1E8-011F-6631CE0DA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A1976D06-D5E9-593D-AF02-D1EC69F0C2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7D5B0E8D-637F-4ACB-A08E-F932F855E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584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8B65D06-3192-1277-DEB6-9F0B8E4A4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52AC1791-0B3A-A5B2-E79A-A2038F1A99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69874C1D-22AF-977D-B9E4-98ED8A6608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8350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5E277EF-A1D7-DE90-7B5F-33FAE2E4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128D050B-6766-11CC-EE62-6A0DCBB43A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39695FC6-F323-0041-FAC9-4D518C39FB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3220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2361E78-7FE4-88D6-16F6-92FA8473C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20C6F31A-123B-C680-A5FE-BAE5AE1326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1A4CB352-8115-E67D-D82D-ABDF91DFCF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6204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1BA8A781-434A-9654-542C-FEDD60008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6339A88C-FC38-2CED-35A2-1E1CEDDD01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A3853416-6BBC-3F05-08E6-BEB70C8945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59741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E9B580B-9BF2-094D-6008-FFB1D32D3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D2192A7C-DC1C-D475-71DE-3BEC83A6DE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29331CF1-3BC0-DC88-4453-E4C546C981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97303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21DDFEB-D096-582A-AB8E-4B0635FF4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7F324E29-172C-35F7-6108-E3E08149D5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2EC41172-74FD-544E-3F4D-587114B54F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751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627F5B2-8F3C-2614-5C05-3A9EADF3E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1DB81108-2C9F-3865-012A-066C931CC0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55EFA134-760D-4329-E058-7A6B116134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9716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A626AD6-74A4-998F-97CB-76730FEB6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B4247A1F-6C06-80AC-4175-B98C11DE06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7E3E5128-E36F-E3CF-CCE9-94B68F7411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2322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F743C577-D633-FCF2-4A40-B121F444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4522CE3F-7303-B701-D98F-0EBA87399A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C9E05340-70B7-06E7-F9CE-9AFDD1947B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08588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7F1A0B6-7775-1324-26A8-7998CCF1B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4EB0D949-9B84-06F8-D888-326E253E8A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B89FEE83-70D8-E13F-C1D9-48B8D37A64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23958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9E6426C2-2B2B-FDDD-8346-B4AE2A610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DD8A6917-7460-58B7-85EA-367970C4DA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F1465EE7-1894-AA85-67F6-8831284C5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기존 </a:t>
            </a:r>
            <a:r>
              <a:rPr lang="en-US" altLang="ko-KR" dirty="0"/>
              <a:t>VLM</a:t>
            </a:r>
            <a:r>
              <a:rPr lang="ko-KR" altLang="en-US" dirty="0"/>
              <a:t>의 주요 도전과제는</a:t>
            </a:r>
            <a:r>
              <a:rPr lang="en-US" altLang="ko-KR" dirty="0"/>
              <a:t> Prompt Engineering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어떠한 </a:t>
            </a:r>
            <a:r>
              <a:rPr lang="en-US" altLang="ko-KR" dirty="0"/>
              <a:t>prompt</a:t>
            </a:r>
            <a:r>
              <a:rPr lang="ko-KR" altLang="en-US" dirty="0"/>
              <a:t>를 사용하느냐</a:t>
            </a:r>
            <a:r>
              <a:rPr lang="en-US" altLang="ko-KR" dirty="0"/>
              <a:t>?</a:t>
            </a:r>
            <a:r>
              <a:rPr lang="ko-KR" altLang="en-US" dirty="0"/>
              <a:t>에 따라 모델 성능이 크게 달라졌기에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적절한 </a:t>
            </a:r>
            <a:r>
              <a:rPr lang="en-US" altLang="ko-KR" dirty="0"/>
              <a:t>prompt</a:t>
            </a:r>
            <a:r>
              <a:rPr lang="ko-KR" altLang="en-US" dirty="0"/>
              <a:t>를 고르기 위해 노력해야 했고</a:t>
            </a:r>
            <a:r>
              <a:rPr lang="en-US" altLang="ko-KR" dirty="0"/>
              <a:t>,</a:t>
            </a:r>
            <a:r>
              <a:rPr lang="ko-KR" altLang="en-US" dirty="0"/>
              <a:t> 이는 많은 시간과 사전지식이 필요한 작업이었습니다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예시를 보시면</a:t>
            </a:r>
            <a:r>
              <a:rPr lang="en-US" altLang="ko-KR" dirty="0"/>
              <a:t>,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대신에 </a:t>
            </a:r>
            <a:r>
              <a:rPr lang="en-US" altLang="ko-KR" dirty="0"/>
              <a:t>a photo of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라고 쓰는 등의</a:t>
            </a:r>
            <a:br>
              <a:rPr lang="en-US" altLang="ko-KR" dirty="0"/>
            </a:br>
            <a:r>
              <a:rPr lang="ko-KR" altLang="en-US" dirty="0"/>
              <a:t>아주 미세한 표현 차이에도 성능에 큰 영향을 미치는 것을 볼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따라서 저자들은 </a:t>
            </a:r>
            <a:r>
              <a:rPr lang="en-US" altLang="ko-KR" dirty="0"/>
              <a:t>Context Optimization, </a:t>
            </a:r>
            <a:r>
              <a:rPr lang="ko-KR" altLang="en-US" dirty="0"/>
              <a:t>즉</a:t>
            </a:r>
            <a:r>
              <a:rPr lang="en-US" altLang="ko-KR" dirty="0"/>
              <a:t> </a:t>
            </a:r>
            <a:r>
              <a:rPr lang="en-US" altLang="ko-KR" dirty="0" err="1"/>
              <a:t>CoOp</a:t>
            </a:r>
            <a:r>
              <a:rPr lang="ko-KR" altLang="en-US" dirty="0"/>
              <a:t>이라는 방법을 제안하는데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이는 </a:t>
            </a:r>
            <a:r>
              <a:rPr lang="en-US" altLang="ko-KR" dirty="0"/>
              <a:t>prompt</a:t>
            </a:r>
            <a:r>
              <a:rPr lang="ko-KR" altLang="en-US" dirty="0"/>
              <a:t>의 </a:t>
            </a:r>
            <a:r>
              <a:rPr lang="en-US" altLang="ko-KR" dirty="0"/>
              <a:t>"a photo of"</a:t>
            </a:r>
            <a:r>
              <a:rPr lang="ko-KR" altLang="en-US" dirty="0"/>
              <a:t>와 같은 </a:t>
            </a:r>
            <a:r>
              <a:rPr lang="en-US" altLang="ko-KR" dirty="0" err="1"/>
              <a:t>prepix</a:t>
            </a:r>
            <a:r>
              <a:rPr lang="ko-KR" altLang="en-US" dirty="0"/>
              <a:t>를 </a:t>
            </a:r>
            <a:r>
              <a:rPr lang="en-US" altLang="ko-KR" dirty="0"/>
              <a:t>learnable</a:t>
            </a:r>
            <a:r>
              <a:rPr lang="ko-KR" altLang="en-US" dirty="0"/>
              <a:t>하게 만들자는 것입니다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0146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D5B6125-760D-66D3-D847-B915291ED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97EA4C0B-D456-93C1-78F1-2B5443FEA049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35E65745-5A8D-AADA-0B19-C9B3C3C76D6A}"/>
              </a:ext>
            </a:extLst>
          </p:cNvPr>
          <p:cNvSpPr txBox="1"/>
          <p:nvPr/>
        </p:nvSpPr>
        <p:spPr>
          <a:xfrm>
            <a:off x="1339750" y="2710050"/>
            <a:ext cx="6831484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</a:rPr>
              <a:t>NLP 1</a:t>
            </a:r>
            <a:r>
              <a:rPr lang="ko-KR" altLang="en-US" sz="2500" b="1" dirty="0">
                <a:solidFill>
                  <a:srgbClr val="19264B"/>
                </a:solidFill>
              </a:rPr>
              <a:t>팀</a:t>
            </a:r>
            <a:r>
              <a:rPr lang="en-US" altLang="ko" sz="2500" b="1" dirty="0">
                <a:solidFill>
                  <a:srgbClr val="19264B"/>
                </a:solidFill>
              </a:rPr>
              <a:t> </a:t>
            </a:r>
            <a:r>
              <a:rPr lang="ko-KR" altLang="en-US" sz="2500" b="1" dirty="0">
                <a:solidFill>
                  <a:srgbClr val="19264B"/>
                </a:solidFill>
              </a:rPr>
              <a:t>프로젝트 발표</a:t>
            </a:r>
            <a:endParaRPr lang="en-US" altLang="ko-KR"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6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10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27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한승원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D739C4E3-FE66-9166-31E7-92BD76F53DC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2FA6B3E7-426D-AD69-4DE3-D805DE7741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169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5EEF704E-5189-4803-2252-6DD6A3EBF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A459719-E54E-3125-B6AD-D4B786FE59B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AC0A6C07-C4E8-B2DF-D3C0-7020AE5829C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9925F4B3-F915-8361-497C-FF0EDEDBC95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8C4D223B-391F-085A-64AA-FDA4B106B12D}"/>
              </a:ext>
            </a:extLst>
          </p:cNvPr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이곳에 만나서 찍은 사진을 넣어주세요.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(비대면일 경우엔 화면 캡쳐 이용)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얼굴이 나오게 찍어주셔야 합니다:D</a:t>
            </a:r>
            <a:endParaRPr sz="1200" dirty="0"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A6AAD305-99FE-FD06-DEF4-69BBD61C3383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팀원</a:t>
            </a:r>
            <a:r>
              <a:rPr lang="ko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소개 및 만남 인증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5E158CB9-F893-F53F-5B04-1D363FF05794}"/>
              </a:ext>
            </a:extLst>
          </p:cNvPr>
          <p:cNvSpPr txBox="1"/>
          <p:nvPr/>
        </p:nvSpPr>
        <p:spPr>
          <a:xfrm>
            <a:off x="6305000" y="2305565"/>
            <a:ext cx="2903033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/>
              <a:t>스터디</a:t>
            </a:r>
            <a:r>
              <a:rPr lang="ko" sz="1600" b="1" dirty="0"/>
              <a:t>원 1 : </a:t>
            </a:r>
            <a:r>
              <a:rPr lang="ko-KR" altLang="en-US" sz="1600" b="1" dirty="0"/>
              <a:t>한승원</a:t>
            </a:r>
            <a:endParaRPr lang="en-US" altLang="ko-KR" sz="16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 err="1"/>
              <a:t>스터디원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2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: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홍예진</a:t>
            </a:r>
            <a:endParaRPr lang="en-US" altLang="ko-KR" sz="16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 err="1"/>
              <a:t>스터디원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3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:</a:t>
            </a:r>
            <a:r>
              <a:rPr lang="ko-KR" altLang="en-US" sz="1600" b="1" dirty="0"/>
              <a:t> 노지우</a:t>
            </a:r>
            <a:endParaRPr sz="16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FD025C-0ADE-5217-87EF-6164CF814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237" y="1262100"/>
            <a:ext cx="4287600" cy="341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05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B1CECD24-390F-17DC-738B-72566F785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ACB97B9F-4AF4-C181-B6A3-0AD20368FBC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312D4E75-DE73-DED9-2EB7-DF6C646C74D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7DB0BDBB-F667-DE78-06E3-01F78251A7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E5ECC5B1-EB48-54EB-D169-2B792984EFD6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프로젝트 주제 소개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23EADB-53FD-7DC4-C8BF-3A95B923937D}"/>
              </a:ext>
            </a:extLst>
          </p:cNvPr>
          <p:cNvSpPr txBox="1"/>
          <p:nvPr/>
        </p:nvSpPr>
        <p:spPr>
          <a:xfrm>
            <a:off x="1408975" y="1769374"/>
            <a:ext cx="7391492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b="1" dirty="0">
                <a:solidFill>
                  <a:schemeClr val="tx1"/>
                </a:solidFill>
              </a:rPr>
              <a:t>RQ1</a:t>
            </a:r>
            <a:r>
              <a:rPr lang="en-US" altLang="ko-KR" sz="1800" dirty="0">
                <a:solidFill>
                  <a:schemeClr val="tx1"/>
                </a:solidFill>
              </a:rPr>
              <a:t>: Activation Steering</a:t>
            </a:r>
            <a:r>
              <a:rPr lang="ko-KR" altLang="en-US" sz="1800" dirty="0">
                <a:solidFill>
                  <a:schemeClr val="tx1"/>
                </a:solidFill>
              </a:rPr>
              <a:t>은 </a:t>
            </a:r>
            <a:r>
              <a:rPr lang="en-US" altLang="ko-KR" sz="1800" dirty="0">
                <a:solidFill>
                  <a:schemeClr val="tx1"/>
                </a:solidFill>
              </a:rPr>
              <a:t>LLM</a:t>
            </a:r>
            <a:r>
              <a:rPr lang="ko-KR" altLang="en-US" sz="1800" dirty="0">
                <a:solidFill>
                  <a:schemeClr val="tx1"/>
                </a:solidFill>
              </a:rPr>
              <a:t>의 답변 품질을 유지하면서 사용자 선호를 반영하는 답변을 할 수 있는가</a:t>
            </a:r>
            <a:r>
              <a:rPr lang="en-US" altLang="ko-KR" sz="1800" dirty="0">
                <a:solidFill>
                  <a:schemeClr val="tx1"/>
                </a:solidFill>
              </a:rPr>
              <a:t>?</a:t>
            </a:r>
            <a:br>
              <a:rPr lang="en-US" altLang="ko-KR" sz="1800" dirty="0">
                <a:solidFill>
                  <a:schemeClr val="tx1"/>
                </a:solidFill>
              </a:rPr>
            </a:br>
            <a:endParaRPr lang="en-US" altLang="ko-KR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800" b="1" dirty="0">
                <a:solidFill>
                  <a:schemeClr val="bg1">
                    <a:lumMod val="65000"/>
                  </a:schemeClr>
                </a:solidFill>
              </a:rPr>
              <a:t>RQ2</a:t>
            </a:r>
            <a:r>
              <a:rPr lang="en-US" altLang="ko-KR" sz="1800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ko-KR" altLang="ko-KR" sz="1800" dirty="0" err="1">
                <a:solidFill>
                  <a:schemeClr val="bg1">
                    <a:lumMod val="65000"/>
                  </a:schemeClr>
                </a:solidFill>
              </a:rPr>
              <a:t>Activation</a:t>
            </a:r>
            <a:r>
              <a:rPr lang="ko-KR" altLang="ko-KR" sz="1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ko-KR" altLang="ko-KR" sz="1800" dirty="0" err="1">
                <a:solidFill>
                  <a:schemeClr val="bg1">
                    <a:lumMod val="65000"/>
                  </a:schemeClr>
                </a:solidFill>
              </a:rPr>
              <a:t>Steering의</a:t>
            </a:r>
            <a:r>
              <a:rPr lang="ko-KR" altLang="ko-KR" sz="1800" dirty="0">
                <a:solidFill>
                  <a:schemeClr val="bg1">
                    <a:lumMod val="65000"/>
                  </a:schemeClr>
                </a:solidFill>
              </a:rPr>
              <a:t> 적용 레이어와 강도는 출력 변화 및 사용자 선호 적합도에 어떤 영향</a:t>
            </a:r>
            <a:r>
              <a:rPr lang="ko-KR" altLang="en-US" sz="1800" dirty="0">
                <a:solidFill>
                  <a:schemeClr val="bg1">
                    <a:lumMod val="65000"/>
                  </a:schemeClr>
                </a:solidFill>
              </a:rPr>
              <a:t>을 미치는가</a:t>
            </a:r>
            <a:r>
              <a:rPr lang="en-US" altLang="ko-KR" sz="1800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83FCD0-3446-E16A-FE89-5F282F38A2B4}"/>
              </a:ext>
            </a:extLst>
          </p:cNvPr>
          <p:cNvSpPr txBox="1"/>
          <p:nvPr/>
        </p:nvSpPr>
        <p:spPr>
          <a:xfrm>
            <a:off x="1408975" y="845454"/>
            <a:ext cx="7391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b="1" dirty="0" err="1"/>
              <a:t>Activation</a:t>
            </a:r>
            <a:r>
              <a:rPr lang="ko-KR" altLang="ko-KR" sz="1800" b="1" dirty="0"/>
              <a:t> </a:t>
            </a:r>
            <a:r>
              <a:rPr lang="ko-KR" altLang="ko-KR" sz="1800" b="1" dirty="0" err="1"/>
              <a:t>Steering을</a:t>
            </a:r>
            <a:r>
              <a:rPr lang="ko-KR" altLang="ko-KR" sz="1800" b="1" dirty="0"/>
              <a:t> 활용한 사용자 선호 기반</a:t>
            </a:r>
            <a:r>
              <a:rPr lang="en-US" altLang="ko-KR" sz="1800" b="1" dirty="0"/>
              <a:t> LLM</a:t>
            </a:r>
            <a:r>
              <a:rPr lang="ko-KR" altLang="ko-KR" sz="1800" b="1" dirty="0"/>
              <a:t> 개인화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884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AD91023-0B7A-F97D-9A6D-F680832D6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150971DB-E051-54DC-6153-934093800DE0}"/>
              </a:ext>
            </a:extLst>
          </p:cNvPr>
          <p:cNvSpPr/>
          <p:nvPr/>
        </p:nvSpPr>
        <p:spPr>
          <a:xfrm>
            <a:off x="7739802" y="2868290"/>
            <a:ext cx="1096829" cy="564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err="1"/>
              <a:t>ALayer</a:t>
            </a:r>
            <a:endParaRPr lang="ko-KR" altLang="en-US" sz="20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8AFF936-2414-2753-70FE-F835952D60BE}"/>
              </a:ext>
            </a:extLst>
          </p:cNvPr>
          <p:cNvSpPr/>
          <p:nvPr/>
        </p:nvSpPr>
        <p:spPr>
          <a:xfrm>
            <a:off x="7392121" y="2868290"/>
            <a:ext cx="1096829" cy="564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err="1"/>
              <a:t>asLayer</a:t>
            </a:r>
            <a:endParaRPr lang="ko-KR" altLang="en-US" sz="2000" dirty="0"/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95D0EC0-82A7-DB60-5F3A-55D14BF87C0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912958CA-BE43-3F50-6CED-F3099825CCD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7CFB63F2-9AC1-FA87-3349-3C92F563D4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5868C1F-D6C5-B900-D70A-5126EF95ED9F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Activation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Steering?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442CD4-B448-F5A0-6E6F-85E38DF43A1A}"/>
              </a:ext>
            </a:extLst>
          </p:cNvPr>
          <p:cNvSpPr txBox="1"/>
          <p:nvPr/>
        </p:nvSpPr>
        <p:spPr>
          <a:xfrm>
            <a:off x="1408975" y="797896"/>
            <a:ext cx="739149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b="1" dirty="0" err="1"/>
              <a:t>Activation</a:t>
            </a:r>
            <a:r>
              <a:rPr lang="ko-KR" altLang="ko-KR" sz="1800" b="1" dirty="0"/>
              <a:t> </a:t>
            </a:r>
            <a:r>
              <a:rPr lang="ko-KR" altLang="ko-KR" sz="1800" b="1" dirty="0" err="1"/>
              <a:t>Steerin</a:t>
            </a:r>
            <a:r>
              <a:rPr lang="en-US" altLang="ko-KR" sz="1800" b="1" dirty="0"/>
              <a:t>g</a:t>
            </a:r>
            <a:br>
              <a:rPr lang="en-US" altLang="ko-KR" sz="1800" b="1" dirty="0"/>
            </a:br>
            <a:r>
              <a:rPr lang="en-US" altLang="ko-KR" sz="1600" b="1" dirty="0"/>
              <a:t>: </a:t>
            </a:r>
            <a:r>
              <a:rPr lang="en-US" altLang="ko-KR" sz="1600" dirty="0"/>
              <a:t>LLM</a:t>
            </a:r>
            <a:r>
              <a:rPr lang="ko-KR" altLang="en-US" sz="1600" dirty="0"/>
              <a:t>을 다시 </a:t>
            </a:r>
            <a:r>
              <a:rPr lang="en-US" altLang="ko-KR" sz="1600" dirty="0"/>
              <a:t>Training (Tuning)</a:t>
            </a:r>
            <a:r>
              <a:rPr lang="ko-KR" altLang="en-US" sz="1600" dirty="0"/>
              <a:t>할 필요 없이</a:t>
            </a:r>
            <a:r>
              <a:rPr lang="en-US" altLang="ko-KR" sz="1600" dirty="0"/>
              <a:t>, </a:t>
            </a:r>
            <a:r>
              <a:rPr lang="ko-KR" altLang="ko-KR" sz="1600" b="1" dirty="0"/>
              <a:t>모델이 답변을 생성할 때</a:t>
            </a:r>
            <a:r>
              <a:rPr lang="en-US" altLang="ko-KR" sz="1600" b="1" dirty="0"/>
              <a:t> (Inference)</a:t>
            </a:r>
            <a:r>
              <a:rPr lang="ko-KR" altLang="ko-KR" sz="1600" b="1" dirty="0"/>
              <a:t> 특정 레이어의 </a:t>
            </a:r>
            <a:r>
              <a:rPr lang="ko-KR" altLang="ko-KR" sz="1600" b="1" dirty="0" err="1"/>
              <a:t>hidden</a:t>
            </a:r>
            <a:r>
              <a:rPr lang="ko-KR" altLang="ko-KR" sz="1600" b="1" dirty="0"/>
              <a:t> </a:t>
            </a:r>
            <a:r>
              <a:rPr lang="ko-KR" altLang="ko-KR" sz="1600" b="1" dirty="0" err="1"/>
              <a:t>state</a:t>
            </a:r>
            <a:r>
              <a:rPr lang="ko-KR" altLang="en-US" sz="1600" dirty="0" err="1"/>
              <a:t>를</a:t>
            </a:r>
            <a:r>
              <a:rPr lang="ko-KR" altLang="en-US" sz="1600" dirty="0"/>
              <a:t> 조작하여 행동</a:t>
            </a:r>
            <a:r>
              <a:rPr lang="en-US" altLang="ko-KR" sz="1600" dirty="0"/>
              <a:t>/</a:t>
            </a:r>
            <a:r>
              <a:rPr lang="ko-KR" altLang="en-US" sz="1600" dirty="0"/>
              <a:t>성격을 바꾸는 기술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7951FD-0094-54DE-12D0-4ED61BA0E505}"/>
              </a:ext>
            </a:extLst>
          </p:cNvPr>
          <p:cNvSpPr/>
          <p:nvPr/>
        </p:nvSpPr>
        <p:spPr>
          <a:xfrm>
            <a:off x="1751879" y="2872213"/>
            <a:ext cx="1096829" cy="564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Input</a:t>
            </a:r>
            <a:endParaRPr lang="ko-KR" altLang="en-US" sz="20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462EA90-BA5A-FC80-0349-5E0874A653D6}"/>
              </a:ext>
            </a:extLst>
          </p:cNvPr>
          <p:cNvSpPr/>
          <p:nvPr/>
        </p:nvSpPr>
        <p:spPr>
          <a:xfrm>
            <a:off x="3069824" y="3937072"/>
            <a:ext cx="1780886" cy="56406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/>
              <a:t>h’ = h + </a:t>
            </a:r>
            <a:r>
              <a:rPr lang="el-GR" altLang="ko-KR" sz="2000" dirty="0"/>
              <a:t>α</a:t>
            </a:r>
            <a:r>
              <a:rPr lang="en-US" altLang="ko-KR" sz="2000" dirty="0"/>
              <a:t>* v</a:t>
            </a:r>
            <a:endParaRPr lang="ko-KR" altLang="en-US" sz="2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232D77-4ABB-AB09-68BD-0B638E9072F4}"/>
              </a:ext>
            </a:extLst>
          </p:cNvPr>
          <p:cNvSpPr/>
          <p:nvPr/>
        </p:nvSpPr>
        <p:spPr>
          <a:xfrm>
            <a:off x="5228242" y="2868290"/>
            <a:ext cx="1096829" cy="564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Hidden</a:t>
            </a:r>
            <a:br>
              <a:rPr lang="en-US" altLang="ko-KR" sz="1600" dirty="0"/>
            </a:br>
            <a:r>
              <a:rPr lang="en-US" altLang="ko-KR" sz="1600" dirty="0"/>
              <a:t>State h</a:t>
            </a:r>
            <a:endParaRPr lang="ko-KR" altLang="en-US" sz="16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B564E0-75AD-2120-A52B-8B10906DC9EB}"/>
              </a:ext>
            </a:extLst>
          </p:cNvPr>
          <p:cNvSpPr/>
          <p:nvPr/>
        </p:nvSpPr>
        <p:spPr>
          <a:xfrm>
            <a:off x="2563208" y="2007103"/>
            <a:ext cx="2794144" cy="4058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Direction (Concept) vector v</a:t>
            </a:r>
            <a:endParaRPr lang="ko-KR" altLang="en-US" sz="16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F045E1-9E86-F39F-B43C-0A004E24D78F}"/>
              </a:ext>
            </a:extLst>
          </p:cNvPr>
          <p:cNvSpPr/>
          <p:nvPr/>
        </p:nvSpPr>
        <p:spPr>
          <a:xfrm>
            <a:off x="3411865" y="2868290"/>
            <a:ext cx="1096829" cy="564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err="1"/>
              <a:t>P.Layer</a:t>
            </a:r>
            <a:endParaRPr lang="ko-KR" altLang="en-US" sz="20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F22A060-4A9F-8E64-4CB7-D49EAEECE478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508694" y="3150320"/>
            <a:ext cx="719548" cy="19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0D8A770-C586-CCA2-7266-E4F78DA94287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6325071" y="3150320"/>
            <a:ext cx="2987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C3F2755-FAA3-E0CF-816A-8FEEA473D13D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3960280" y="2412987"/>
            <a:ext cx="0" cy="4553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91E51C0-C143-4DB2-516A-DF8DFD73BC55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3960267" y="3432350"/>
            <a:ext cx="13" cy="504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4BEE374-4AB9-BF55-A3BA-48E4512CB3F2}"/>
              </a:ext>
            </a:extLst>
          </p:cNvPr>
          <p:cNvSpPr txBox="1"/>
          <p:nvPr/>
        </p:nvSpPr>
        <p:spPr>
          <a:xfrm>
            <a:off x="3960267" y="2392135"/>
            <a:ext cx="3094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ko-KR" sz="2400" dirty="0"/>
              <a:t>α</a:t>
            </a:r>
            <a:endParaRPr lang="ko-KR" alt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E2F033-25FB-FCE7-857E-5E3F184FFC26}"/>
              </a:ext>
            </a:extLst>
          </p:cNvPr>
          <p:cNvSpPr txBox="1"/>
          <p:nvPr/>
        </p:nvSpPr>
        <p:spPr>
          <a:xfrm>
            <a:off x="2888895" y="2824567"/>
            <a:ext cx="3094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…</a:t>
            </a:r>
            <a:endParaRPr lang="ko-KR" altLang="en-US" sz="16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CDF048-D8E1-17DB-1018-A7D7609EF184}"/>
              </a:ext>
            </a:extLst>
          </p:cNvPr>
          <p:cNvSpPr/>
          <p:nvPr/>
        </p:nvSpPr>
        <p:spPr>
          <a:xfrm>
            <a:off x="7056619" y="2868290"/>
            <a:ext cx="1096829" cy="564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A6EC7F-A02A-C667-AB9E-C0B139FAD685}"/>
              </a:ext>
            </a:extLst>
          </p:cNvPr>
          <p:cNvSpPr/>
          <p:nvPr/>
        </p:nvSpPr>
        <p:spPr>
          <a:xfrm>
            <a:off x="7056618" y="2868290"/>
            <a:ext cx="1096829" cy="564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err="1"/>
              <a:t>A.Layer</a:t>
            </a:r>
            <a:endParaRPr lang="ko-KR" altLang="en-US" sz="20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FFEF8D-E353-D3BD-5ED9-566270D6A957}"/>
              </a:ext>
            </a:extLst>
          </p:cNvPr>
          <p:cNvSpPr/>
          <p:nvPr/>
        </p:nvSpPr>
        <p:spPr>
          <a:xfrm>
            <a:off x="6623825" y="2868290"/>
            <a:ext cx="1096829" cy="564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err="1"/>
              <a:t>A.Layer</a:t>
            </a:r>
            <a:endParaRPr lang="ko-KR" alt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1BD451-AFB8-EE2C-11DD-75417DC84173}"/>
              </a:ext>
            </a:extLst>
          </p:cNvPr>
          <p:cNvSpPr txBox="1"/>
          <p:nvPr/>
        </p:nvSpPr>
        <p:spPr>
          <a:xfrm>
            <a:off x="5846234" y="4224080"/>
            <a:ext cx="281241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chemeClr val="tx1"/>
                </a:solidFill>
              </a:rPr>
              <a:t>Vanila</a:t>
            </a:r>
            <a:r>
              <a:rPr lang="ko-KR" altLang="en-US" sz="1800" b="1" dirty="0">
                <a:solidFill>
                  <a:schemeClr val="tx1"/>
                </a:solidFill>
              </a:rPr>
              <a:t> </a:t>
            </a:r>
            <a:r>
              <a:rPr lang="en-US" altLang="ko-KR" sz="1800" b="1" dirty="0">
                <a:solidFill>
                  <a:schemeClr val="tx1"/>
                </a:solidFill>
              </a:rPr>
              <a:t>Additive Steering </a:t>
            </a:r>
          </a:p>
        </p:txBody>
      </p:sp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1A13CE15-EBA1-8A5F-350A-E96A62853E65}"/>
              </a:ext>
            </a:extLst>
          </p:cNvPr>
          <p:cNvSpPr txBox="1"/>
          <p:nvPr/>
        </p:nvSpPr>
        <p:spPr>
          <a:xfrm>
            <a:off x="5485963" y="2517231"/>
            <a:ext cx="73865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16th</a:t>
            </a:r>
            <a:endParaRPr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297179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AC81B8B-8148-7DD8-F449-321C59EB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F58CBFA9-00E2-110F-302F-4EFE729CF60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9960DA78-F6F3-1960-A3E4-1EB8B2FE8B2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61F8A8F6-3B77-4F03-3CBF-ABD65A3C05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47D7B6DF-3515-3AFF-53C9-84F3C42D7688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Activation Steering?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66477-15DC-E51E-5F05-FFE13CB37796}"/>
              </a:ext>
            </a:extLst>
          </p:cNvPr>
          <p:cNvSpPr txBox="1"/>
          <p:nvPr/>
        </p:nvSpPr>
        <p:spPr>
          <a:xfrm>
            <a:off x="1408975" y="845454"/>
            <a:ext cx="7391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chemeClr val="tx1"/>
                </a:solidFill>
              </a:rPr>
              <a:t>Types of Activation</a:t>
            </a:r>
            <a:r>
              <a:rPr lang="ko-KR" altLang="en-US" sz="1800" b="1" dirty="0">
                <a:solidFill>
                  <a:schemeClr val="tx1"/>
                </a:solidFill>
              </a:rPr>
              <a:t> </a:t>
            </a:r>
            <a:r>
              <a:rPr lang="en-US" altLang="ko-KR" sz="1800" b="1" dirty="0">
                <a:solidFill>
                  <a:schemeClr val="tx1"/>
                </a:solidFill>
              </a:rPr>
              <a:t>Steering by Focuses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71979C5-56F5-60CB-7942-C9408D173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512305"/>
              </p:ext>
            </p:extLst>
          </p:nvPr>
        </p:nvGraphicFramePr>
        <p:xfrm>
          <a:off x="1244391" y="1578566"/>
          <a:ext cx="3902124" cy="35420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2361">
                  <a:extLst>
                    <a:ext uri="{9D8B030D-6E8A-4147-A177-3AD203B41FA5}">
                      <a16:colId xmlns:a16="http://schemas.microsoft.com/office/drawing/2014/main" val="3364658959"/>
                    </a:ext>
                  </a:extLst>
                </a:gridCol>
                <a:gridCol w="3009763">
                  <a:extLst>
                    <a:ext uri="{9D8B030D-6E8A-4147-A177-3AD203B41FA5}">
                      <a16:colId xmlns:a16="http://schemas.microsoft.com/office/drawing/2014/main" val="215149738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b="1" dirty="0"/>
                        <a:t>접근법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b="1" dirty="0"/>
                        <a:t>핵심 아이디어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111334"/>
                  </a:ext>
                </a:extLst>
              </a:tr>
              <a:tr h="585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b="1" dirty="0">
                          <a:solidFill>
                            <a:srgbClr val="00B050"/>
                          </a:solidFill>
                        </a:rPr>
                        <a:t>CAA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b="1" dirty="0" err="1">
                          <a:solidFill>
                            <a:srgbClr val="00B050"/>
                          </a:solidFill>
                        </a:rPr>
                        <a:t>긍정·부정</a:t>
                      </a:r>
                      <a:r>
                        <a:rPr lang="ko-KR" sz="1200" b="1" dirty="0">
                          <a:solidFill>
                            <a:srgbClr val="00B050"/>
                          </a:solidFill>
                        </a:rPr>
                        <a:t> 사례의 </a:t>
                      </a:r>
                      <a:r>
                        <a:rPr lang="ko-KR" sz="1200" b="1" dirty="0" err="1">
                          <a:solidFill>
                            <a:srgbClr val="00B050"/>
                          </a:solidFill>
                        </a:rPr>
                        <a:t>활성값</a:t>
                      </a:r>
                      <a:r>
                        <a:rPr lang="ko-KR" sz="1200" b="1" dirty="0">
                          <a:solidFill>
                            <a:srgbClr val="00B050"/>
                          </a:solidFill>
                        </a:rPr>
                        <a:t> 차이를 평균해 방향을 만들고 더함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535006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CAST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입력의 활성 패턴에 따라 </a:t>
                      </a:r>
                      <a:r>
                        <a:rPr lang="ko-KR" sz="1200" dirty="0" err="1"/>
                        <a:t>steering</a:t>
                      </a:r>
                      <a:r>
                        <a:rPr lang="ko-KR" sz="1200" dirty="0"/>
                        <a:t> 적용 여부를 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2111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/>
                        <a:t>SAE</a:t>
                      </a:r>
                      <a:r>
                        <a:rPr lang="en-US" altLang="ko-KR" sz="1400" dirty="0"/>
                        <a:t> S</a:t>
                      </a:r>
                      <a:endParaRPr 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Sparse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Autoencoder로</a:t>
                      </a:r>
                      <a:r>
                        <a:rPr lang="ko-KR" sz="1200" dirty="0"/>
                        <a:t> 추출한 </a:t>
                      </a:r>
                      <a:r>
                        <a:rPr lang="ko-KR" sz="1200" dirty="0" err="1"/>
                        <a:t>feature를</a:t>
                      </a:r>
                      <a:r>
                        <a:rPr lang="ko-KR" sz="1200" dirty="0"/>
                        <a:t> 선택해 조절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400065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/>
                        <a:t>PID</a:t>
                      </a:r>
                      <a:r>
                        <a:rPr lang="en-US" altLang="ko-KR" sz="1400" dirty="0"/>
                        <a:t> S</a:t>
                      </a:r>
                      <a:endParaRPr 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피드백 제어의 </a:t>
                      </a:r>
                      <a:r>
                        <a:rPr lang="ko-KR" sz="1200" dirty="0" err="1"/>
                        <a:t>비례·적분·미분</a:t>
                      </a:r>
                      <a:r>
                        <a:rPr lang="ko-KR" sz="1200" dirty="0"/>
                        <a:t> 요소를 이용해 개입을 조절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12939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/>
                        <a:t>Angular</a:t>
                      </a:r>
                      <a:r>
                        <a:rPr lang="en-US" altLang="ko-KR" sz="1400" dirty="0"/>
                        <a:t> </a:t>
                      </a:r>
                      <a:endParaRPr 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활성값을</a:t>
                      </a:r>
                      <a:r>
                        <a:rPr lang="ko-KR" sz="1200" dirty="0"/>
                        <a:t> 목표 방향 쪽으로 회전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17115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ko-KR" sz="3200" dirty="0"/>
                        <a:t>︙</a:t>
                      </a:r>
                      <a:endParaRPr lang="ko-KR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ko-KR" sz="2800" dirty="0"/>
                        <a:t>︙</a:t>
                      </a:r>
                      <a:endParaRPr lang="ko-KR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226625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8730E33-C396-DC30-0FFB-1F91B15F0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794164"/>
              </p:ext>
            </p:extLst>
          </p:nvPr>
        </p:nvGraphicFramePr>
        <p:xfrm>
          <a:off x="5241876" y="1883366"/>
          <a:ext cx="3902124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0443">
                  <a:extLst>
                    <a:ext uri="{9D8B030D-6E8A-4147-A177-3AD203B41FA5}">
                      <a16:colId xmlns:a16="http://schemas.microsoft.com/office/drawing/2014/main" val="1656330182"/>
                    </a:ext>
                  </a:extLst>
                </a:gridCol>
                <a:gridCol w="2891681">
                  <a:extLst>
                    <a:ext uri="{9D8B030D-6E8A-4147-A177-3AD203B41FA5}">
                      <a16:colId xmlns:a16="http://schemas.microsoft.com/office/drawing/2014/main" val="1067956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1" dirty="0"/>
                        <a:t>Type</a:t>
                      </a:r>
                      <a:endParaRPr lang="ko-KR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b="1" dirty="0"/>
                        <a:t>방향 구성 기준과 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239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Population</a:t>
                      </a:r>
                      <a:endParaRPr 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여러 사용자의 답변 평점으로 만든, 모든 사용자에게 동일하게 적용하는 공통 선호 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242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속성별 성능 평가로 만든 </a:t>
                      </a:r>
                      <a:r>
                        <a:rPr lang="ko-KR" sz="1200" dirty="0" err="1"/>
                        <a:t>정확성·안전성</a:t>
                      </a:r>
                      <a:r>
                        <a:rPr lang="ko-KR" sz="1200" dirty="0"/>
                        <a:t> 등 7개 속성 방향. </a:t>
                      </a:r>
                      <a:r>
                        <a:rPr lang="en-US" altLang="ko-KR" sz="1200" dirty="0"/>
                        <a:t>(Cold-start </a:t>
                      </a:r>
                      <a:r>
                        <a:rPr lang="ko-KR" altLang="en-US" sz="1200" dirty="0"/>
                        <a:t>뼈대</a:t>
                      </a:r>
                      <a:r>
                        <a:rPr lang="en-US" altLang="ko-KR" sz="1200" dirty="0"/>
                        <a:t>)</a:t>
                      </a:r>
                      <a:endParaRPr 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021791"/>
                  </a:ext>
                </a:extLst>
              </a:tr>
              <a:tr h="437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Cold-start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사용자 설문의 속성 중요도로 </a:t>
                      </a:r>
                      <a:r>
                        <a:rPr lang="ko-KR" sz="1200" dirty="0" err="1"/>
                        <a:t>Attribute</a:t>
                      </a:r>
                      <a:r>
                        <a:rPr lang="ko-KR" sz="1200" dirty="0"/>
                        <a:t> 방향을 조합한 개인별 방향. 평점</a:t>
                      </a:r>
                      <a:r>
                        <a:rPr lang="en-US" altLang="ko-KR" sz="1200" dirty="0"/>
                        <a:t> X</a:t>
                      </a:r>
                      <a:endParaRPr 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237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Warm-start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사용자의 과거 답변 평가 이력</a:t>
                      </a:r>
                      <a:r>
                        <a:rPr lang="en-US" altLang="ko-KR" sz="1200" dirty="0"/>
                        <a:t> + </a:t>
                      </a:r>
                      <a:r>
                        <a:rPr lang="ko-KR" sz="1200" dirty="0" err="1"/>
                        <a:t>Population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방향</a:t>
                      </a:r>
                      <a:endParaRPr 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865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7821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7AF913A-25FB-8DA0-F61E-54531E6E5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7F9E4CBC-1B8F-FD56-B050-38469AAF5FF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42E7E5D1-95FB-A0ED-F6CB-EBDC8D3B850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DE4A54E8-5E32-3541-F052-0DC4E126817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5F584AA-EC9A-31A8-AEF9-497305C3D8AE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Data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1CD261-2EB3-0AB7-E3C0-AD162A9B572A}"/>
              </a:ext>
            </a:extLst>
          </p:cNvPr>
          <p:cNvSpPr txBox="1"/>
          <p:nvPr/>
        </p:nvSpPr>
        <p:spPr>
          <a:xfrm>
            <a:off x="1408975" y="797896"/>
            <a:ext cx="739149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baseline="30000" dirty="0"/>
              <a:t>[1] </a:t>
            </a:r>
            <a:r>
              <a:rPr lang="en-US" altLang="ko-KR" sz="1800" b="1" dirty="0"/>
              <a:t>PRISM </a:t>
            </a:r>
            <a:r>
              <a:rPr lang="en-US" altLang="ko-KR" b="1" dirty="0"/>
              <a:t>(Participatory, Representative, Individualized, Subjective, Multicultural)</a:t>
            </a:r>
            <a:br>
              <a:rPr lang="en-US" altLang="ko-KR" sz="1800" b="1" dirty="0"/>
            </a:br>
            <a:r>
              <a:rPr lang="en-US" altLang="ko-KR" sz="1800" b="1" dirty="0"/>
              <a:t>: </a:t>
            </a:r>
            <a:r>
              <a:rPr lang="ko-KR" altLang="ko-KR" sz="1600" dirty="0"/>
              <a:t>사용자의 설문 선호</a:t>
            </a:r>
            <a:r>
              <a:rPr lang="en-US" altLang="ko-KR" sz="1600" dirty="0"/>
              <a:t>-</a:t>
            </a:r>
            <a:r>
              <a:rPr lang="ko-KR" altLang="ko-KR" sz="1600" dirty="0"/>
              <a:t>실제 답변</a:t>
            </a:r>
            <a:r>
              <a:rPr lang="ko-KR" altLang="en-US" sz="1600" dirty="0"/>
              <a:t>을 </a:t>
            </a:r>
            <a:r>
              <a:rPr lang="en-US" altLang="ko-KR" sz="1600" dirty="0"/>
              <a:t>20</a:t>
            </a:r>
            <a:r>
              <a:rPr lang="ko-KR" altLang="en-US" sz="1600" dirty="0"/>
              <a:t>종류 </a:t>
            </a:r>
            <a:r>
              <a:rPr lang="en-US" altLang="ko-KR" sz="1600" dirty="0"/>
              <a:t>LLM</a:t>
            </a:r>
            <a:r>
              <a:rPr lang="ko-KR" altLang="en-US" sz="1600" dirty="0"/>
              <a:t>에 대해</a:t>
            </a:r>
            <a:r>
              <a:rPr lang="ko-KR" altLang="ko-KR" sz="1600" dirty="0"/>
              <a:t> 평</a:t>
            </a:r>
            <a:r>
              <a:rPr lang="ko-KR" altLang="en-US" sz="1600" dirty="0"/>
              <a:t>가</a:t>
            </a:r>
            <a:br>
              <a:rPr lang="en-US" altLang="ko-KR" sz="1600" dirty="0"/>
            </a:br>
            <a:r>
              <a:rPr lang="ko-KR" altLang="ko-KR" sz="1600" dirty="0"/>
              <a:t>같은 사용자가 무</a:t>
            </a:r>
            <a:r>
              <a:rPr lang="ko-KR" altLang="en-US" sz="1600" dirty="0"/>
              <a:t>엇을 중요하게 생각</a:t>
            </a:r>
            <a:r>
              <a:rPr lang="en-US" altLang="ko-KR" sz="1600" dirty="0"/>
              <a:t>? + </a:t>
            </a:r>
            <a:r>
              <a:rPr lang="ko-KR" altLang="ko-KR" sz="1600" dirty="0"/>
              <a:t>어떤 AI 답변을 높게 평가했는</a:t>
            </a:r>
            <a:r>
              <a:rPr lang="ko-KR" altLang="en-US" sz="1600" dirty="0"/>
              <a:t>지 관측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FB21A43-F06B-4AD9-D866-DE5C3B41F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422" y="1786222"/>
            <a:ext cx="3923621" cy="207232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D718F71-8AE5-0160-0AF6-8F2E383CA3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9043" y="1786222"/>
            <a:ext cx="4040655" cy="207232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DB46FAB-CDFB-912E-16EB-5832B2FF0009}"/>
              </a:ext>
            </a:extLst>
          </p:cNvPr>
          <p:cNvCxnSpPr>
            <a:cxnSpLocks/>
          </p:cNvCxnSpPr>
          <p:nvPr/>
        </p:nvCxnSpPr>
        <p:spPr>
          <a:xfrm>
            <a:off x="1181088" y="4644264"/>
            <a:ext cx="79629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4488977-1F1B-32F5-A0B7-B287D6D3A773}"/>
              </a:ext>
            </a:extLst>
          </p:cNvPr>
          <p:cNvSpPr txBox="1"/>
          <p:nvPr/>
        </p:nvSpPr>
        <p:spPr>
          <a:xfrm>
            <a:off x="1181088" y="4644264"/>
            <a:ext cx="779146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5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[1] Kirk, Hannah R., et al. "The PRISM alignment dataset: What participatory, representative and </a:t>
            </a:r>
            <a:r>
              <a:rPr lang="en-US" altLang="ko-KR" sz="950" dirty="0" err="1">
                <a:solidFill>
                  <a:schemeClr val="accent2">
                    <a:lumMod val="75000"/>
                    <a:lumOff val="25000"/>
                  </a:schemeClr>
                </a:solidFill>
              </a:rPr>
              <a:t>individualised</a:t>
            </a:r>
            <a:r>
              <a:rPr lang="en-US" altLang="ko-KR" sz="95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 human feedback reveals about the subjective and multicultural alignment of large language models." Advances in Neural Information Processing Systems 37 (2024): 105236-105344.</a:t>
            </a:r>
            <a:endParaRPr lang="ko-KR" altLang="en-US" sz="95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C19E4-725B-5E62-E9F0-0E695AD66676}"/>
              </a:ext>
            </a:extLst>
          </p:cNvPr>
          <p:cNvSpPr txBox="1"/>
          <p:nvPr/>
        </p:nvSpPr>
        <p:spPr>
          <a:xfrm>
            <a:off x="2623623" y="679618"/>
            <a:ext cx="5887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  </a:t>
            </a:r>
            <a:r>
              <a:rPr lang="ko-KR" altLang="en-US" b="1" dirty="0">
                <a:solidFill>
                  <a:srgbClr val="FF0000"/>
                </a:solidFill>
              </a:rPr>
              <a:t>참여</a:t>
            </a:r>
            <a:r>
              <a:rPr lang="ko-KR" altLang="en-US" b="1" dirty="0"/>
              <a:t>                      </a:t>
            </a:r>
            <a:r>
              <a:rPr lang="ko-KR" altLang="en-US" b="1" dirty="0">
                <a:solidFill>
                  <a:srgbClr val="FFC000"/>
                </a:solidFill>
              </a:rPr>
              <a:t>대표</a:t>
            </a:r>
            <a:r>
              <a:rPr lang="en-US" altLang="ko-KR" b="1" dirty="0"/>
              <a:t>             </a:t>
            </a:r>
            <a:r>
              <a:rPr lang="ko-KR" altLang="en-US" b="1" dirty="0">
                <a:solidFill>
                  <a:srgbClr val="00B050"/>
                </a:solidFill>
              </a:rPr>
              <a:t>개인화된</a:t>
            </a:r>
            <a:r>
              <a:rPr lang="en-US" altLang="ko-KR" b="1" dirty="0"/>
              <a:t>	    </a:t>
            </a:r>
            <a:r>
              <a:rPr lang="ko-KR" altLang="en-US" b="1" dirty="0">
                <a:solidFill>
                  <a:srgbClr val="0070C0"/>
                </a:solidFill>
              </a:rPr>
              <a:t>주관적인</a:t>
            </a:r>
            <a:r>
              <a:rPr lang="en-US" altLang="ko-KR" b="1" dirty="0"/>
              <a:t>	          </a:t>
            </a:r>
            <a:r>
              <a:rPr lang="ko-KR" altLang="en-US" b="1" dirty="0">
                <a:solidFill>
                  <a:srgbClr val="7030A0"/>
                </a:solidFill>
              </a:rPr>
              <a:t>다문화</a:t>
            </a:r>
            <a:r>
              <a:rPr lang="en-US" altLang="ko-KR" b="1" dirty="0"/>
              <a:t>	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1F7AF6-D45F-0C1B-66E5-FB8071B5E50C}"/>
              </a:ext>
            </a:extLst>
          </p:cNvPr>
          <p:cNvSpPr txBox="1"/>
          <p:nvPr/>
        </p:nvSpPr>
        <p:spPr>
          <a:xfrm>
            <a:off x="1486347" y="4037861"/>
            <a:ext cx="765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 실제 참여하는 </a:t>
            </a:r>
            <a:r>
              <a:rPr lang="en-US" altLang="ko-KR" dirty="0"/>
              <a:t>| </a:t>
            </a:r>
            <a:r>
              <a:rPr lang="ko-KR" altLang="en-US" dirty="0"/>
              <a:t>각 대표 </a:t>
            </a:r>
            <a:r>
              <a:rPr lang="en-US" altLang="ko-KR" dirty="0"/>
              <a:t>| </a:t>
            </a:r>
            <a:r>
              <a:rPr lang="ko-KR" altLang="en-US" dirty="0"/>
              <a:t>개인 프로필 </a:t>
            </a:r>
            <a:r>
              <a:rPr lang="en-US" altLang="ko-KR" dirty="0"/>
              <a:t>| </a:t>
            </a:r>
            <a:r>
              <a:rPr lang="ko-KR" altLang="en-US" dirty="0"/>
              <a:t>주관적 질문 선호도 모델링 </a:t>
            </a:r>
            <a:r>
              <a:rPr lang="en-US" altLang="ko-KR" dirty="0"/>
              <a:t>|</a:t>
            </a:r>
            <a:r>
              <a:rPr lang="ko-KR" altLang="en-US" dirty="0"/>
              <a:t> 다양한 문화적 배경</a:t>
            </a:r>
            <a:r>
              <a:rPr lang="en-US" altLang="ko-KR" dirty="0"/>
              <a:t>	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6570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3720AAF-F66A-2DBA-55E8-86673BFBD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EED5E71-9567-37C5-B0A8-5DC5993FDC1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B7F0686E-A98E-C6FE-ACE0-E264A55AF0B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1039EA57-206F-3B3D-EA2C-DF87FD3254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E487BFA-A1E7-F8B8-8394-A325DA4B2A4F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Data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BB126A-FC12-4457-5912-0295210D529F}"/>
              </a:ext>
            </a:extLst>
          </p:cNvPr>
          <p:cNvSpPr txBox="1"/>
          <p:nvPr/>
        </p:nvSpPr>
        <p:spPr>
          <a:xfrm>
            <a:off x="1408975" y="797896"/>
            <a:ext cx="739149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/>
              <a:t>PRISM</a:t>
            </a:r>
            <a:br>
              <a:rPr lang="en-US" altLang="ko-KR" sz="1800" b="1" dirty="0"/>
            </a:br>
            <a:r>
              <a:rPr lang="en-US" altLang="ko-KR" sz="1600" b="1" dirty="0"/>
              <a:t>: </a:t>
            </a:r>
            <a:r>
              <a:rPr lang="ko-KR" altLang="ko-KR" sz="1600" dirty="0"/>
              <a:t>사용자의 설문 선호</a:t>
            </a:r>
            <a:r>
              <a:rPr lang="en-US" altLang="ko-KR" sz="1600" dirty="0"/>
              <a:t>-</a:t>
            </a:r>
            <a:r>
              <a:rPr lang="ko-KR" altLang="ko-KR" sz="1600" dirty="0"/>
              <a:t>실제 답변</a:t>
            </a:r>
            <a:r>
              <a:rPr lang="ko-KR" altLang="en-US" sz="1600" dirty="0"/>
              <a:t>을 </a:t>
            </a:r>
            <a:r>
              <a:rPr lang="en-US" altLang="ko-KR" sz="1600" dirty="0"/>
              <a:t>20</a:t>
            </a:r>
            <a:r>
              <a:rPr lang="ko-KR" altLang="en-US" sz="1600" dirty="0"/>
              <a:t>종류 </a:t>
            </a:r>
            <a:r>
              <a:rPr lang="en-US" altLang="ko-KR" sz="1600" dirty="0"/>
              <a:t>LLM</a:t>
            </a:r>
            <a:r>
              <a:rPr lang="ko-KR" altLang="en-US" sz="1600" dirty="0"/>
              <a:t>에 대해</a:t>
            </a:r>
            <a:r>
              <a:rPr lang="ko-KR" altLang="ko-KR" sz="1600" dirty="0"/>
              <a:t> 평</a:t>
            </a:r>
            <a:r>
              <a:rPr lang="ko-KR" altLang="en-US" sz="1600" dirty="0"/>
              <a:t>가</a:t>
            </a:r>
            <a:br>
              <a:rPr lang="en-US" altLang="ko-KR" sz="1600" dirty="0"/>
            </a:br>
            <a:r>
              <a:rPr lang="ko-KR" altLang="ko-KR" sz="1600" dirty="0"/>
              <a:t>같은 사용자가 무</a:t>
            </a:r>
            <a:r>
              <a:rPr lang="ko-KR" altLang="en-US" sz="1600" dirty="0"/>
              <a:t>엇을 중요하게 생각</a:t>
            </a:r>
            <a:r>
              <a:rPr lang="en-US" altLang="ko-KR" sz="1600" dirty="0"/>
              <a:t>? + </a:t>
            </a:r>
            <a:r>
              <a:rPr lang="ko-KR" altLang="ko-KR" sz="1600" dirty="0"/>
              <a:t>어떤 AI 답변을 높게 평가했는</a:t>
            </a:r>
            <a:r>
              <a:rPr lang="ko-KR" altLang="en-US" sz="1600" dirty="0"/>
              <a:t>지 관측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E501F7B-4E65-0F46-060E-5193FB337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356411"/>
              </p:ext>
            </p:extLst>
          </p:nvPr>
        </p:nvGraphicFramePr>
        <p:xfrm>
          <a:off x="1598345" y="1999380"/>
          <a:ext cx="4907964" cy="23057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6879">
                  <a:extLst>
                    <a:ext uri="{9D8B030D-6E8A-4147-A177-3AD203B41FA5}">
                      <a16:colId xmlns:a16="http://schemas.microsoft.com/office/drawing/2014/main" val="4091553889"/>
                    </a:ext>
                  </a:extLst>
                </a:gridCol>
                <a:gridCol w="3811085">
                  <a:extLst>
                    <a:ext uri="{9D8B030D-6E8A-4147-A177-3AD203B41FA5}">
                      <a16:colId xmlns:a16="http://schemas.microsoft.com/office/drawing/2014/main" val="3129856264"/>
                    </a:ext>
                  </a:extLst>
                </a:gridCol>
              </a:tblGrid>
              <a:tr h="343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제공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담긴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5167859"/>
                  </a:ext>
                </a:extLst>
              </a:tr>
              <a:tr h="343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질문과 AI 답변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사용자가 입력한 질문과 여러 </a:t>
                      </a:r>
                      <a:r>
                        <a:rPr lang="ko-KR" dirty="0" err="1"/>
                        <a:t>LLM이</a:t>
                      </a:r>
                      <a:r>
                        <a:rPr lang="ko-KR" dirty="0"/>
                        <a:t> 생성한 답변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929343"/>
                  </a:ext>
                </a:extLst>
              </a:tr>
              <a:tr h="343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답변 평점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사용자가 각 답변에 부여한 1–100점 평가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415019"/>
                  </a:ext>
                </a:extLst>
              </a:tr>
              <a:tr h="583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속성별 성능 평가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대화 후 평가한 </a:t>
                      </a:r>
                      <a:r>
                        <a:rPr lang="ko-KR" dirty="0" err="1"/>
                        <a:t>안전성·정확성·유창성</a:t>
                      </a:r>
                      <a:r>
                        <a:rPr lang="ko-KR" dirty="0"/>
                        <a:t> 등의 모델 성능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669350"/>
                  </a:ext>
                </a:extLst>
              </a:tr>
              <a:tr h="343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사용자 설문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정확성·안전성·창의성</a:t>
                      </a:r>
                      <a:r>
                        <a:rPr lang="ko-KR" dirty="0"/>
                        <a:t> 등을 얼마나 중요하게 생각하는지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587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6027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C157714-3A41-8640-1B9F-9D3A147C8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329EBD32-04B4-A0F1-DC4C-E4778BA3F7C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2254434B-C0D6-1702-D233-C08FFA53119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D0B0C890-C435-4CD8-EF16-EBD31A308F0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D045DD15-D5EF-97D9-258D-0D6E2557FED1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Data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90C22E8-D695-38BD-AB0D-46AC1A6D2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527330"/>
              </p:ext>
            </p:extLst>
          </p:nvPr>
        </p:nvGraphicFramePr>
        <p:xfrm>
          <a:off x="1479313" y="907610"/>
          <a:ext cx="7397401" cy="2255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6077">
                  <a:extLst>
                    <a:ext uri="{9D8B030D-6E8A-4147-A177-3AD203B41FA5}">
                      <a16:colId xmlns:a16="http://schemas.microsoft.com/office/drawing/2014/main" val="140955088"/>
                    </a:ext>
                  </a:extLst>
                </a:gridCol>
                <a:gridCol w="5811324">
                  <a:extLst>
                    <a:ext uri="{9D8B030D-6E8A-4147-A177-3AD203B41FA5}">
                      <a16:colId xmlns:a16="http://schemas.microsoft.com/office/drawing/2014/main" val="3890765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활용 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사용하는 데이터와 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1553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Population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train</a:t>
                      </a:r>
                      <a:r>
                        <a:rPr lang="ko-KR" dirty="0"/>
                        <a:t> 사용자의 높은 </a:t>
                      </a:r>
                      <a:r>
                        <a:rPr lang="ko-KR" dirty="0" err="1"/>
                        <a:t>평점·낮은</a:t>
                      </a:r>
                      <a:r>
                        <a:rPr lang="ko-KR" dirty="0"/>
                        <a:t> 평점 답변 쌍으로 공통 방향 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662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train</a:t>
                      </a:r>
                      <a:r>
                        <a:rPr lang="ko-KR" dirty="0"/>
                        <a:t> 대화의 속성별 성능 평가로 속성 방향 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8758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Cold-start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사용자 설문의 중요도를 가중치로 사용해 </a:t>
                      </a:r>
                      <a:r>
                        <a:rPr lang="ko-KR" dirty="0" err="1"/>
                        <a:t>Attribute</a:t>
                      </a:r>
                      <a:r>
                        <a:rPr lang="ko-KR" dirty="0"/>
                        <a:t> 방향 조합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7516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Warm-start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사용자 개인의 과거 답변 평가 이력으로 개인 방향을 구하고 </a:t>
                      </a:r>
                      <a:r>
                        <a:rPr lang="ko-KR" dirty="0" err="1"/>
                        <a:t>Population과</a:t>
                      </a:r>
                      <a:r>
                        <a:rPr lang="ko-KR" dirty="0"/>
                        <a:t> 결합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1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평가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보류한 답변 쌍으로 </a:t>
                      </a:r>
                      <a:r>
                        <a:rPr lang="ko-KR" dirty="0" err="1"/>
                        <a:t>judge를</a:t>
                      </a:r>
                      <a:r>
                        <a:rPr lang="ko-KR" dirty="0"/>
                        <a:t> 검증하고, 보류한 질문으로 새 답변을 </a:t>
                      </a:r>
                      <a:r>
                        <a:rPr lang="ko-KR" dirty="0" err="1"/>
                        <a:t>생성·비교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5619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52B67C0-CCC6-F4B6-4190-392E5F4EE1DF}"/>
              </a:ext>
            </a:extLst>
          </p:cNvPr>
          <p:cNvSpPr txBox="1"/>
          <p:nvPr/>
        </p:nvSpPr>
        <p:spPr>
          <a:xfrm>
            <a:off x="2954215" y="3662200"/>
            <a:ext cx="3594295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b="1" dirty="0"/>
              <a:t>사용자 1,500명      </a:t>
            </a:r>
            <a:br>
              <a:rPr lang="en-US" altLang="ko-KR" b="1" dirty="0"/>
            </a:br>
            <a:r>
              <a:rPr lang="ko-KR" altLang="en-US" b="1" dirty="0"/>
              <a:t>├─ </a:t>
            </a:r>
            <a:r>
              <a:rPr lang="ko-KR" altLang="en-US" b="1" dirty="0" err="1"/>
              <a:t>Train</a:t>
            </a:r>
            <a:r>
              <a:rPr lang="ko-KR" altLang="en-US" b="1" dirty="0"/>
              <a:t> 70%: </a:t>
            </a:r>
            <a:r>
              <a:rPr lang="ko-KR" altLang="en-US" b="1" dirty="0" err="1"/>
              <a:t>공통·속성</a:t>
            </a:r>
            <a:r>
              <a:rPr lang="ko-KR" altLang="en-US" b="1" dirty="0"/>
              <a:t> 방향 계산      </a:t>
            </a:r>
            <a:br>
              <a:rPr lang="en-US" altLang="ko-KR" b="1" dirty="0"/>
            </a:br>
            <a:r>
              <a:rPr lang="ko-KR" altLang="en-US" b="1" dirty="0"/>
              <a:t>├─ </a:t>
            </a:r>
            <a:r>
              <a:rPr lang="ko-KR" altLang="en-US" b="1" dirty="0" err="1">
                <a:solidFill>
                  <a:schemeClr val="bg1">
                    <a:lumMod val="65000"/>
                  </a:schemeClr>
                </a:solidFill>
              </a:rPr>
              <a:t>Dev</a:t>
            </a:r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</a:rPr>
              <a:t>   15%: 적용 </a:t>
            </a:r>
            <a:r>
              <a:rPr lang="ko-KR" altLang="en-US" b="1" dirty="0" err="1">
                <a:solidFill>
                  <a:schemeClr val="bg1">
                    <a:lumMod val="65000"/>
                  </a:schemeClr>
                </a:solidFill>
              </a:rPr>
              <a:t>레이어·강도</a:t>
            </a:r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</a:rPr>
              <a:t> 선택</a:t>
            </a:r>
            <a:r>
              <a:rPr lang="ko-KR" altLang="en-US" b="1" dirty="0"/>
              <a:t>      </a:t>
            </a:r>
            <a:br>
              <a:rPr lang="en-US" altLang="ko-KR" b="1" dirty="0"/>
            </a:br>
            <a:r>
              <a:rPr lang="ko-KR" altLang="en-US" b="1" dirty="0"/>
              <a:t>└─ </a:t>
            </a:r>
            <a:r>
              <a:rPr lang="ko-KR" altLang="en-US" b="1" dirty="0" err="1"/>
              <a:t>Test</a:t>
            </a:r>
            <a:r>
              <a:rPr lang="ko-KR" altLang="en-US" b="1" dirty="0"/>
              <a:t>  15%: 최종 효과 평가</a:t>
            </a:r>
          </a:p>
        </p:txBody>
      </p:sp>
    </p:spTree>
    <p:extLst>
      <p:ext uri="{BB962C8B-B14F-4D97-AF65-F5344CB8AC3E}">
        <p14:creationId xmlns:p14="http://schemas.microsoft.com/office/powerpoint/2010/main" val="1009570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BEE56A52-F640-03CF-4DC9-78A709C8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7CEAD04-A709-1E8B-11F0-94828A33A8D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E25A872A-11B9-8014-1FF5-54FE7491B2D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9951B076-FD48-568B-18FD-EE0CD6CBCEB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2B40730-AB45-FD24-E947-78480D9EA228}"/>
              </a:ext>
            </a:extLst>
          </p:cNvPr>
          <p:cNvSpPr txBox="1"/>
          <p:nvPr/>
        </p:nvSpPr>
        <p:spPr>
          <a:xfrm>
            <a:off x="1408974" y="306875"/>
            <a:ext cx="7151217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System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Architecture – Train Activation Summation +</a:t>
            </a: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Baseline Structure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49865F9-8B66-858F-FA69-57D4FE91B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806" y="2799944"/>
            <a:ext cx="7931194" cy="172091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D57DC95-E29C-724D-5C59-741EFC8B0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8747" y="3925310"/>
            <a:ext cx="662378" cy="52479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6FCC42F-8940-F055-CAAA-D652512557E0}"/>
              </a:ext>
            </a:extLst>
          </p:cNvPr>
          <p:cNvSpPr/>
          <p:nvPr/>
        </p:nvSpPr>
        <p:spPr>
          <a:xfrm>
            <a:off x="3960055" y="3138662"/>
            <a:ext cx="5011070" cy="7158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1ED173E-0874-3FD1-567C-800E88A09D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2381" y="1184172"/>
            <a:ext cx="7506973" cy="8494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15DB84-7897-A5C3-B5EF-FF34FB529D58}"/>
              </a:ext>
            </a:extLst>
          </p:cNvPr>
          <p:cNvSpPr txBox="1"/>
          <p:nvPr/>
        </p:nvSpPr>
        <p:spPr>
          <a:xfrm>
            <a:off x="1547446" y="1199397"/>
            <a:ext cx="1202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C000"/>
                </a:solidFill>
              </a:rPr>
              <a:t>Train Data</a:t>
            </a:r>
            <a:endParaRPr lang="ko-KR" altLang="en-US" b="1" dirty="0">
              <a:solidFill>
                <a:srgbClr val="FFC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3767B5-C3BE-1DAA-7356-70827C3F2F3F}"/>
              </a:ext>
            </a:extLst>
          </p:cNvPr>
          <p:cNvSpPr txBox="1"/>
          <p:nvPr/>
        </p:nvSpPr>
        <p:spPr>
          <a:xfrm>
            <a:off x="1181088" y="2538754"/>
            <a:ext cx="1737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Test Data Prompt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1E66A4-A282-E247-7F29-E2B73429BD6A}"/>
                  </a:ext>
                </a:extLst>
              </p:cNvPr>
              <p:cNvSpPr txBox="1"/>
              <p:nvPr/>
            </p:nvSpPr>
            <p:spPr>
              <a:xfrm>
                <a:off x="6992228" y="2187428"/>
                <a:ext cx="2018116" cy="5698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ko-KR" altLang="en-US" sz="1200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d>
                        <m:dPr>
                          <m:ctrlPr>
                            <a:rPr lang="ko-KR" alt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ko-KR" altLang="en-US" sz="12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1200" b="1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2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ko-KR" alt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2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ko-KR" altLang="en-US" sz="12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ko-KR" altLang="en-US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12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ko-KR" altLang="en-US" sz="1200" b="1" i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ko-KR" altLang="en-US" sz="1200" b="1" i="0"/>
                            <m:t>response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ko-KR" alt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2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ko-KR" altLang="en-US" sz="1200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ko-KR" altLang="en-US" sz="1200" b="1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ko-KR" altLang="en-US" sz="12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1200" b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1E66A4-A282-E247-7F29-E2B73429B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228" y="2187428"/>
                <a:ext cx="2018116" cy="569836"/>
              </a:xfrm>
              <a:prstGeom prst="rect">
                <a:avLst/>
              </a:prstGeom>
              <a:blipFill>
                <a:blip r:embed="rId7"/>
                <a:stretch>
                  <a:fillRect t="-103061" r="-22917" b="-14081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A1CB9780-8417-3334-698B-EAD4C49E3580}"/>
              </a:ext>
            </a:extLst>
          </p:cNvPr>
          <p:cNvSpPr/>
          <p:nvPr/>
        </p:nvSpPr>
        <p:spPr>
          <a:xfrm>
            <a:off x="7811619" y="1834026"/>
            <a:ext cx="386861" cy="485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 descr="Cache &amp; Redis] 캐싱 전략 (Cashing Strategies)">
            <a:extLst>
              <a:ext uri="{FF2B5EF4-FFF2-40B4-BE49-F238E27FC236}">
                <a16:creationId xmlns:a16="http://schemas.microsoft.com/office/drawing/2014/main" id="{389BDD2D-6C1C-EDE7-AF7B-2F558359A24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492" t="23012" r="21925" b="25200"/>
          <a:stretch>
            <a:fillRect/>
          </a:stretch>
        </p:blipFill>
        <p:spPr>
          <a:xfrm>
            <a:off x="8729972" y="2024449"/>
            <a:ext cx="386861" cy="34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6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AEC00DF-8F0C-B83A-DFA6-D574E2C76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8647B5A9-A4FD-CBDB-9ED5-27BFD43465B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2BE5C978-57A5-202F-82DD-87469812D499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08F80900-4B7A-C634-1902-479DC7DC524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97EDA01F-3802-B691-F97E-13B1C42AB9C1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System Architecture - Population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FAF909D-8AE2-BE7B-4028-ADCFDE13F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088" y="2307016"/>
            <a:ext cx="7931194" cy="172091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E22C433-F428-C197-1D4C-11DB18706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183" y="1633350"/>
            <a:ext cx="5782420" cy="62802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B7118F0-054E-3E08-3388-E0DAF82709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5009" y="2777074"/>
            <a:ext cx="1857241" cy="565126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DEB3BD1-3EBE-AD78-C415-09E5BE1A5AAD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7243630" y="1947362"/>
            <a:ext cx="0" cy="82971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ADD24E-B265-4258-74C0-B9D46AC76574}"/>
              </a:ext>
            </a:extLst>
          </p:cNvPr>
          <p:cNvCxnSpPr>
            <a:stCxn id="4" idx="3"/>
          </p:cNvCxnSpPr>
          <p:nvPr/>
        </p:nvCxnSpPr>
        <p:spPr>
          <a:xfrm>
            <a:off x="6939603" y="1947362"/>
            <a:ext cx="344658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9DDD1C-BDDD-FECB-74ED-9397F2AEC923}"/>
                  </a:ext>
                </a:extLst>
              </p:cNvPr>
              <p:cNvSpPr txBox="1"/>
              <p:nvPr/>
            </p:nvSpPr>
            <p:spPr>
              <a:xfrm>
                <a:off x="6003664" y="450606"/>
                <a:ext cx="2967461" cy="32694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ℎ</m:t>
                      </m:r>
                      <m:sSub>
                        <m:sSubPr>
                          <m:ctrlPr>
                            <a:rPr lang="ko-KR" altLang="en-US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ko-KR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ko-KR" altLang="en-US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i="0">
                              <a:latin typeface="Cambria Math" panose="02040503050406030204" pitchFamily="18" charset="0"/>
                            </a:rPr>
                            <m:t>RMS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ko-KR" altLang="en-US" i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ko-KR" altLang="en-US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i="0">
                              <a:latin typeface="Cambria Math" panose="02040503050406030204" pitchFamily="18" charset="0"/>
                            </a:rPr>
                            <m:t>pop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9DDD1C-BDDD-FECB-74ED-9397F2AEC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664" y="450606"/>
                <a:ext cx="2967461" cy="3269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F85E06-A194-B337-EE7E-F89004EFD4FD}"/>
                  </a:ext>
                </a:extLst>
              </p:cNvPr>
              <p:cNvSpPr txBox="1"/>
              <p:nvPr/>
            </p:nvSpPr>
            <p:spPr>
              <a:xfrm>
                <a:off x="2607655" y="891096"/>
                <a:ext cx="1181100" cy="2821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ko-KR" altLang="en-US" sz="1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ko-KR" altLang="en-US" sz="1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ko-KR" altLang="en-US" sz="1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ko-KR" altLang="en-US" sz="1200" b="1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ko-KR" altLang="en-US" sz="1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ko-KR" altLang="en-US" sz="1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ko-KR" altLang="en-US" sz="1200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ko-KR" altLang="en-US" sz="1200" b="1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ko-KR" altLang="en-US" sz="1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ko-KR" altLang="en-US" sz="1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ko-KR" altLang="en-US" sz="1200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ko-KR" altLang="en-US" sz="1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F85E06-A194-B337-EE7E-F89004EFD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7655" y="891096"/>
                <a:ext cx="1181100" cy="2821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2D418C0-B373-2469-5F96-FA244AF96DAC}"/>
                  </a:ext>
                </a:extLst>
              </p:cNvPr>
              <p:cNvSpPr txBox="1"/>
              <p:nvPr/>
            </p:nvSpPr>
            <p:spPr>
              <a:xfrm>
                <a:off x="4260461" y="998542"/>
                <a:ext cx="1772448" cy="611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ko-KR" altLang="en-US" sz="12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ko-KR" alt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12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ko-KR" altLang="en-US" sz="1200" i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nary>
                      <m:sSub>
                        <m:sSubPr>
                          <m:ctrlPr>
                            <a:rPr lang="ko-KR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ko-KR" alt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ko-KR" altLang="en-US" sz="12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ko-KR" altLang="en-US" sz="12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r>
                            <a:rPr lang="ko-KR" altLang="en-US" sz="12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ko-KR" altLang="en-US" sz="12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ko-KR" altLang="en-US" sz="1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ko-KR" altLang="en-US" sz="12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2D418C0-B373-2469-5F96-FA244AF96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461" y="998542"/>
                <a:ext cx="1772448" cy="6116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7A675D1-9610-548F-E027-6FE319ED7E24}"/>
                  </a:ext>
                </a:extLst>
              </p:cNvPr>
              <p:cNvSpPr txBox="1"/>
              <p:nvPr/>
            </p:nvSpPr>
            <p:spPr>
              <a:xfrm>
                <a:off x="2497735" y="1115565"/>
                <a:ext cx="1400940" cy="605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ko-KR" altLang="en-US" sz="11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1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ko-KR" altLang="en-US" sz="11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ko-KR" altLang="en-US" sz="1100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1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  <m:sup>
                          <m:r>
                            <a:rPr lang="ko-KR" altLang="en-US" sz="1100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ko-KR" altLang="en-US" sz="1100" b="1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1100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100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Sup>
                            <m:sSubSupPr>
                              <m:ctrlPr>
                                <a:rPr lang="ko-KR" altLang="en-US" sz="1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sz="1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ko-KR" altLang="en-US" sz="1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ko-KR" altLang="en-US" sz="1100" b="1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ko-KR" altLang="en-US" sz="11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11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ko-KR" altLang="en-US" sz="1100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ko-KR" altLang="en-US" sz="1100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sSubSup>
                            <m:sSubSupPr>
                              <m:ctrlPr>
                                <a:rPr lang="ko-KR" altLang="en-US" sz="1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sz="1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ko-KR" altLang="en-US" sz="1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ko-KR" altLang="en-US" sz="1100" b="1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</m:sup>
                        <m:e>
                          <m:sSubSup>
                            <m:sSubSupPr>
                              <m:ctrlPr>
                                <a:rPr lang="ko-KR" altLang="en-US" sz="1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sz="1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ko-KR" altLang="en-US" sz="1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ko-KR" altLang="en-US" sz="1100" b="1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ko-KR" altLang="en-US" sz="1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ko-KR" altLang="en-US" sz="1100" b="1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ko-KR" altLang="en-US" sz="1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ko-KR" altLang="en-US" sz="1100" b="1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ko-KR" altLang="en-US" sz="11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7A675D1-9610-548F-E027-6FE319ED7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735" y="1115565"/>
                <a:ext cx="1400940" cy="6052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그림 27" descr="Cache &amp; Redis] 캐싱 전략 (Cashing Strategies)">
            <a:extLst>
              <a:ext uri="{FF2B5EF4-FFF2-40B4-BE49-F238E27FC236}">
                <a16:creationId xmlns:a16="http://schemas.microsoft.com/office/drawing/2014/main" id="{66612398-E2DC-3155-8612-0D3858C2D5C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0492" t="23012" r="21925" b="25200"/>
          <a:stretch>
            <a:fillRect/>
          </a:stretch>
        </p:blipFill>
        <p:spPr>
          <a:xfrm>
            <a:off x="1155956" y="1546893"/>
            <a:ext cx="386861" cy="34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43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0F1EA53-B526-5C9D-D39F-2BAB3919D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EBB7A2A4-6A35-FAE1-74C9-4A95F5F564A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F361E431-E932-847B-AA37-B06A34CB2B7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6393FA88-8CAB-4F80-1AF2-D0669308908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7A23009-9447-ED2B-9D20-669515256A3C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System Architecture - Attribute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7503011-4E8E-5431-BC18-A661FF88F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076" y="2991450"/>
            <a:ext cx="7931194" cy="17209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1DFA47F-F874-EF49-7931-921DF33F08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375" y="3482377"/>
            <a:ext cx="1641692" cy="55755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EFE193C-8869-6556-0E51-33F216903B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088" y="1105414"/>
            <a:ext cx="6858594" cy="586791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7FBC7F5-0B11-67A4-3247-CC27AE355CA5}"/>
              </a:ext>
            </a:extLst>
          </p:cNvPr>
          <p:cNvCxnSpPr>
            <a:cxnSpLocks/>
          </p:cNvCxnSpPr>
          <p:nvPr/>
        </p:nvCxnSpPr>
        <p:spPr>
          <a:xfrm flipH="1">
            <a:off x="7425579" y="1581681"/>
            <a:ext cx="23264" cy="198013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39AA74-315B-57CF-99E8-0E47142DCA9E}"/>
                  </a:ext>
                </a:extLst>
              </p:cNvPr>
              <p:cNvSpPr txBox="1"/>
              <p:nvPr/>
            </p:nvSpPr>
            <p:spPr>
              <a:xfrm>
                <a:off x="2330365" y="2142962"/>
                <a:ext cx="3446065" cy="64915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ko-KR" altLang="en-US" i="0">
                              <a:latin typeface="Arial"/>
                            </a:rPr>
                            <m:t>attr</m:t>
                          </m:r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i="0">
                              <a:latin typeface="Cambria Math" panose="02040503050406030204" pitchFamily="18" charset="0"/>
                            </a:rPr>
                            <m:t>Normalize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ko-KR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bar>
                                            <m:barPr>
                                              <m:pos m:val="top"/>
                                              <m:ctrlPr>
                                                <a:rPr lang="ko-KR" alt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arPr>
                                            <m:e>
                                              <m:r>
                                                <a:rPr lang="ko-KR" altLang="en-US" i="1">
                                                  <a:latin typeface="Cambria Math" panose="02040503050406030204" pitchFamily="18" charset="0"/>
                                                </a:rPr>
                                                <m:t>ℎ</m:t>
                                              </m:r>
                                            </m:e>
                                          </m:ba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i="0">
                                              <a:latin typeface="Arial"/>
                                            </a:rPr>
                                            <m:t>high</m:t>
                                          </m:r>
                                        </m:sub>
                                        <m:sup>
                                          <m:r>
                                            <a:rPr lang="ko-KR" altLang="en-US" i="0">
                                              <a:latin typeface="Cambria Math" panose="02040503050406030204" pitchFamily="18" charset="0"/>
                                            </a:rPr>
                                            <m:t> </m:t>
                                          </m:r>
                                          <m:r>
                                            <a:rPr lang="ko-KR" alt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ko-KR" altLang="en-US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ko-KR" altLang="en-US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p>
                                      </m:sSubSup>
                                      <m:r>
                                        <a:rPr lang="ko-KR" alt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ko-KR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bar>
                                            <m:barPr>
                                              <m:pos m:val="top"/>
                                              <m:ctrlPr>
                                                <a:rPr lang="ko-KR" alt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arPr>
                                            <m:e>
                                              <m:r>
                                                <a:rPr lang="ko-KR" altLang="en-US" i="1">
                                                  <a:latin typeface="Cambria Math" panose="02040503050406030204" pitchFamily="18" charset="0"/>
                                                </a:rPr>
                                                <m:t>ℎ</m:t>
                                              </m:r>
                                            </m:e>
                                          </m:ba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i="0">
                                              <a:latin typeface="Arial"/>
                                            </a:rPr>
                                            <m:t>low</m:t>
                                          </m:r>
                                        </m:sub>
                                        <m:sup>
                                          <m:r>
                                            <a:rPr lang="ko-KR" altLang="en-US" i="0">
                                              <a:latin typeface="Cambria Math" panose="02040503050406030204" pitchFamily="18" charset="0"/>
                                            </a:rPr>
                                            <m:t> </m:t>
                                          </m:r>
                                          <m:r>
                                            <a:rPr lang="ko-KR" alt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ko-KR" altLang="en-US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ko-KR" altLang="en-US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39AA74-315B-57CF-99E8-0E47142DC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365" y="2142962"/>
                <a:ext cx="3446065" cy="649152"/>
              </a:xfrm>
              <a:prstGeom prst="rect">
                <a:avLst/>
              </a:prstGeom>
              <a:blipFill>
                <a:blip r:embed="rId7"/>
                <a:stretch>
                  <a:fillRect t="-106422" b="-14770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그림 16" descr="Cache &amp; Redis] 캐싱 전략 (Cashing Strategies)">
            <a:extLst>
              <a:ext uri="{FF2B5EF4-FFF2-40B4-BE49-F238E27FC236}">
                <a16:creationId xmlns:a16="http://schemas.microsoft.com/office/drawing/2014/main" id="{7996ABD6-EA62-8056-6FF1-EFF35550FF6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492" t="23012" r="21925" b="25200"/>
          <a:stretch>
            <a:fillRect/>
          </a:stretch>
        </p:blipFill>
        <p:spPr>
          <a:xfrm>
            <a:off x="1141208" y="1033858"/>
            <a:ext cx="386861" cy="34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166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0FDC2B8-D0B7-4F0D-B45F-619AB7602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85B66262-1664-ED73-A3CE-AAD4336F0675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6D9B1876-FFC7-7B46-EA74-C71E1F4231C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B1E901F4-C0F2-CADB-0DDE-9428625E47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2E1E2E2-F739-C9D9-0631-28FC58BBF9B9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Cold-Start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827D8A-5614-E56A-2A45-7DF7EEA1F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076" y="2991450"/>
            <a:ext cx="7931194" cy="172091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EAA8252-64D1-AB94-82DD-2D8FF1673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076" y="1106052"/>
            <a:ext cx="5677392" cy="1531753"/>
          </a:xfrm>
          <a:prstGeom prst="rect">
            <a:avLst/>
          </a:prstGeom>
        </p:spPr>
      </p:pic>
      <p:sp>
        <p:nvSpPr>
          <p:cNvPr id="13" name="Google Shape;75;p15">
            <a:extLst>
              <a:ext uri="{FF2B5EF4-FFF2-40B4-BE49-F238E27FC236}">
                <a16:creationId xmlns:a16="http://schemas.microsoft.com/office/drawing/2014/main" id="{E1A11D47-56C0-7E31-C07D-3F2DCA0E5A64}"/>
              </a:ext>
            </a:extLst>
          </p:cNvPr>
          <p:cNvSpPr txBox="1"/>
          <p:nvPr/>
        </p:nvSpPr>
        <p:spPr>
          <a:xfrm>
            <a:off x="1353963" y="1746885"/>
            <a:ext cx="1530394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0000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사용자 평가 이력 </a:t>
            </a:r>
            <a:r>
              <a:rPr lang="en-US" altLang="ko-KR" sz="1200" b="1" dirty="0">
                <a:solidFill>
                  <a:srgbClr val="FF0000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x</a:t>
            </a:r>
            <a:endParaRPr sz="1200" b="1" dirty="0">
              <a:solidFill>
                <a:srgbClr val="FF0000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FE1BA9D-8544-1395-0111-D34F64D42B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0968" y="3422149"/>
            <a:ext cx="1813717" cy="480102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47D2AEF-A935-7C66-83A6-D1D8B9D3888A}"/>
              </a:ext>
            </a:extLst>
          </p:cNvPr>
          <p:cNvCxnSpPr>
            <a:cxnSpLocks/>
          </p:cNvCxnSpPr>
          <p:nvPr/>
        </p:nvCxnSpPr>
        <p:spPr>
          <a:xfrm>
            <a:off x="6443003" y="2468880"/>
            <a:ext cx="982576" cy="109293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5F5A7B3-EC90-3372-E5E8-D0175D810892}"/>
                  </a:ext>
                </a:extLst>
              </p:cNvPr>
              <p:cNvSpPr txBox="1"/>
              <p:nvPr/>
            </p:nvSpPr>
            <p:spPr>
              <a:xfrm>
                <a:off x="5364616" y="113400"/>
                <a:ext cx="3264617" cy="78592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ko-KR" altLang="en-US" i="0">
                              <a:latin typeface="Arial"/>
                            </a:rPr>
                            <m:t>cold</m:t>
                          </m:r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i="0">
                              <a:latin typeface="Cambria Math" panose="02040503050406030204" pitchFamily="18" charset="0"/>
                            </a:rPr>
                            <m:t>Normalize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ko-KR" altLang="en-US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ko-KR" altLang="en-US" i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ko-KR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ko-KR" altLang="en-US" i="0">
                                      <a:latin typeface="Arial"/>
                                    </a:rPr>
                                    <m:t>attr</m:t>
                                  </m:r>
                                  <m:r>
                                    <a:rPr lang="ko-KR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5F5A7B3-EC90-3372-E5E8-D0175D810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616" y="113400"/>
                <a:ext cx="3264617" cy="7859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0D1FA45-4DA3-F1F8-9320-DA2DDA154A84}"/>
                  </a:ext>
                </a:extLst>
              </p:cNvPr>
              <p:cNvSpPr txBox="1"/>
              <p:nvPr/>
            </p:nvSpPr>
            <p:spPr>
              <a:xfrm>
                <a:off x="5157452" y="1160342"/>
                <a:ext cx="1721650" cy="73892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sz="10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0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ko-KR" altLang="en-US" sz="1000" b="1" i="0">
                              <a:solidFill>
                                <a:srgbClr val="FFC000"/>
                              </a:solidFill>
                            </a:rPr>
                            <m:t>cold</m:t>
                          </m:r>
                          <m:r>
                            <a:rPr lang="ko-KR" altLang="en-US" sz="1000" b="1" i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0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</m:sSub>
                      <m:r>
                        <a:rPr lang="ko-KR" altLang="en-US" sz="1000" b="1" i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sz="1000" b="1" i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ko-KR" altLang="en-US" sz="1000" b="1" i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𝐍𝐨𝐫𝐦𝐚𝐥𝐢𝐳𝐞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sz="1000" b="1" i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000" b="1" i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ko-KR" altLang="en-US" sz="1000" b="1" i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ko-KR" altLang="en-US" sz="1000" b="1" i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sSub>
                                <m:sSubPr>
                                  <m:ctrlPr>
                                    <a:rPr lang="ko-KR" altLang="en-US" sz="1000" b="1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000" b="1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ko-KR" altLang="en-US" sz="1000" b="1" i="0">
                                      <a:solidFill>
                                        <a:srgbClr val="FFC000"/>
                                      </a:solidFill>
                                    </a:rPr>
                                    <m:t>safety</m:t>
                                  </m:r>
                                </m:sub>
                              </m:sSub>
                              <m:r>
                                <a:rPr lang="ko-KR" altLang="en-US" sz="1000" b="1" i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1000" b="1" i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ko-KR" altLang="en-US" sz="1000" b="1" i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ko-KR" altLang="en-US" sz="1000" b="1" i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sSub>
                                <m:sSubPr>
                                  <m:ctrlPr>
                                    <a:rPr lang="ko-KR" altLang="en-US" sz="1000" b="1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000" b="1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ko-KR" altLang="en-US" sz="1000" b="1" i="0">
                                      <a:solidFill>
                                        <a:srgbClr val="FFC000"/>
                                      </a:solidFill>
                                    </a:rPr>
                                    <m:t>factuality</m:t>
                                  </m:r>
                                </m:sub>
                              </m:sSub>
                              <m:r>
                                <a:rPr lang="ko-KR" altLang="en-US" sz="1000" b="1" i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+⋯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1000" b="1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0D1FA45-4DA3-F1F8-9320-DA2DDA154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452" y="1160342"/>
                <a:ext cx="1721650" cy="738920"/>
              </a:xfrm>
              <a:prstGeom prst="rect">
                <a:avLst/>
              </a:prstGeom>
              <a:blipFill>
                <a:blip r:embed="rId8"/>
                <a:stretch>
                  <a:fillRect t="-40800" r="-16842" b="-92000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2402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7C6B0F7-87CF-C9CE-2BCA-B61E96CC7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7C08935-9764-F8C1-24F4-2F74DE2B3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66" y="864152"/>
            <a:ext cx="6027942" cy="1905165"/>
          </a:xfrm>
          <a:prstGeom prst="rect">
            <a:avLst/>
          </a:prstGeom>
        </p:spPr>
      </p:pic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709C9983-694D-FBA4-6C67-F355F854D979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342C13BC-C114-ECAA-E077-EE1658B8933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9EF61DA6-EC90-EC76-F56F-3F57764B602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96186040-5BAA-0110-CC9C-CE2EBEBCCF3B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Warm-Start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4686EAA-831C-EA9B-E33E-EA8F56793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076" y="2991450"/>
            <a:ext cx="7931194" cy="1720919"/>
          </a:xfrm>
          <a:prstGeom prst="rect">
            <a:avLst/>
          </a:prstGeom>
        </p:spPr>
      </p:pic>
      <p:sp>
        <p:nvSpPr>
          <p:cNvPr id="13" name="Google Shape;75;p15">
            <a:extLst>
              <a:ext uri="{FF2B5EF4-FFF2-40B4-BE49-F238E27FC236}">
                <a16:creationId xmlns:a16="http://schemas.microsoft.com/office/drawing/2014/main" id="{B2344900-F8FE-295D-8596-5DA2264CE86F}"/>
              </a:ext>
            </a:extLst>
          </p:cNvPr>
          <p:cNvSpPr txBox="1"/>
          <p:nvPr/>
        </p:nvSpPr>
        <p:spPr>
          <a:xfrm>
            <a:off x="1264550" y="1944449"/>
            <a:ext cx="1607767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00B0F0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사용자 평가 이력 </a:t>
            </a:r>
            <a:r>
              <a:rPr lang="en-US" altLang="ko-KR" sz="1200" b="1" dirty="0">
                <a:solidFill>
                  <a:srgbClr val="00B0F0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O</a:t>
            </a:r>
            <a:endParaRPr sz="1200" b="1" dirty="0">
              <a:solidFill>
                <a:srgbClr val="00B0F0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B9AAF67-F1CF-9524-60A4-B4791994C166}"/>
                  </a:ext>
                </a:extLst>
              </p:cNvPr>
              <p:cNvSpPr txBox="1"/>
              <p:nvPr/>
            </p:nvSpPr>
            <p:spPr>
              <a:xfrm>
                <a:off x="4615212" y="417820"/>
                <a:ext cx="4120538" cy="35375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ko-KR" altLang="en-US" i="0">
                              <a:latin typeface="Cambria Math" panose="02040503050406030204" pitchFamily="18" charset="0"/>
                            </a:rPr>
                            <m:t>warm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ko-KR" alt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i="1">
                              <a:latin typeface="Cambria Math" panose="02040503050406030204" pitchFamily="18" charset="0"/>
                            </a:rPr>
                            <m:t>Normalize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ko-KR" altLang="en-US" i="0">
                                      <a:latin typeface="Cambria Math" panose="02040503050406030204" pitchFamily="18" charset="0"/>
                                    </a:rPr>
                                    <m:t>pop</m:t>
                                  </m:r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B9AAF67-F1CF-9524-60A4-B4791994C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212" y="417820"/>
                <a:ext cx="4120538" cy="3537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CBC96BD5-AF0B-DC99-FEC8-ADBFA56C41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1308" y="3499439"/>
            <a:ext cx="1333616" cy="548688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AA3D6B1-A069-1970-8498-B76B9C849142}"/>
              </a:ext>
            </a:extLst>
          </p:cNvPr>
          <p:cNvCxnSpPr>
            <a:cxnSpLocks/>
          </p:cNvCxnSpPr>
          <p:nvPr/>
        </p:nvCxnSpPr>
        <p:spPr>
          <a:xfrm>
            <a:off x="6822831" y="2142962"/>
            <a:ext cx="602748" cy="141885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 descr="Cache &amp; Redis] 캐싱 전략 (Cashing Strategies)">
            <a:extLst>
              <a:ext uri="{FF2B5EF4-FFF2-40B4-BE49-F238E27FC236}">
                <a16:creationId xmlns:a16="http://schemas.microsoft.com/office/drawing/2014/main" id="{ACDFDED6-C114-DFA9-0A07-05D90462353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492" t="23012" r="21925" b="25200"/>
          <a:stretch>
            <a:fillRect/>
          </a:stretch>
        </p:blipFill>
        <p:spPr>
          <a:xfrm>
            <a:off x="1124233" y="1413204"/>
            <a:ext cx="386861" cy="34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69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DF618BE-FC39-5EB5-C8A1-0AF7087B3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2074424-A76E-071A-8CC6-DDEAD9FC5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66" y="864152"/>
            <a:ext cx="6027942" cy="1905165"/>
          </a:xfrm>
          <a:prstGeom prst="rect">
            <a:avLst/>
          </a:prstGeom>
        </p:spPr>
      </p:pic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B7ABFD5D-DFFF-7253-CEAB-6DA65C95D5A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7D1B0D58-4D03-1240-2E19-4C1DF356C74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106120BA-B21A-708A-2C58-BC30A94EE08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E90CE8C6-0A54-D8D3-6942-CAA1E4CADBF0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Warm-Start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B790B85-436F-E478-AF3A-CDB241986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076" y="2991450"/>
            <a:ext cx="7931194" cy="1720919"/>
          </a:xfrm>
          <a:prstGeom prst="rect">
            <a:avLst/>
          </a:prstGeom>
        </p:spPr>
      </p:pic>
      <p:sp>
        <p:nvSpPr>
          <p:cNvPr id="13" name="Google Shape;75;p15">
            <a:extLst>
              <a:ext uri="{FF2B5EF4-FFF2-40B4-BE49-F238E27FC236}">
                <a16:creationId xmlns:a16="http://schemas.microsoft.com/office/drawing/2014/main" id="{D1D443EB-43AA-B126-CC03-3F06497CEA18}"/>
              </a:ext>
            </a:extLst>
          </p:cNvPr>
          <p:cNvSpPr txBox="1"/>
          <p:nvPr/>
        </p:nvSpPr>
        <p:spPr>
          <a:xfrm>
            <a:off x="1264550" y="1944449"/>
            <a:ext cx="1607767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00B0F0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사용자 평가 이력 </a:t>
            </a:r>
            <a:r>
              <a:rPr lang="en-US" altLang="ko-KR" sz="1200" b="1" dirty="0">
                <a:solidFill>
                  <a:srgbClr val="00B0F0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O</a:t>
            </a:r>
            <a:endParaRPr sz="1200" b="1" dirty="0">
              <a:solidFill>
                <a:srgbClr val="00B0F0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913AB4-7681-CC98-2E92-C86ECF85B137}"/>
                  </a:ext>
                </a:extLst>
              </p:cNvPr>
              <p:cNvSpPr txBox="1"/>
              <p:nvPr/>
            </p:nvSpPr>
            <p:spPr>
              <a:xfrm>
                <a:off x="4615212" y="417820"/>
                <a:ext cx="4120538" cy="35375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ko-KR" altLang="en-US" i="0">
                              <a:latin typeface="Cambria Math" panose="02040503050406030204" pitchFamily="18" charset="0"/>
                            </a:rPr>
                            <m:t>warm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ko-KR" alt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i="1">
                              <a:latin typeface="Cambria Math" panose="02040503050406030204" pitchFamily="18" charset="0"/>
                            </a:rPr>
                            <m:t>Normalize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ko-KR" altLang="en-US" i="0">
                                      <a:latin typeface="Cambria Math" panose="02040503050406030204" pitchFamily="18" charset="0"/>
                                    </a:rPr>
                                    <m:t>pop</m:t>
                                  </m:r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913AB4-7681-CC98-2E92-C86ECF85B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212" y="417820"/>
                <a:ext cx="4120538" cy="3537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C4FD3916-3C71-0422-1B79-54B82E047F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1308" y="3499439"/>
            <a:ext cx="1333616" cy="548688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0F0D7A1-F95D-6435-C896-08423D3AFA2A}"/>
              </a:ext>
            </a:extLst>
          </p:cNvPr>
          <p:cNvCxnSpPr>
            <a:cxnSpLocks/>
          </p:cNvCxnSpPr>
          <p:nvPr/>
        </p:nvCxnSpPr>
        <p:spPr>
          <a:xfrm>
            <a:off x="6822831" y="2142962"/>
            <a:ext cx="602748" cy="141885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 descr="Cache &amp; Redis] 캐싱 전략 (Cashing Strategies)">
            <a:extLst>
              <a:ext uri="{FF2B5EF4-FFF2-40B4-BE49-F238E27FC236}">
                <a16:creationId xmlns:a16="http://schemas.microsoft.com/office/drawing/2014/main" id="{9AFB64BD-783C-3E7A-D696-2010975014B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492" t="23012" r="21925" b="25200"/>
          <a:stretch>
            <a:fillRect/>
          </a:stretch>
        </p:blipFill>
        <p:spPr>
          <a:xfrm>
            <a:off x="1124233" y="1413204"/>
            <a:ext cx="386861" cy="34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053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EDE7642-84BC-0F7E-D95A-D4133175E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CB04F90-27E6-899A-D627-34D4A3B46FD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2D730640-29E5-05CA-EA59-7A23C251F99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3CD2FEEF-96BB-4D86-28D1-69E1D7D2A6E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4FF5BB6C-26DF-7F9A-B097-792FB41D9EE6}"/>
              </a:ext>
            </a:extLst>
          </p:cNvPr>
          <p:cNvSpPr txBox="1"/>
          <p:nvPr/>
        </p:nvSpPr>
        <p:spPr>
          <a:xfrm>
            <a:off x="1353975" y="163028"/>
            <a:ext cx="5793683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Evaluation – measured tools(via .</a:t>
            </a:r>
            <a:r>
              <a:rPr 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py</a:t>
            </a: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) + </a:t>
            </a:r>
            <a:b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</a:b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LLM-as-a-judge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81D775B-68C5-FDB4-6A39-5BB2161FE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502373"/>
              </p:ext>
            </p:extLst>
          </p:nvPr>
        </p:nvGraphicFramePr>
        <p:xfrm>
          <a:off x="1663578" y="1116174"/>
          <a:ext cx="6340938" cy="35193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3646">
                  <a:extLst>
                    <a:ext uri="{9D8B030D-6E8A-4147-A177-3AD203B41FA5}">
                      <a16:colId xmlns:a16="http://schemas.microsoft.com/office/drawing/2014/main" val="4244969057"/>
                    </a:ext>
                  </a:extLst>
                </a:gridCol>
                <a:gridCol w="2113646">
                  <a:extLst>
                    <a:ext uri="{9D8B030D-6E8A-4147-A177-3AD203B41FA5}">
                      <a16:colId xmlns:a16="http://schemas.microsoft.com/office/drawing/2014/main" val="3070819170"/>
                    </a:ext>
                  </a:extLst>
                </a:gridCol>
                <a:gridCol w="2113646">
                  <a:extLst>
                    <a:ext uri="{9D8B030D-6E8A-4147-A177-3AD203B41FA5}">
                      <a16:colId xmlns:a16="http://schemas.microsoft.com/office/drawing/2014/main" val="258308276"/>
                    </a:ext>
                  </a:extLst>
                </a:gridCol>
              </a:tblGrid>
              <a:tr h="212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1" dirty="0"/>
                        <a:t>평가 종류</a:t>
                      </a:r>
                    </a:p>
                  </a:txBody>
                  <a:tcPr marL="44755" marR="44755" marT="22378" marB="223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1" dirty="0"/>
                        <a:t>평가 기준</a:t>
                      </a:r>
                    </a:p>
                  </a:txBody>
                  <a:tcPr marL="44755" marR="44755" marT="22378" marB="223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1" dirty="0"/>
                        <a:t>평가 목적</a:t>
                      </a:r>
                    </a:p>
                  </a:txBody>
                  <a:tcPr marL="44755" marR="44755" marT="22378" marB="223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135125"/>
                  </a:ext>
                </a:extLst>
              </a:tr>
              <a:tr h="1296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1" dirty="0"/>
                        <a:t>출력 이상 진단</a:t>
                      </a:r>
                    </a:p>
                  </a:txBody>
                  <a:tcPr marL="44755" marR="44755" marT="22378" marB="223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답변 생성 여부, EOS 종료, 출력 길이, 토큰 한도 도달, 4-gram 반복, </a:t>
                      </a:r>
                      <a:r>
                        <a:rPr lang="ko-KR" sz="1100" dirty="0" err="1"/>
                        <a:t>Prompt</a:t>
                      </a:r>
                      <a:r>
                        <a:rPr lang="ko-KR" sz="1100" dirty="0"/>
                        <a:t> 복사, </a:t>
                      </a:r>
                      <a:r>
                        <a:rPr lang="ko-KR" sz="1100" dirty="0" err="1"/>
                        <a:t>이메일·전화번호</a:t>
                      </a:r>
                      <a:r>
                        <a:rPr lang="ko-KR" sz="1100" dirty="0"/>
                        <a:t> 패턴, JSON 형식 준수</a:t>
                      </a:r>
                    </a:p>
                  </a:txBody>
                  <a:tcPr marL="44755" marR="44755" marT="22378" marB="223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 err="1"/>
                        <a:t>Steering</a:t>
                      </a:r>
                      <a:r>
                        <a:rPr lang="ko-KR" sz="1100" dirty="0"/>
                        <a:t> 때문에 답변이 깨지거나 반복되는지 확인</a:t>
                      </a:r>
                    </a:p>
                  </a:txBody>
                  <a:tcPr marL="44755" marR="44755" marT="22378" marB="223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6466993"/>
                  </a:ext>
                </a:extLst>
              </a:tr>
              <a:tr h="714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1" dirty="0" err="1"/>
                        <a:t>Steering</a:t>
                      </a:r>
                      <a:r>
                        <a:rPr lang="ko-KR" sz="1100" b="1" dirty="0"/>
                        <a:t> 작동 진단</a:t>
                      </a:r>
                    </a:p>
                  </a:txBody>
                  <a:tcPr marL="44755" marR="44755" marT="22378" marB="223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 err="1"/>
                        <a:t>Hidden</a:t>
                      </a:r>
                      <a:r>
                        <a:rPr lang="ko-KR" sz="1100" dirty="0"/>
                        <a:t> </a:t>
                      </a:r>
                      <a:r>
                        <a:rPr lang="ko-KR" sz="1100" dirty="0" err="1"/>
                        <a:t>state</a:t>
                      </a:r>
                      <a:r>
                        <a:rPr lang="ko-KR" sz="1100" dirty="0"/>
                        <a:t> 변화량, 첫 토큰 KL </a:t>
                      </a:r>
                      <a:r>
                        <a:rPr lang="ko-KR" sz="1100" dirty="0" err="1"/>
                        <a:t>divergence</a:t>
                      </a:r>
                      <a:r>
                        <a:rPr lang="ko-KR" sz="1100" dirty="0"/>
                        <a:t>, Top-1 </a:t>
                      </a:r>
                      <a:r>
                        <a:rPr lang="ko-KR" sz="1100" dirty="0" err="1"/>
                        <a:t>일치율</a:t>
                      </a:r>
                      <a:r>
                        <a:rPr lang="ko-KR" sz="1100" dirty="0"/>
                        <a:t>, </a:t>
                      </a:r>
                      <a:r>
                        <a:rPr lang="ko-KR" sz="1100" dirty="0" err="1"/>
                        <a:t>Greedy</a:t>
                      </a:r>
                      <a:r>
                        <a:rPr lang="ko-KR" sz="1100" dirty="0"/>
                        <a:t>/</a:t>
                      </a:r>
                      <a:r>
                        <a:rPr lang="ko-KR" sz="1100" dirty="0" err="1"/>
                        <a:t>Sampling</a:t>
                      </a:r>
                      <a:r>
                        <a:rPr lang="ko-KR" sz="1100" dirty="0"/>
                        <a:t> 답변 동일률</a:t>
                      </a:r>
                    </a:p>
                  </a:txBody>
                  <a:tcPr marL="44755" marR="44755" marT="22378" marB="223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설정한 강도가 실제 모델 출력에 영향을 주는지 확인</a:t>
                      </a:r>
                    </a:p>
                  </a:txBody>
                  <a:tcPr marL="44755" marR="44755" marT="22378" marB="223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2358313"/>
                  </a:ext>
                </a:extLst>
              </a:tr>
              <a:tr h="1296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b="1" dirty="0" err="1"/>
                        <a:t>선호도·품질</a:t>
                      </a:r>
                      <a:r>
                        <a:rPr lang="ko-KR" sz="1100" b="1" dirty="0"/>
                        <a:t> 평가</a:t>
                      </a:r>
                      <a:br>
                        <a:rPr lang="en-US" altLang="ko-KR" sz="1100" b="1" dirty="0"/>
                      </a:br>
                      <a:r>
                        <a:rPr lang="en-US" altLang="ko-KR" sz="1100" b="1" dirty="0"/>
                        <a:t>(LLM-as-a-judge)</a:t>
                      </a:r>
                      <a:endParaRPr lang="ko-KR" sz="1100" b="1" dirty="0"/>
                    </a:p>
                  </a:txBody>
                  <a:tcPr marL="44755" marR="44755" marT="22378" marB="223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승/무/패, 선호 적합도 1–7점, </a:t>
                      </a:r>
                      <a:r>
                        <a:rPr lang="ko-KR" sz="1100" dirty="0" err="1"/>
                        <a:t>가치·안전성·도움성·유창성·사실성·다양성·창의성</a:t>
                      </a:r>
                      <a:r>
                        <a:rPr lang="ko-KR" sz="1100" dirty="0"/>
                        <a:t> 1–7점</a:t>
                      </a:r>
                    </a:p>
                  </a:txBody>
                  <a:tcPr marL="44755" marR="44755" marT="22378" marB="223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사용자 선호 향상과 품질 유지 여부 판단</a:t>
                      </a:r>
                    </a:p>
                  </a:txBody>
                  <a:tcPr marL="44755" marR="44755" marT="22378" marB="223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7656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836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AB8E15B-35CC-8031-C1D9-240F6BD07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7672E190-0E48-FFA2-7CDC-5A8E12C319A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0E6B9C10-45E4-95D8-E3C0-0088EAC58709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63E8F996-8AC0-6E57-18EC-5656EC655D9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5431D05-0243-D077-C2E1-480F6D236E32}"/>
              </a:ext>
            </a:extLst>
          </p:cNvPr>
          <p:cNvSpPr txBox="1"/>
          <p:nvPr/>
        </p:nvSpPr>
        <p:spPr>
          <a:xfrm>
            <a:off x="1353975" y="163028"/>
            <a:ext cx="5793683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Evaluation – measured tools(via .</a:t>
            </a:r>
            <a:r>
              <a:rPr 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py</a:t>
            </a: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) + </a:t>
            </a:r>
            <a:b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</a:b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LLM-as-a-judge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F76B165-C356-03FA-ACF4-E68BFB9A7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177650"/>
              </p:ext>
            </p:extLst>
          </p:nvPr>
        </p:nvGraphicFramePr>
        <p:xfrm>
          <a:off x="1617785" y="1561758"/>
          <a:ext cx="7172862" cy="2499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0954">
                  <a:extLst>
                    <a:ext uri="{9D8B030D-6E8A-4147-A177-3AD203B41FA5}">
                      <a16:colId xmlns:a16="http://schemas.microsoft.com/office/drawing/2014/main" val="3272658801"/>
                    </a:ext>
                  </a:extLst>
                </a:gridCol>
                <a:gridCol w="2390954">
                  <a:extLst>
                    <a:ext uri="{9D8B030D-6E8A-4147-A177-3AD203B41FA5}">
                      <a16:colId xmlns:a16="http://schemas.microsoft.com/office/drawing/2014/main" val="136959294"/>
                    </a:ext>
                  </a:extLst>
                </a:gridCol>
                <a:gridCol w="2390954">
                  <a:extLst>
                    <a:ext uri="{9D8B030D-6E8A-4147-A177-3AD203B41FA5}">
                      <a16:colId xmlns:a16="http://schemas.microsoft.com/office/drawing/2014/main" val="357574133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 dirty="0"/>
                        <a:t>Question</a:t>
                      </a:r>
                      <a:endParaRPr lang="ko-KR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b="1" dirty="0"/>
                        <a:t>필요한 비교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b="1" dirty="0"/>
                        <a:t>핵심 측정 지표 3개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40995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/>
                        <a:t>Profile</a:t>
                      </a:r>
                      <a:r>
                        <a:rPr lang="ko-KR" sz="1400" dirty="0"/>
                        <a:t> </a:t>
                      </a:r>
                      <a:r>
                        <a:rPr lang="ko-KR" sz="1400" dirty="0" err="1"/>
                        <a:t>Prompt가</a:t>
                      </a:r>
                      <a:r>
                        <a:rPr lang="ko-KR" sz="1400" dirty="0"/>
                        <a:t> 개입 없는 모델보다 좋은가?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/>
                        <a:t>B</a:t>
                      </a:r>
                      <a:r>
                        <a:rPr lang="ko-KR" sz="1400" dirty="0"/>
                        <a:t> </a:t>
                      </a:r>
                      <a:r>
                        <a:rPr lang="ko-KR" sz="1400" dirty="0" err="1"/>
                        <a:t>vs</a:t>
                      </a:r>
                      <a:r>
                        <a:rPr lang="ko-KR" sz="1400" dirty="0"/>
                        <a:t> </a:t>
                      </a:r>
                      <a:r>
                        <a:rPr lang="ko-KR" sz="1400" dirty="0" err="1"/>
                        <a:t>A</a:t>
                      </a:r>
                      <a:endParaRPr 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/>
                        <a:t>선호 </a:t>
                      </a:r>
                      <a:r>
                        <a:rPr lang="ko-KR" sz="1400" dirty="0" err="1"/>
                        <a:t>승률·선호</a:t>
                      </a:r>
                      <a:r>
                        <a:rPr lang="ko-KR" sz="1400" dirty="0"/>
                        <a:t> 적합도, </a:t>
                      </a:r>
                      <a:r>
                        <a:rPr lang="ko-KR" sz="1400" b="1" dirty="0" err="1"/>
                        <a:t>안전성·사실성·유창성</a:t>
                      </a:r>
                      <a:endParaRPr 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89791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/>
                        <a:t>Population</a:t>
                      </a:r>
                      <a:r>
                        <a:rPr lang="ko-KR" sz="1400" dirty="0"/>
                        <a:t> </a:t>
                      </a:r>
                      <a:r>
                        <a:rPr lang="ko-KR" sz="1400" dirty="0" err="1"/>
                        <a:t>Steering이</a:t>
                      </a:r>
                      <a:r>
                        <a:rPr lang="ko-KR" sz="1400" dirty="0"/>
                        <a:t> 효과가 있는가?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/>
                        <a:t>C </a:t>
                      </a:r>
                      <a:r>
                        <a:rPr lang="ko-KR" sz="1400" dirty="0" err="1"/>
                        <a:t>vs</a:t>
                      </a:r>
                      <a:r>
                        <a:rPr lang="ko-KR" sz="1400" dirty="0"/>
                        <a:t> </a:t>
                      </a:r>
                      <a:r>
                        <a:rPr lang="ko-KR" sz="1400" dirty="0" err="1"/>
                        <a:t>A</a:t>
                      </a:r>
                      <a:endParaRPr 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/>
                        <a:t>선호 </a:t>
                      </a:r>
                      <a:r>
                        <a:rPr lang="ko-KR" sz="1400" dirty="0" err="1"/>
                        <a:t>승률·선호</a:t>
                      </a:r>
                      <a:r>
                        <a:rPr lang="ko-KR" sz="1400" dirty="0"/>
                        <a:t> 적합도, </a:t>
                      </a:r>
                      <a:r>
                        <a:rPr lang="ko-KR" sz="1400" dirty="0" err="1"/>
                        <a:t>안전성·사실성·유창성</a:t>
                      </a:r>
                      <a:endParaRPr 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23873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/>
                        <a:t>설문 기반 </a:t>
                      </a:r>
                      <a:r>
                        <a:rPr lang="ko-KR" sz="1400" dirty="0" err="1"/>
                        <a:t>Cold</a:t>
                      </a:r>
                      <a:r>
                        <a:rPr lang="en-US" altLang="ko-KR" sz="1400" dirty="0"/>
                        <a:t>(Warm)</a:t>
                      </a:r>
                      <a:r>
                        <a:rPr lang="ko-KR" sz="1400" dirty="0"/>
                        <a:t>-</a:t>
                      </a:r>
                      <a:r>
                        <a:rPr lang="ko-KR" sz="1400" dirty="0" err="1"/>
                        <a:t>start가</a:t>
                      </a:r>
                      <a:r>
                        <a:rPr lang="ko-KR" sz="1400" dirty="0"/>
                        <a:t> 효과가 있는가?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/>
                        <a:t>D</a:t>
                      </a:r>
                      <a:r>
                        <a:rPr lang="en-US" altLang="ko-KR" sz="1400" dirty="0"/>
                        <a:t>,E</a:t>
                      </a:r>
                      <a:r>
                        <a:rPr lang="ko-KR" sz="1400" dirty="0"/>
                        <a:t> </a:t>
                      </a:r>
                      <a:r>
                        <a:rPr lang="ko-KR" sz="1400" dirty="0" err="1"/>
                        <a:t>vs</a:t>
                      </a:r>
                      <a:r>
                        <a:rPr lang="ko-KR" sz="1400" dirty="0"/>
                        <a:t> </a:t>
                      </a:r>
                      <a:r>
                        <a:rPr lang="ko-KR" sz="1400" dirty="0" err="1"/>
                        <a:t>A</a:t>
                      </a:r>
                      <a:endParaRPr 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/>
                        <a:t>선호 </a:t>
                      </a:r>
                      <a:r>
                        <a:rPr lang="ko-KR" sz="1400" dirty="0" err="1"/>
                        <a:t>승률·선호</a:t>
                      </a:r>
                      <a:r>
                        <a:rPr lang="ko-KR" sz="1400" dirty="0"/>
                        <a:t> 적합도, </a:t>
                      </a:r>
                      <a:r>
                        <a:rPr lang="ko-KR" sz="1400" dirty="0" err="1"/>
                        <a:t>안전성·사실성·유창성</a:t>
                      </a:r>
                      <a:endParaRPr 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8942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2277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1C1D131-426F-71A2-19FD-D39B009A2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0AF4415-DCE5-5D2C-E4D3-DA98DA5C139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6F7ACE20-DE9F-1368-599F-30D6EAB15A1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CD083BA1-E4EC-FE56-DBC6-9FE6744A84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9F502A1-1E81-414D-3673-3593D1D8529C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진행상황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/ Future work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89A94905-AE9A-A496-7F05-062B25F2DD6A}"/>
              </a:ext>
            </a:extLst>
          </p:cNvPr>
          <p:cNvSpPr txBox="1"/>
          <p:nvPr/>
        </p:nvSpPr>
        <p:spPr>
          <a:xfrm>
            <a:off x="1408975" y="1182159"/>
            <a:ext cx="4979400" cy="2839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초기 </a:t>
            </a:r>
            <a:r>
              <a:rPr lang="en-US" altLang="ko-KR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Baseline </a:t>
            </a:r>
            <a:r>
              <a:rPr lang="ko-KR" altLang="en-US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구축</a:t>
            </a:r>
            <a:r>
              <a:rPr lang="en-US" altLang="ko-KR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Activation cache </a:t>
            </a:r>
            <a:r>
              <a:rPr lang="ko-KR" altLang="en-US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생성 완료</a:t>
            </a:r>
            <a:br>
              <a:rPr lang="en-US" altLang="ko-KR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</a:br>
            <a:r>
              <a:rPr lang="en-US" altLang="ko-KR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(</a:t>
            </a:r>
            <a:r>
              <a:rPr lang="en-US" altLang="ko-KR" sz="15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Colab</a:t>
            </a:r>
            <a:r>
              <a:rPr lang="en-US" altLang="ko-KR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ko-KR" altLang="en-US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환경</a:t>
            </a:r>
            <a:r>
              <a:rPr lang="en-US" altLang="ko-KR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Qwen 3 0.6B)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Computational </a:t>
            </a:r>
            <a:r>
              <a:rPr lang="ko-KR" altLang="en-US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제약으로 진행이 느림</a:t>
            </a:r>
            <a:endParaRPr lang="en-US" altLang="ko-KR" sz="15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br>
              <a:rPr lang="en-US" altLang="ko-KR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</a:br>
            <a:endParaRPr lang="en-US" altLang="ko-KR" sz="15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5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Jev</a:t>
            </a:r>
            <a:r>
              <a:rPr lang="en-US" altLang="ko-KR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-as-a-judge </a:t>
            </a:r>
            <a:r>
              <a:rPr lang="ko-KR" altLang="en-US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도입 </a:t>
            </a:r>
            <a:r>
              <a:rPr lang="en-US" altLang="ko-KR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(LLM</a:t>
            </a:r>
            <a:r>
              <a:rPr lang="ko-KR" altLang="en-US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와의 성능 비교</a:t>
            </a:r>
            <a:r>
              <a:rPr lang="en-US" altLang="ko-KR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)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다양한 </a:t>
            </a:r>
            <a:r>
              <a:rPr lang="en-US" altLang="ko-KR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Question / Criteria</a:t>
            </a:r>
            <a:r>
              <a:rPr lang="ko-KR" altLang="en-US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에 대한 비교</a:t>
            </a:r>
            <a:endParaRPr lang="en-US" altLang="ko-KR" sz="15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다양한 모델 </a:t>
            </a:r>
            <a:r>
              <a:rPr lang="en-US" altLang="ko-KR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(Gemma 4, Qwen, </a:t>
            </a:r>
            <a:r>
              <a:rPr lang="ko-KR" altLang="en-US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등등</a:t>
            </a:r>
            <a:r>
              <a:rPr lang="en-US" altLang="ko-KR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)</a:t>
            </a:r>
            <a:r>
              <a:rPr lang="ko-KR" altLang="en-US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에 관해 적용</a:t>
            </a:r>
            <a:endParaRPr lang="en-US" altLang="ko-KR" sz="15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Visualization (Transformer Lens, </a:t>
            </a:r>
            <a:r>
              <a:rPr lang="en-US" altLang="ko-KR" sz="15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Nnsight</a:t>
            </a:r>
            <a:r>
              <a:rPr lang="en-US" altLang="ko-KR" sz="15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)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sz="15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461475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B9D10EA0-0BBD-A0B6-70E2-8F582D969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DF0CB9F7-AF6D-E5F8-15F3-AD8B2ACBDCD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3C38D363-89F4-1516-F9B5-46B5B17EC8A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984DDA48-943F-9683-330E-B49200587B2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B471CD-DACD-68A9-666C-BC10B9D46231}"/>
              </a:ext>
            </a:extLst>
          </p:cNvPr>
          <p:cNvSpPr txBox="1"/>
          <p:nvPr/>
        </p:nvSpPr>
        <p:spPr>
          <a:xfrm>
            <a:off x="1561005" y="244586"/>
            <a:ext cx="4572000" cy="416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/>
              <a:t>Others + </a:t>
            </a:r>
            <a:r>
              <a:rPr lang="en-US" altLang="ko-KR" sz="2000" b="1" dirty="0">
                <a:solidFill>
                  <a:schemeClr val="accent1"/>
                </a:solidFill>
              </a:rPr>
              <a:t>paperswithcode.co</a:t>
            </a:r>
          </a:p>
        </p:txBody>
      </p:sp>
    </p:spTree>
    <p:extLst>
      <p:ext uri="{BB962C8B-B14F-4D97-AF65-F5344CB8AC3E}">
        <p14:creationId xmlns:p14="http://schemas.microsoft.com/office/powerpoint/2010/main" val="148406393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1051</Words>
  <Application>Microsoft Office PowerPoint</Application>
  <PresentationFormat>화면 슬라이드 쇼(16:9)</PresentationFormat>
  <Paragraphs>152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NanumGothic ExtraBold</vt:lpstr>
      <vt:lpstr>Arial</vt:lpstr>
      <vt:lpstr>Cambria Math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한승원</cp:lastModifiedBy>
  <cp:revision>52</cp:revision>
  <dcterms:modified xsi:type="dcterms:W3CDTF">2026-10-26T16:51:56Z</dcterms:modified>
</cp:coreProperties>
</file>
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Nanum Gothic" panose="020B0600000101010101" charset="-127"/>
      <p:regular r:id="rId14"/>
      <p:bold r:id="rId15"/>
    </p:embeddedFont>
    <p:embeddedFont>
      <p:font typeface="NanumGothicExtraBold" pitchFamily="2" charset="-127"/>
      <p:bold r:id="rId16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O 원문</c:v>
          </c:tx>
          <c:spPr>
            <a:solidFill>
              <a:srgbClr val="AAB6CC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9264B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60.597999999999999</c:v>
                </c:pt>
                <c:pt idx="1">
                  <c:v>47.427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12-4B24-96EA-43E03C7D9DAA}"/>
            </c:ext>
          </c:extLst>
        </c:ser>
        <c:ser>
          <c:idx val="1"/>
          <c:order val="1"/>
          <c:tx>
            <c:v>R 이름 변경</c:v>
          </c:tx>
          <c:spPr>
            <a:solidFill>
              <a:srgbClr val="497DBD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9264B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71.7</c:v>
                </c:pt>
                <c:pt idx="1">
                  <c:v>58.11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12-4B24-96EA-43E03C7D9DAA}"/>
            </c:ext>
          </c:extLst>
        </c:ser>
        <c:ser>
          <c:idx val="2"/>
          <c:order val="2"/>
          <c:tx>
            <c:v>C 문장 변경</c:v>
          </c:tx>
          <c:spPr>
            <a:solidFill>
              <a:srgbClr val="D7DCE5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9264B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57.942</c:v>
                </c:pt>
                <c:pt idx="1">
                  <c:v>47.371000000000002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12-4B24-96EA-43E03C7D9DAA}"/>
            </c:ext>
          </c:extLst>
        </c:ser>
        <c:ser>
          <c:idx val="3"/>
          <c:order val="3"/>
          <c:tx>
            <c:v>F 둘 다 변경</c:v>
          </c:tx>
          <c:spPr>
            <a:solidFill>
              <a:srgbClr val="19264B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9264B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Qwen2.5-VL-7B</c:v>
                </c:pt>
                <c:pt idx="1">
                  <c:v>InternVL2.5-8B</c:v>
                </c:pt>
              </c:strCache>
            </c:strRef>
          </c:cat>
          <c:val>
            <c:numRef>
              <c:f>'Chart Data'!$H$2:$H$3</c:f>
              <c:numCache>
                <c:formatCode>0"%"</c:formatCode>
                <c:ptCount val="2"/>
                <c:pt idx="0">
                  <c:v>73.238</c:v>
                </c:pt>
                <c:pt idx="1">
                  <c:v>58.753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12-4B24-96EA-43E03C7D9D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5E8EE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4314A"/>
              </a:solidFill>
              <a:latin typeface="Arial"/>
              <a:ea typeface="Arial"/>
              <a:cs typeface="Arial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[15초 배분 · 0:00–0:15]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안녕하세요. MM2팀 배기현, 이승재입니다. 저희는 질문과 화면의 언어가 다를 때 AI가 왜 어려워하는지 연구하고 있습니다. 지금까지의 결과와 다음 실험 계획을 말씀드리겠습니다.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팀명·이름: 기존 CUAI 소논문 및 발표 자료. 발표 일자: 사용자가 제공한 9주차 세션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[25초 배분 · 0:15–0:40]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왼쪽은 중국어 알람 화면입니다. 영어로 Ringtone 아래에 무엇이 있는지 묻는 상황입니다. AI는 벨소리라는 영어 이름을 중국어 화면 속 대상과 연결한 뒤, 아래에 있는 항목을 찾아야 합니다. 저희는 이 언어 차이가 문제를 푸는 데 얼마나 방해가 되는지 알아봤습니다.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followup_rel_4lang/data/rel_all_366/conditions_4lang.jsonl; followup_rel_4lang/data/rel_all_366/generation_report.json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이미지: followup_rel_4lang/assets/images/3/zh/clock_zh_5.jpg, rel::3/clock_5.jpg, en→zh. MPR-GUI-Bench 데이터, CC-BY-NC-4.0. 원래 질문: In relation to the Ringtone element visible on this interface, which element is positioned directly below it? 예시 정답 B: Once / 只响一次.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[30초 배분 · 0:40–1:10]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먼저 여섯 개 언어로 질문과 화면을 조합했습니다. 여러 조건을 고려해도 언어가 같을 때 추가 이득이 있었고, 관계를 묻는 REL 문제에서 차이가 가장 컸습니다. REL을 다시 나누니 화면 글자를 읽어야 하는 문제에 불이익이 집중됐습니다. 그래서 문장 전체와 대상 이름 중 무엇이 중요한지 나눠 봤습니다.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연구 흐름 및 REL에서 효과가 가장 컸다는 비교: 이번 사용자 제공 내용. 기존 REL 분해 근거: mpr-gui-crosslocale-rel-annotation-ui/01_code/results/analysis/README_KO.md. 관찰적 분류이며 단일 원인의 인과효과로 확정하지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[35초 배분 · 1:10–1:45]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영어 질문과 중국어 화면을 예로 들겠습니다. O는 원문입니다. R은 대상 이름만 중국어로, C는 이름을 제외한 나머지 문장만 중국어로 바꿉니다. F는 둘 다 바꿉니다. 화면과 정답은 고정합니다. 이렇게 비교하면 이름을 맞추는 것과 문장을 번역하는 것 중 어느 쪽이 더 도움이 되는지 확인할 수 있습니다.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followup_rel_4lang/data/rel_all_366/conditions_4lang.jsonl; followup_rel_4lang/data/rel_all_366/generation_report.json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O=(reference_alignment 0,context_localization 0), R=(1,0), C=(0,1), F=(1,1). 질문과 A–D 보기 모두 조작. label_provenance=parallel_qas_text_proxy, human_reviewed=false.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[20초 배분 · 1:45–2:05]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366개 문항을 준비하고, 네 개 언어와 Qwen, InternVL 두 모델에서 실험했습니다. 데이터 생성과 전체 추론, 통계 분석까지 마쳤습니다. 제외 기준을 적용해 364문항을 분석했고, 번역과 화면을 대조하는 검수는 진행 중입니다.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followup_rel_4lang/data/rel_all_366/conditions_4lang.jsonl; followup_rel_4lang/data/rel_all_366/generation_report.json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outputs/orcf_review_20261008/item_cluster_bootstrap_review.json (2026-10-08), source_commit=a9f58c3. https://github.com/dltmdwoOS/mpr-gui-crosslocale/tree/a9f58c3/followup_rel_4lang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실제 추론 모델당 18,432건, 23,424조건 행. 주 분석 모델당 17,168행, 4,292 quartet. dependent 301문항, independent 63문항. Qwen batch32 완료본 사용. 9월 AI 1차 검수 237기록은 사람 전수 검수와 다름.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[40초 배분 · 2:05–2:45]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결과를 보면 이름을 바꾼 R과 둘 다 바꾼 F가 높고, 문장만 바꾼 C는 원문보다 좋아지지 않았습니다. 이름만 맞췄을 때 두 모델 모두 정답률이 약 11퍼센트포인트 높아졌습니다. 반면 화면 글자가 필요 없는 문제에서는 뚜렷한 개선을 확인하지 못했습니다. 현재 결과는 문장 전체보다 대상 이름을 맞추는 것이 회복의 큰 부분을 차지한다는 단서입니다.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제공한 O/R/C/F 결과표 및 연구 흐름. 로컬 수치 근거: outputs/orcf_review_20261008/item_cluster_bootstrap_review.json (source_commit=a9f58c3). 정확도와 대비는 원본의 독립 계산 값을 그대로 유지한다. 반올림된 정확도의 차이와 0.001pp 차이가 날 수 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outputs/orcf_review_20261008/item_cluster_bootstrap_review.json (2026-10-08), source_commit=a9f58c3. https://github.com/dltmdwoOS/mpr-gui-crosslocale/tree/a9f58c3/followup_rel_4lang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정확도: InternVL O=47.427%, R=58.110%, Qwen O=60.598%, R=71.700%. dependent 301문항, 모델당 3,576 방향성 언어쌍 quartet, 행 가중 정확도. R−O 문항 cluster bootstrap 95% CI: InternVL [8.668,12.750]%p, Qwen [8.697,13.542]%p, 10,000 draws. independent R−O: InternVL −0.838%p [−3.572,1.667], Qwen +1.536%p [−0.286,3.693]. 유의하지 않은 차이를 동등성으로 해석하지 않음.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문맥 효과가 항상 0이라는 뜻은 아니다. Qwen dependent에서 F−R=+1.538pp, interaction=+4.195pp. Referent 효과가 거의 사라짐은 작은 관측 대비를 쉽게 설명한 표현이며 동등성 검정 결론이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[40초 배분 · 2:45–3:25]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다음에는 대상을 찾는 단계부터 어려운지 확인하겠습니다. 먼저 사람이 화면 속 대상에 정답 사각형을 표시합니다. AI에게 O와 R의 이름을 각각 주고 해당 위치에 점을 찍게 합니다. 점이 사각형 안에 들어오면 정답입니다. 이름을 바꾼 뒤 대상을 찾게 된 사례에서, 관계 문제도 함께 정답으로 바뀌는지 보겠습니다. 아직 수행 전인 실험 계획입니다.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제안한 Grounding Diagnostic. 아직 수행하지 않은 계획. 각 query의 referent element에만 수작업 GT bbox annotation. 동일 화면에서 O/R 표현별로 explicit point grounding task: “{referent}가 가리키는 GUI element에 점을 (x,y)로 하나 찍어라.” point-in-box accuracy는 예측 점이 GT bbox 안이면 1, 밖이면 0. 원본 이미지 크기와 좌표계 고정, 잘못된 출력 형식·영역 모호성 처리 규칙 사전 명시가 필요하다. 동일 model/item/language pair/referent 단위로 O/R grounding 0→1과 REL 0→1의 공동 전이를 확인한다. 명시적 grounding과 원래 REL 추론은 다른 프롬프트이므로 공동 교정은 기전의 진단 증거이며 인과적 매개를 단독 증명하지 않는다. 대상 표현이 여러 개라면 각 표현의 성공과 REL 결과의 집계 기준을 먼저 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[25초 배분 · 3:25–3:50]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핵심 질문은 대상을 못 찾는 건지, 찾고도 관계를 틀리는 건지입니다. 이를 확인한 뒤 필요한 대상 이름만 두 단계로 맞추는 방법을 검토하려고 합니다. 다국어 선행연구와 진단 결과를 함께 보면서 방법을 구체화하겠습니다. 감사합니다.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 제안: selective referent-only two-stage localization / Selective Referent Alignment. 화면 표현 확인 후 필요한 referent만 정렬하는 두 단계는 발표에서 쉽게 풀어쓴 구상이며, 구현·성능 검증이 완료된 방법이 아니다. Context까지 영어 등 모델에 쉬운 언어로 바꾸는 대안도 가능하지만, 현재의 referent 역할 분리라는 연구 질문과 구분해 후순위로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[질의응답용 부록 · 기본 슬라이드 쇼에서 숨김]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Text-dependent REL은 화면의 글자를 읽어야 풀 수 있는 문제입니다. R−O와 F−C가 크게 양수이고, C−O와 F−R은 상대적으로 작습니다. 문맥 효과가 전혀 없거나 referent만 유일한 원인이라는 뜻은 아닙니다.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제공한 O/R/C/F 결과표 및 연구 흐름. 로컬 수치 근거: outputs/orcf_review_20261008/item_cluster_bootstrap_review.json (source_commit=a9f58c3). 정확도와 대비는 원본의 독립 계산 값을 그대로 유지한다. 반올림된 정확도의 차이와 0.001pp 차이가 날 수 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전체 2×2 설계의 조건·대비. 통계적 해석은 문항 bootstrap과 GLMM 등 추정 방식의 차이를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[질의응답용 부록 · 기본 슬라이드 쇼에서 숨김]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Text-independent REL은 화면의 글자를 읽지 않아도 풀 수 있는 문제입니다. referent 관련 평균 대비는 dependent보다 작고, 문항 bootstrap 95% 구간이 0을 포함합니다. 효과가 정확히 0이거나 두 조건이 동등하다고 확정하지 않습니다.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사용자가 제공한 O/R/C/F 결과표 및 연구 흐름. 로컬 수치 근거: outputs/orcf_review_20261008/item_cluster_bootstrap_review.json (source_commit=a9f58c3). 정확도와 대비는 원본의 독립 계산 값을 그대로 유지한다. 반올림된 정확도의 차이와 0.001pp 차이가 날 수 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전체 2×2 설계의 조건·대비. 통계적 해석은 문항 bootstrap과 GLMM 등 추정 방식의 차이를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[질의응답용 부록 · 기본 슬라이드 쇼에서 숨김]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Referent는 질문과 보기에서 화면의 대상을 가리키는 표현, context는 그 외 문맥입니다. Source는 원래 질문의 언어, GUI는 화면 언어입니다. 앞으로의 방법은 selective referent-only two-stage localization을 우선 후보로 두고, 다국어 레퍼런스를 더 찾아 구체화할 계획입니다. 문맥을 영어 등 모델에 쉬운 언어로 바꾸는 것도 가능하지만 현재 RQ를 벗어나거나 엔지니어링 성격이 강해질 수 있어 구분해서 검토합니다.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[출처 및 질의응답 참고]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사용자 제공 Settings 표와 이후 method 구상. 방법은 아직 미확정. 영어가 모든 모델·과제에서 항상 가장 쉽다는 일반 사실로 주장하지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D3D73BB4-F5D2-476C-BF4D-15A3CC2F9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2C637253-E4C4-4C8A-9E02-1D05ADBC3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B11D5A59-FE4C-4AF3-90C5-41BA1AB460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79C68155-A8AA-4D89-BE6C-B22B6B9F6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96CE10B4-CFC1-4A9F-BBE3-A2F719C4EF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D21EA108-D966-450B-A9D3-35EAF10F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A164C09B-2341-4259-8A02-F7CB7EA26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73787295-6677-473C-A56A-A9171BB189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22B12649-0555-4C35-AA54-F423B11C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153C4909-AB5C-4E87-9EDB-4C274D511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F0FD13B7-0102-453B-B450-9868B51B752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022DCFF7-969F-4CDB-A162-2828B48EE8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9C1ACAD4-E066-47EF-A860-13CDDB37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67B74FE3-9656-47E1-8FCD-8A078A47B7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CE80CF34-E7A7-4246-A70B-CBDC0856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10843969-5678-421C-A5F6-92FED07FF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AF9FE120-D5EB-4EEA-97A8-92136A88B0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B724A80E-E5E4-4927-B360-C377FF89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CCBB54C7-DE86-42E4-AD46-3E27D866C95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A2918667-ABFD-4650-966E-CB2087444C48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98F64A27-6B5C-4B0A-BFD1-47804D59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C883CFDD-FA1F-4D5F-821F-7CA031F07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1D522461-9911-453D-A218-8E6B1E73F3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B4C0434F-995C-4749-9B7E-4DE9D643540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804D44C7-BA87-4D1D-AE8F-5514ED4A1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71F12BE9-701A-4AFC-8A50-1ADC1EA9255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4" name="Google Shape;44;p10">
            <a:extLst>
              <a:ext uri="{FF2B5EF4-FFF2-40B4-BE49-F238E27FC236}">
                <a16:creationId xmlns:a16="http://schemas.microsoft.com/office/drawing/2014/main" id="{A73F4766-59AB-4536-B5EA-39BD903051F6}"/>
              </a:ext>
            </a:extLst>
          </p:cNvPr>
          <p:cNvSpPr>
            <a:spLocks noGrp="1"/>
          </p:cNvSpPr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>
            <a:extLst>
              <a:ext uri="{FF2B5EF4-FFF2-40B4-BE49-F238E27FC236}">
                <a16:creationId xmlns:a16="http://schemas.microsoft.com/office/drawing/2014/main" id="{69C3404B-760D-4496-B9C5-72169D128F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46" name="Google Shape;46;p10">
            <a:extLst>
              <a:ext uri="{FF2B5EF4-FFF2-40B4-BE49-F238E27FC236}">
                <a16:creationId xmlns:a16="http://schemas.microsoft.com/office/drawing/2014/main" id="{721B75B7-65AC-4F2E-89C3-C5864CED83C0}"/>
              </a:ext>
            </a:extLst>
          </p:cNvPr>
          <p:cNvSpPr>
            <a:spLocks noGrp="1"/>
          </p:cNvSpPr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>
            <a:extLst>
              <a:ext uri="{FF2B5EF4-FFF2-40B4-BE49-F238E27FC236}">
                <a16:creationId xmlns:a16="http://schemas.microsoft.com/office/drawing/2014/main" id="{3F9AD633-B5B0-4EEA-94E8-62A5988D34DA}"/>
              </a:ext>
            </a:extLst>
          </p:cNvPr>
          <p:cNvSpPr>
            <a:spLocks noGrp="1"/>
          </p:cNvSpPr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>
            <a:extLst>
              <a:ext uri="{FF2B5EF4-FFF2-40B4-BE49-F238E27FC236}">
                <a16:creationId xmlns:a16="http://schemas.microsoft.com/office/drawing/2014/main" id="{982E467E-DAC7-4536-8CCE-231908B7265E}"/>
              </a:ext>
            </a:extLst>
          </p:cNvPr>
          <p:cNvSpPr>
            <a:spLocks noGrp="1"/>
          </p:cNvSpPr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>
            <a:extLst>
              <a:ext uri="{FF2B5EF4-FFF2-40B4-BE49-F238E27FC236}">
                <a16:creationId xmlns:a16="http://schemas.microsoft.com/office/drawing/2014/main" id="{088529C9-37FB-4894-B973-0ED2BBF2B390}"/>
              </a:ext>
            </a:extLst>
          </p:cNvPr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ln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>
            <a:extLst>
              <a:ext uri="{FF2B5EF4-FFF2-40B4-BE49-F238E27FC236}">
                <a16:creationId xmlns:a16="http://schemas.microsoft.com/office/drawing/2014/main" id="{857707B8-5368-458D-9EA0-5F01133C9EB6}"/>
              </a:ext>
            </a:extLst>
          </p:cNvPr>
          <p:cNvSpPr>
            <a:spLocks noGrp="1"/>
          </p:cNvSpPr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>
            <a:extLst>
              <a:ext uri="{FF2B5EF4-FFF2-40B4-BE49-F238E27FC236}">
                <a16:creationId xmlns:a16="http://schemas.microsoft.com/office/drawing/2014/main" id="{8E4DA744-D650-4368-972E-E134FBAC8ED2}"/>
              </a:ext>
            </a:extLst>
          </p:cNvPr>
          <p:cNvSpPr>
            <a:spLocks noGrp="1"/>
          </p:cNvSpPr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>
            <a:extLst>
              <a:ext uri="{FF2B5EF4-FFF2-40B4-BE49-F238E27FC236}">
                <a16:creationId xmlns:a16="http://schemas.microsoft.com/office/drawing/2014/main" id="{8D95758E-51D1-4523-A09E-5680035E3CB2}"/>
              </a:ext>
            </a:extLst>
          </p:cNvPr>
          <p:cNvSpPr>
            <a:spLocks noGrp="1"/>
          </p:cNvSpPr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8기 활동 소개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정기세션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</a:rPr>
              <a:t>CUAI Github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Basic Track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Advanced Track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스터디 소개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</a:rPr>
              <a:t>CUAI 장학금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759BD97C-B992-4060-939F-5E848DA2F8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EC22E2B9-3CA0-43AA-8088-08864708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>
            <a:extLst>
              <a:ext uri="{FF2B5EF4-FFF2-40B4-BE49-F238E27FC236}">
                <a16:creationId xmlns:a16="http://schemas.microsoft.com/office/drawing/2014/main" id="{18F5E343-4425-40F7-A713-60C7B8EBA9E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>
            <a:extLst>
              <a:ext uri="{FF2B5EF4-FFF2-40B4-BE49-F238E27FC236}">
                <a16:creationId xmlns:a16="http://schemas.microsoft.com/office/drawing/2014/main" id="{B185CC79-E467-4F52-AFC1-365CEBBE5F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2A7789FF-4B1B-47F2-83AC-23E26E00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EE7CC8B6-3DB4-41A0-98D1-186771AFA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71F8D7E7-DD97-497D-AAA4-70A7DA08AE4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7406FD3F-BC51-4543-9BA2-77FEC5C6730F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213C216D-D03F-4711-9A46-8062D2D7BE59}"/>
              </a:ext>
            </a:extLst>
          </p:cNvPr>
          <p:cNvSpPr>
            <a:spLocks noGrp="1"/>
          </p:cNvSpPr>
          <p:nvPr/>
        </p:nvSpPr>
        <p:spPr>
          <a:xfrm>
            <a:off x="1428750" y="2152650"/>
            <a:ext cx="7239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defPPr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500" b="1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질문과</a:t>
            </a:r>
            <a:r>
              <a:rPr sz="2500" b="1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sz="2500" b="1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화면의</a:t>
            </a:r>
            <a:r>
              <a:rPr sz="2500" b="1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sz="2500" b="1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언어가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500" b="1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다르면</a:t>
            </a:r>
            <a:r>
              <a:rPr sz="2500" b="1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sz="2500" b="1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AI는</a:t>
            </a:r>
            <a:r>
              <a:rPr sz="2500" b="1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sz="2500" b="1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헷갈릴까</a:t>
            </a:r>
            <a:r>
              <a:rPr sz="2500" b="1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?</a:t>
            </a:r>
            <a:endParaRPr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>
            <a:extLst>
              <a:ext uri="{FF2B5EF4-FFF2-40B4-BE49-F238E27FC236}">
                <a16:creationId xmlns:a16="http://schemas.microsoft.com/office/drawing/2014/main" id="{FA0E79F1-9D3E-4443-876C-0DF621362DD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>
            <a:extLst>
              <a:ext uri="{FF2B5EF4-FFF2-40B4-BE49-F238E27FC236}">
                <a16:creationId xmlns:a16="http://schemas.microsoft.com/office/drawing/2014/main" id="{B2C9C7FB-2129-438F-998E-56B08E46E5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67" name="다국어 GUI 이해 연구">
            <a:extLst>
              <a:ext uri="{FF2B5EF4-FFF2-40B4-BE49-F238E27FC236}">
                <a16:creationId xmlns:a16="http://schemas.microsoft.com/office/drawing/2014/main" id="{E1E1BA8B-DDD0-4DCC-B170-E8041E952CDF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다국어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GUI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이해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연구</a:t>
            </a:r>
            <a:endParaRPr sz="1725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CUAI 9기 MM2팀   배기현 · 이승재">
            <a:extLst>
              <a:ext uri="{FF2B5EF4-FFF2-40B4-BE49-F238E27FC236}">
                <a16:creationId xmlns:a16="http://schemas.microsoft.com/office/drawing/2014/main" id="{DF843724-ED62-44D6-A86F-8FEA9D691379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CUAI 9기 MM2팀   배기현 · 이승재</a:t>
            </a:r>
          </a:p>
        </p:txBody>
      </p:sp>
      <p:sp>
        <p:nvSpPr>
          <p:cNvPr id="69" name="프로젝트 중간발표   2026.10.27">
            <a:extLst>
              <a:ext uri="{FF2B5EF4-FFF2-40B4-BE49-F238E27FC236}">
                <a16:creationId xmlns:a16="http://schemas.microsoft.com/office/drawing/2014/main" id="{2571FB10-7AF0-4679-90E7-5C13282022EB}"/>
              </a:ext>
            </a:extLst>
          </p:cNvPr>
          <p:cNvSpPr>
            <a:spLocks noGrp="1"/>
          </p:cNvSpPr>
          <p:nvPr/>
        </p:nvSpPr>
        <p:spPr>
          <a:xfrm>
            <a:off x="1428750" y="4257675"/>
            <a:ext cx="6858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프로젝트 중간발표   2026.10.27</a:t>
            </a:r>
          </a:p>
        </p:txBody>
      </p:sp>
    </p:spTree>
    <p:extLst>
      <p:ext uri="{BB962C8B-B14F-4D97-AF65-F5344CB8AC3E}">
        <p14:creationId xmlns:p14="http://schemas.microsoft.com/office/powerpoint/2010/main" val="47076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FC06CD5D-773B-4EA8-A41A-A95F0064DF5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50C3B0BF-49A1-47BB-9BA5-D8638A505B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45004A3-A20D-43E2-B19A-E26CE3D96803}"/>
              </a:ext>
            </a:extLst>
          </p:cNvPr>
          <p:cNvSpPr>
            <a:spLocks noGrp="1"/>
          </p:cNvSpPr>
          <p:nvPr/>
        </p:nvSpPr>
        <p:spPr>
          <a:xfrm>
            <a:off x="1409700" y="304800"/>
            <a:ext cx="7143750" cy="53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>
            <a:defPPr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질문은 영어, 화면은 중국어라면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21C272F7-FB0E-4C4F-B235-E38800986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19250" y="1098550"/>
            <a:ext cx="1676400" cy="3632200"/>
          </a:xfrm>
          <a:prstGeom prst="rect">
            <a:avLst/>
          </a:prstGeom>
        </p:spPr>
      </p:pic>
      <p:sp>
        <p:nvSpPr>
          <p:cNvPr id="94" name="“Ringtone 아래에 무엇이 있나요?”">
            <a:extLst>
              <a:ext uri="{FF2B5EF4-FFF2-40B4-BE49-F238E27FC236}">
                <a16:creationId xmlns:a16="http://schemas.microsoft.com/office/drawing/2014/main" id="{DB0FBCF1-53EC-4119-BB70-905F771CC5EC}"/>
              </a:ext>
            </a:extLst>
          </p:cNvPr>
          <p:cNvSpPr>
            <a:spLocks noGrp="1"/>
          </p:cNvSpPr>
          <p:nvPr/>
        </p:nvSpPr>
        <p:spPr>
          <a:xfrm>
            <a:off x="3638550" y="1304925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“</a:t>
            </a:r>
            <a:r>
              <a:rPr lang="en-US" dirty="0"/>
              <a:t>What is right below "Ringtone"</a:t>
            </a:r>
            <a:r>
              <a:rPr sz="20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?”</a:t>
            </a:r>
          </a:p>
        </p:txBody>
      </p:sp>
      <p:sp>
        <p:nvSpPr>
          <p:cNvPr id="95" name="질문에서 찾는 이름은 Ringtone&#10;화면에는 중국어 이름이 표">
            <a:extLst>
              <a:ext uri="{FF2B5EF4-FFF2-40B4-BE49-F238E27FC236}">
                <a16:creationId xmlns:a16="http://schemas.microsoft.com/office/drawing/2014/main" id="{BBF8A78F-2BFA-4C48-A4B5-9FA4681EDAD7}"/>
              </a:ext>
            </a:extLst>
          </p:cNvPr>
          <p:cNvSpPr>
            <a:spLocks noGrp="1"/>
          </p:cNvSpPr>
          <p:nvPr/>
        </p:nvSpPr>
        <p:spPr>
          <a:xfrm>
            <a:off x="3638550" y="2190750"/>
            <a:ext cx="4857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질문에서</a:t>
            </a:r>
            <a:r>
              <a:rPr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찾는</a:t>
            </a:r>
            <a:r>
              <a:rPr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이름은</a:t>
            </a:r>
            <a:r>
              <a:rPr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"</a:t>
            </a:r>
            <a:r>
              <a:rPr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Ringtone</a:t>
            </a:r>
            <a:r>
              <a:rPr lang="en-US"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"</a:t>
            </a:r>
            <a:endParaRPr sz="1800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화면에는</a:t>
            </a:r>
            <a:r>
              <a:rPr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중국어</a:t>
            </a:r>
            <a:r>
              <a:rPr lang="ko-KR" altLang="en-US"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로 </a:t>
            </a:r>
            <a:r>
              <a:rPr lang="en-US" altLang="ko-KR"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“</a:t>
            </a:r>
            <a:r>
              <a:rPr lang="ko-KR" altLang="ko-KR" dirty="0"/>
              <a:t>铃声</a:t>
            </a:r>
            <a:r>
              <a:rPr lang="en-US" altLang="ko-KR" dirty="0"/>
              <a:t>”</a:t>
            </a:r>
            <a:r>
              <a:rPr sz="18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이 </a:t>
            </a:r>
            <a:r>
              <a:rPr sz="18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표시됨</a:t>
            </a:r>
            <a:endParaRPr sz="1800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AI는 단어의 뜻과&#10;화면 속 위치를 함께 연결해야 합니다">
            <a:extLst>
              <a:ext uri="{FF2B5EF4-FFF2-40B4-BE49-F238E27FC236}">
                <a16:creationId xmlns:a16="http://schemas.microsoft.com/office/drawing/2014/main" id="{96A317C5-F38B-484C-A453-195B857CC61F}"/>
              </a:ext>
            </a:extLst>
          </p:cNvPr>
          <p:cNvSpPr>
            <a:spLocks noGrp="1"/>
          </p:cNvSpPr>
          <p:nvPr/>
        </p:nvSpPr>
        <p:spPr>
          <a:xfrm>
            <a:off x="3638550" y="3324225"/>
            <a:ext cx="48577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AI는</a:t>
            </a:r>
            <a:r>
              <a:rPr sz="187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단어의</a:t>
            </a:r>
            <a:r>
              <a:rPr sz="187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뜻과</a:t>
            </a:r>
            <a:endParaRPr sz="1875" b="1" dirty="0">
              <a:solidFill>
                <a:srgbClr val="19264B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화면</a:t>
            </a:r>
            <a:r>
              <a:rPr sz="187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속 </a:t>
            </a: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위치를</a:t>
            </a:r>
            <a:r>
              <a:rPr sz="187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함께</a:t>
            </a:r>
            <a:r>
              <a:rPr sz="187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연결해야</a:t>
            </a:r>
            <a:r>
              <a:rPr sz="187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합니다</a:t>
            </a:r>
            <a:endParaRPr sz="1875" b="1" dirty="0">
              <a:solidFill>
                <a:srgbClr val="19264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05D76E6E-6C5C-4B39-9316-650337E987B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1CF73D53-C2B0-4A8F-A181-B413507522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언어 차이의 영향을 단계별로 좁혀봤습니다">
            <a:extLst>
              <a:ext uri="{FF2B5EF4-FFF2-40B4-BE49-F238E27FC236}">
                <a16:creationId xmlns:a16="http://schemas.microsoft.com/office/drawing/2014/main" id="{EDA1A302-7034-423A-82E9-AE2B9681593C}"/>
              </a:ext>
            </a:extLst>
          </p:cNvPr>
          <p:cNvSpPr>
            <a:spLocks noGrp="1"/>
          </p:cNvSpPr>
          <p:nvPr/>
        </p:nvSpPr>
        <p:spPr>
          <a:xfrm>
            <a:off x="1504950" y="4572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언어 차이의 영향을 단계별로 좁혀봤습니다</a:t>
            </a:r>
          </a:p>
        </p:txBody>
      </p:sp>
      <p:sp>
        <p:nvSpPr>
          <p:cNvPr id="93" name="01">
            <a:extLst>
              <a:ext uri="{FF2B5EF4-FFF2-40B4-BE49-F238E27FC236}">
                <a16:creationId xmlns:a16="http://schemas.microsoft.com/office/drawing/2014/main" id="{D000E724-2ECF-4E18-8C28-C09A39B1410F}"/>
              </a:ext>
            </a:extLst>
          </p:cNvPr>
          <p:cNvSpPr>
            <a:spLocks noGrp="1"/>
          </p:cNvSpPr>
          <p:nvPr/>
        </p:nvSpPr>
        <p:spPr>
          <a:xfrm>
            <a:off x="1581150" y="1304925"/>
            <a:ext cx="523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4" name="언어 조합 비교">
            <a:extLst>
              <a:ext uri="{FF2B5EF4-FFF2-40B4-BE49-F238E27FC236}">
                <a16:creationId xmlns:a16="http://schemas.microsoft.com/office/drawing/2014/main" id="{61D937CA-4553-4881-B787-3BF5F3AD7B0D}"/>
              </a:ext>
            </a:extLst>
          </p:cNvPr>
          <p:cNvSpPr>
            <a:spLocks noGrp="1"/>
          </p:cNvSpPr>
          <p:nvPr/>
        </p:nvSpPr>
        <p:spPr>
          <a:xfrm>
            <a:off x="2238375" y="1266825"/>
            <a:ext cx="62293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언어 조합 비교</a:t>
            </a:r>
          </a:p>
        </p:txBody>
      </p:sp>
      <p:sp>
        <p:nvSpPr>
          <p:cNvPr id="95" name="여러 조건을 고려해도, 질문과 화면의 언어가 같을 때 추가 이득">
            <a:extLst>
              <a:ext uri="{FF2B5EF4-FFF2-40B4-BE49-F238E27FC236}">
                <a16:creationId xmlns:a16="http://schemas.microsoft.com/office/drawing/2014/main" id="{73892F51-C30D-4B6E-B6D8-846E75033AB2}"/>
              </a:ext>
            </a:extLst>
          </p:cNvPr>
          <p:cNvSpPr>
            <a:spLocks noGrp="1"/>
          </p:cNvSpPr>
          <p:nvPr/>
        </p:nvSpPr>
        <p:spPr>
          <a:xfrm>
            <a:off x="2238375" y="1685925"/>
            <a:ext cx="62293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여러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조건을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고려해도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질문과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화면의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언어가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같을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때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추가</a:t>
            </a:r>
            <a:r>
              <a:rPr sz="150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이득</a:t>
            </a:r>
            <a:endParaRPr sz="1500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02">
            <a:extLst>
              <a:ext uri="{FF2B5EF4-FFF2-40B4-BE49-F238E27FC236}">
                <a16:creationId xmlns:a16="http://schemas.microsoft.com/office/drawing/2014/main" id="{C513A2AE-63F2-4AB2-A0C5-F7759A847E8B}"/>
              </a:ext>
            </a:extLst>
          </p:cNvPr>
          <p:cNvSpPr>
            <a:spLocks noGrp="1"/>
          </p:cNvSpPr>
          <p:nvPr/>
        </p:nvSpPr>
        <p:spPr>
          <a:xfrm>
            <a:off x="1581150" y="2362200"/>
            <a:ext cx="523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7" name="문제 유형 비교">
            <a:extLst>
              <a:ext uri="{FF2B5EF4-FFF2-40B4-BE49-F238E27FC236}">
                <a16:creationId xmlns:a16="http://schemas.microsoft.com/office/drawing/2014/main" id="{8A11D9BD-A6E6-42F6-988F-1A26569FB884}"/>
              </a:ext>
            </a:extLst>
          </p:cNvPr>
          <p:cNvSpPr>
            <a:spLocks noGrp="1"/>
          </p:cNvSpPr>
          <p:nvPr/>
        </p:nvSpPr>
        <p:spPr>
          <a:xfrm>
            <a:off x="2238375" y="2324100"/>
            <a:ext cx="62293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문제 유형 비교</a:t>
            </a:r>
          </a:p>
        </p:txBody>
      </p:sp>
      <p:sp>
        <p:nvSpPr>
          <p:cNvPr id="98" name="그 차이가 관계를 묻는 문제인 REL에서 가장 컸음">
            <a:extLst>
              <a:ext uri="{FF2B5EF4-FFF2-40B4-BE49-F238E27FC236}">
                <a16:creationId xmlns:a16="http://schemas.microsoft.com/office/drawing/2014/main" id="{3FFCF8D2-262F-4081-8F80-7912ADABC63E}"/>
              </a:ext>
            </a:extLst>
          </p:cNvPr>
          <p:cNvSpPr>
            <a:spLocks noGrp="1"/>
          </p:cNvSpPr>
          <p:nvPr/>
        </p:nvSpPr>
        <p:spPr>
          <a:xfrm>
            <a:off x="2238375" y="2743200"/>
            <a:ext cx="62293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그 차이가 관계를 묻는 문제인 REL에서 가장 컸음</a:t>
            </a:r>
          </a:p>
        </p:txBody>
      </p:sp>
      <p:sp>
        <p:nvSpPr>
          <p:cNvPr id="99" name="03">
            <a:extLst>
              <a:ext uri="{FF2B5EF4-FFF2-40B4-BE49-F238E27FC236}">
                <a16:creationId xmlns:a16="http://schemas.microsoft.com/office/drawing/2014/main" id="{14D097E9-84C7-4EA3-B56E-A0888697D9FA}"/>
              </a:ext>
            </a:extLst>
          </p:cNvPr>
          <p:cNvSpPr>
            <a:spLocks noGrp="1"/>
          </p:cNvSpPr>
          <p:nvPr/>
        </p:nvSpPr>
        <p:spPr>
          <a:xfrm>
            <a:off x="1581150" y="3419475"/>
            <a:ext cx="523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0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0" name="REL을 다시 분류">
            <a:extLst>
              <a:ext uri="{FF2B5EF4-FFF2-40B4-BE49-F238E27FC236}">
                <a16:creationId xmlns:a16="http://schemas.microsoft.com/office/drawing/2014/main" id="{F46DB095-75C8-4CD6-A2EE-5B9C9448B276}"/>
              </a:ext>
            </a:extLst>
          </p:cNvPr>
          <p:cNvSpPr>
            <a:spLocks noGrp="1"/>
          </p:cNvSpPr>
          <p:nvPr/>
        </p:nvSpPr>
        <p:spPr>
          <a:xfrm>
            <a:off x="2238375" y="3381375"/>
            <a:ext cx="62293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REL을 다시 분류</a:t>
            </a:r>
          </a:p>
        </p:txBody>
      </p:sp>
      <p:sp>
        <p:nvSpPr>
          <p:cNvPr id="101" name="불일치의 불이익은 화면 글자를 읽어야 하는 문제에 집중">
            <a:extLst>
              <a:ext uri="{FF2B5EF4-FFF2-40B4-BE49-F238E27FC236}">
                <a16:creationId xmlns:a16="http://schemas.microsoft.com/office/drawing/2014/main" id="{ECC32701-21C4-45C3-A954-5F0550836E7E}"/>
              </a:ext>
            </a:extLst>
          </p:cNvPr>
          <p:cNvSpPr>
            <a:spLocks noGrp="1"/>
          </p:cNvSpPr>
          <p:nvPr/>
        </p:nvSpPr>
        <p:spPr>
          <a:xfrm>
            <a:off x="2238375" y="3800475"/>
            <a:ext cx="62293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불일치의 불이익은 화면 글자를 읽어야 하는 문제에 집중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82BD9E13-4E0C-4E43-88D4-7802EC6DCF9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480B0E55-8B41-47AF-B40B-08A7A155B4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45004A3-A20D-43E2-B19A-E26CE3D96803}"/>
              </a:ext>
            </a:extLst>
          </p:cNvPr>
          <p:cNvSpPr>
            <a:spLocks noGrp="1"/>
          </p:cNvSpPr>
          <p:nvPr/>
        </p:nvSpPr>
        <p:spPr>
          <a:xfrm>
            <a:off x="1409700" y="304800"/>
            <a:ext cx="7143750" cy="53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>
            <a:defPPr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대상 이름과 나머지 문장을 나눠 바꿨습니다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93" name="예: 영어 질문과 중국어 화면을 비교할 때">
            <a:extLst>
              <a:ext uri="{FF2B5EF4-FFF2-40B4-BE49-F238E27FC236}">
                <a16:creationId xmlns:a16="http://schemas.microsoft.com/office/drawing/2014/main" id="{19D9C15D-DF51-497F-BA4E-6D9B6E3B3D69}"/>
              </a:ext>
            </a:extLst>
          </p:cNvPr>
          <p:cNvSpPr>
            <a:spLocks noGrp="1"/>
          </p:cNvSpPr>
          <p:nvPr/>
        </p:nvSpPr>
        <p:spPr>
          <a:xfrm>
            <a:off x="1581150" y="1057275"/>
            <a:ext cx="6953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예: 영어 질문과 중국어 화면을 비교할 때</a:t>
            </a: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932BFAF0-2D62-407E-8E13-280C9E0771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7107631"/>
              </p:ext>
            </p:extLst>
          </p:nvPr>
        </p:nvGraphicFramePr>
        <p:xfrm>
          <a:off x="1581150" y="1590675"/>
          <a:ext cx="6972300" cy="2419350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</a:t>
                      </a:r>
                    </a:p>
                  </a:txBody>
                  <a:tcPr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>
                      <a:solidFill>
                        <a:srgbClr val="DCE1EA"/>
                      </a:solidFill>
                      <a:prstDash val="soli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대상</a:t>
                      </a:r>
                      <a:r>
                        <a:rPr lang="en-US" sz="159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9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이</a:t>
                      </a:r>
                      <a:r>
                        <a:rPr lang="ko-KR" altLang="en-US" sz="1598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름</a:t>
                      </a:r>
                      <a:r>
                        <a:rPr lang="ko-KR" altLang="en-US" sz="159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(“Ringtone”)</a:t>
                      </a:r>
                      <a:endParaRPr sz="159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>
                      <a:solidFill>
                        <a:srgbClr val="DCE1EA"/>
                      </a:solidFill>
                      <a:prstDash val="soli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나머지</a:t>
                      </a:r>
                      <a:r>
                        <a:rPr sz="159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문</a:t>
                      </a:r>
                      <a:r>
                        <a:rPr lang="ko-KR" altLang="en-US" sz="159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장</a:t>
                      </a:r>
                      <a:endParaRPr sz="1598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>
                      <a:solidFill>
                        <a:srgbClr val="DCE1EA"/>
                      </a:solidFill>
                      <a:prstDash val="soli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원문 O</a:t>
                      </a:r>
                    </a:p>
                  </a:txBody>
                  <a:tcPr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  <a:endParaRPr sz="1598" b="0" dirty="0">
                        <a:solidFill>
                          <a:srgbClr val="2431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r>
                        <a:rPr sz="1598" b="1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이름만</a:t>
                      </a:r>
                      <a:r>
                        <a:rPr sz="1598" b="1" dirty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98" b="1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변경</a:t>
                      </a:r>
                      <a:r>
                        <a:rPr sz="1598" b="1" dirty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 R</a:t>
                      </a:r>
                    </a:p>
                  </a:txBody>
                  <a:tcPr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r>
                        <a:rPr sz="1598" b="0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문장만</a:t>
                      </a:r>
                      <a:r>
                        <a:rPr sz="1598" b="0" dirty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98" b="0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변경</a:t>
                      </a:r>
                      <a:r>
                        <a:rPr sz="1598" b="0" dirty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 C</a:t>
                      </a:r>
                    </a:p>
                  </a:txBody>
                  <a:tcPr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영어</a:t>
                      </a: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r>
                        <a:rPr sz="1598" b="0" dirty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둘 다 </a:t>
                      </a:r>
                      <a:r>
                        <a:rPr sz="1598" b="0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변경</a:t>
                      </a:r>
                      <a:r>
                        <a:rPr sz="1598" b="0" dirty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 F</a:t>
                      </a:r>
                    </a:p>
                  </a:txBody>
                  <a:tcPr>
                    <a:lnL w="9525">
                      <a:solidFill>
                        <a:srgbClr val="DCE1EA"/>
                      </a:solidFill>
                      <a:prstDash val="soli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  <a:endParaRPr sz="1598" b="0" dirty="0">
                        <a:solidFill>
                          <a:srgbClr val="2431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98" b="0" dirty="0" err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중국어</a:t>
                      </a:r>
                      <a:endParaRPr sz="1598" b="0" dirty="0">
                        <a:solidFill>
                          <a:srgbClr val="2431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A"/>
                      </a:solidFill>
                      <a:prstDash val="solid"/>
                    </a:lnR>
                    <a:lnT w="9525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" name="화면과 정답은 고정하고, 질문과 보기의 표현을 바꿨습니다">
            <a:extLst>
              <a:ext uri="{FF2B5EF4-FFF2-40B4-BE49-F238E27FC236}">
                <a16:creationId xmlns:a16="http://schemas.microsoft.com/office/drawing/2014/main" id="{DE9977CD-999E-49FD-BCAD-CB12B93A860D}"/>
              </a:ext>
            </a:extLst>
          </p:cNvPr>
          <p:cNvSpPr>
            <a:spLocks noGrp="1"/>
          </p:cNvSpPr>
          <p:nvPr/>
        </p:nvSpPr>
        <p:spPr>
          <a:xfrm>
            <a:off x="1581150" y="4276725"/>
            <a:ext cx="69723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화면과</a:t>
            </a:r>
            <a:r>
              <a:rPr sz="1500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정답은</a:t>
            </a:r>
            <a:r>
              <a:rPr sz="1500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고정하고</a:t>
            </a:r>
            <a:r>
              <a:rPr sz="1500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질문과</a:t>
            </a:r>
            <a:r>
              <a:rPr sz="1500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보기의</a:t>
            </a:r>
            <a:r>
              <a:rPr sz="1500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표현을</a:t>
            </a:r>
            <a:r>
              <a:rPr sz="1500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바꿨습니다</a:t>
            </a:r>
            <a:endParaRPr sz="1500" b="1" dirty="0">
              <a:solidFill>
                <a:srgbClr val="19264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F6A542AB-A851-46E0-8341-97398C34A23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8EDA4EB6-0F9E-4AA7-B058-769D819AFC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45004A3-A20D-43E2-B19A-E26CE3D96803}"/>
              </a:ext>
            </a:extLst>
          </p:cNvPr>
          <p:cNvSpPr>
            <a:spLocks noGrp="1"/>
          </p:cNvSpPr>
          <p:nvPr/>
        </p:nvSpPr>
        <p:spPr>
          <a:xfrm>
            <a:off x="1409700" y="304800"/>
            <a:ext cx="7143750" cy="53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>
            <a:defPPr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지금까지 데이터 준비와 모델 실험을 마쳤습니다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93" name="366문항">
            <a:extLst>
              <a:ext uri="{FF2B5EF4-FFF2-40B4-BE49-F238E27FC236}">
                <a16:creationId xmlns:a16="http://schemas.microsoft.com/office/drawing/2014/main" id="{7DB0156F-D825-4258-A826-8D18AABB4E15}"/>
              </a:ext>
            </a:extLst>
          </p:cNvPr>
          <p:cNvSpPr>
            <a:spLocks noGrp="1"/>
          </p:cNvSpPr>
          <p:nvPr/>
        </p:nvSpPr>
        <p:spPr>
          <a:xfrm>
            <a:off x="1581150" y="118110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366문항</a:t>
            </a:r>
          </a:p>
        </p:txBody>
      </p:sp>
      <p:sp>
        <p:nvSpPr>
          <p:cNvPr id="94" name="화면 글자가 필요한 302개&#10;그렇지 않은 64개">
            <a:extLst>
              <a:ext uri="{FF2B5EF4-FFF2-40B4-BE49-F238E27FC236}">
                <a16:creationId xmlns:a16="http://schemas.microsoft.com/office/drawing/2014/main" id="{83561298-5634-4E4F-8C58-9216051F709C}"/>
              </a:ext>
            </a:extLst>
          </p:cNvPr>
          <p:cNvSpPr>
            <a:spLocks noGrp="1"/>
          </p:cNvSpPr>
          <p:nvPr/>
        </p:nvSpPr>
        <p:spPr>
          <a:xfrm>
            <a:off x="1581150" y="1819275"/>
            <a:ext cx="314325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화면 글자가 필요한 302개</a:t>
            </a:r>
          </a:p>
          <a:p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그렇지 않은 64개</a:t>
            </a:r>
          </a:p>
        </p:txBody>
      </p:sp>
      <p:sp>
        <p:nvSpPr>
          <p:cNvPr id="95" name="4개 언어 · 2개 AI 모델">
            <a:extLst>
              <a:ext uri="{FF2B5EF4-FFF2-40B4-BE49-F238E27FC236}">
                <a16:creationId xmlns:a16="http://schemas.microsoft.com/office/drawing/2014/main" id="{75A392A5-844D-4FAD-8433-5B32BA8CEE9A}"/>
              </a:ext>
            </a:extLst>
          </p:cNvPr>
          <p:cNvSpPr>
            <a:spLocks noGrp="1"/>
          </p:cNvSpPr>
          <p:nvPr/>
        </p:nvSpPr>
        <p:spPr>
          <a:xfrm>
            <a:off x="4943475" y="118110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4개 언어 · 2개 AI 모델</a:t>
            </a:r>
          </a:p>
        </p:txBody>
      </p:sp>
      <p:sp>
        <p:nvSpPr>
          <p:cNvPr id="96" name="영어, 중국어, 태국어, 러시아어&#10;Qwen과 InternVL">
            <a:extLst>
              <a:ext uri="{FF2B5EF4-FFF2-40B4-BE49-F238E27FC236}">
                <a16:creationId xmlns:a16="http://schemas.microsoft.com/office/drawing/2014/main" id="{F42B1497-5564-4DA1-A100-1F761661CDD5}"/>
              </a:ext>
            </a:extLst>
          </p:cNvPr>
          <p:cNvSpPr>
            <a:spLocks noGrp="1"/>
          </p:cNvSpPr>
          <p:nvPr/>
        </p:nvSpPr>
        <p:spPr>
          <a:xfrm>
            <a:off x="4943475" y="1790700"/>
            <a:ext cx="36671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영어, 중국어, 태국어, 러시아어</a:t>
            </a:r>
          </a:p>
          <a:p>
            <a:pPr algn="l">
              <a:buNone/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Qwen2.5-VL-7B</a:t>
            </a:r>
          </a:p>
          <a:p>
            <a:pPr algn="l">
              <a:buNone/>
              <a:defRPr sz="157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InternVL2.5-8B</a:t>
            </a:r>
          </a:p>
        </p:txBody>
      </p:sp>
      <p:sp>
        <p:nvSpPr>
          <p:cNvPr id="97" name="완료   조건별 데이터 생성, 전체 추론, 통계 분석">
            <a:extLst>
              <a:ext uri="{FF2B5EF4-FFF2-40B4-BE49-F238E27FC236}">
                <a16:creationId xmlns:a16="http://schemas.microsoft.com/office/drawing/2014/main" id="{36622B0E-0DFA-4C6F-9E55-409664C7CA21}"/>
              </a:ext>
            </a:extLst>
          </p:cNvPr>
          <p:cNvSpPr>
            <a:spLocks noGrp="1"/>
          </p:cNvSpPr>
          <p:nvPr/>
        </p:nvSpPr>
        <p:spPr>
          <a:xfrm>
            <a:off x="1581150" y="3038475"/>
            <a:ext cx="69723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완료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 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조건별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데이터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생성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전체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추론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통계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분석</a:t>
            </a:r>
            <a:endParaRPr sz="1725" b="1" dirty="0">
              <a:solidFill>
                <a:srgbClr val="1926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진행 중   번역·추출 오류 확인과 화면 대조">
            <a:extLst>
              <a:ext uri="{FF2B5EF4-FFF2-40B4-BE49-F238E27FC236}">
                <a16:creationId xmlns:a16="http://schemas.microsoft.com/office/drawing/2014/main" id="{90D536CD-EF14-4C50-B2DC-07FF2E81B857}"/>
              </a:ext>
            </a:extLst>
          </p:cNvPr>
          <p:cNvSpPr>
            <a:spLocks noGrp="1"/>
          </p:cNvSpPr>
          <p:nvPr/>
        </p:nvSpPr>
        <p:spPr>
          <a:xfrm>
            <a:off x="1581150" y="3676650"/>
            <a:ext cx="6972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진행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중  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번역·추출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오류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확인과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화면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대조</a:t>
            </a:r>
            <a:endParaRPr sz="1725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분석에는 제외 기준을 적용한 364문항을 사용했습니다">
            <a:extLst>
              <a:ext uri="{FF2B5EF4-FFF2-40B4-BE49-F238E27FC236}">
                <a16:creationId xmlns:a16="http://schemas.microsoft.com/office/drawing/2014/main" id="{0FE453CF-EF98-4F1D-BC8E-726708A47D74}"/>
              </a:ext>
            </a:extLst>
          </p:cNvPr>
          <p:cNvSpPr>
            <a:spLocks noGrp="1"/>
          </p:cNvSpPr>
          <p:nvPr/>
        </p:nvSpPr>
        <p:spPr>
          <a:xfrm>
            <a:off x="1581150" y="4476750"/>
            <a:ext cx="6972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분석에는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제외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기준을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적용한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364문항을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사용했습니다</a:t>
            </a:r>
            <a:endParaRPr sz="1275" b="0" dirty="0">
              <a:solidFill>
                <a:srgbClr val="65708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8DC1B356-0575-4888-AF29-F1CD7EE0019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0CDFFEC5-987C-4C7A-A319-0E9556E733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문장 전체보다 대상 이름을 맞출 때 개선이 컸습니다">
            <a:extLst>
              <a:ext uri="{FF2B5EF4-FFF2-40B4-BE49-F238E27FC236}">
                <a16:creationId xmlns:a16="http://schemas.microsoft.com/office/drawing/2014/main" id="{1DE0CB7A-3AB9-4181-91CE-8A92AB11AEA5}"/>
              </a:ext>
            </a:extLst>
          </p:cNvPr>
          <p:cNvSpPr>
            <a:spLocks noGrp="1"/>
          </p:cNvSpPr>
          <p:nvPr/>
        </p:nvSpPr>
        <p:spPr>
          <a:xfrm>
            <a:off x="1504950" y="4572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문장 전체보다 대상 이름을 맞출 때 개선이 컸습니다</a:t>
            </a:r>
          </a:p>
        </p:txBody>
      </p:sp>
      <p:sp>
        <p:nvSpPr>
          <p:cNvPr id="93" name="화면 글자를 읽어야 하는 REL 301문항의 정답률">
            <a:extLst>
              <a:ext uri="{FF2B5EF4-FFF2-40B4-BE49-F238E27FC236}">
                <a16:creationId xmlns:a16="http://schemas.microsoft.com/office/drawing/2014/main" id="{BC114CB3-3570-4151-9E69-E6D0B01AB9CA}"/>
              </a:ext>
            </a:extLst>
          </p:cNvPr>
          <p:cNvSpPr>
            <a:spLocks noGrp="1"/>
          </p:cNvSpPr>
          <p:nvPr/>
        </p:nvSpPr>
        <p:spPr>
          <a:xfrm>
            <a:off x="1581150" y="1019175"/>
            <a:ext cx="69723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화면 글자를 읽어야 하는 REL 301문항의 정답률</a:t>
            </a:r>
          </a:p>
        </p:txBody>
      </p:sp>
      <p:graphicFrame>
        <p:nvGraphicFramePr>
          <p:cNvPr id="94" name="Chart">
            <a:extLst>
              <a:ext uri="{FF2B5EF4-FFF2-40B4-BE49-F238E27FC236}">
                <a16:creationId xmlns:a16="http://schemas.microsoft.com/office/drawing/2014/main" id="{4027A070-0B2A-4FEB-9DF7-C5DDCC8662A0}"/>
              </a:ext>
            </a:extLst>
          </p:cNvPr>
          <p:cNvGraphicFramePr/>
          <p:nvPr/>
        </p:nvGraphicFramePr>
        <p:xfrm>
          <a:off x="1581150" y="1476375"/>
          <a:ext cx="6896100" cy="2505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5" name="이름만 변경(R−O)   Qwen +11.1%p / InternVL +10.7%p">
            <a:extLst>
              <a:ext uri="{FF2B5EF4-FFF2-40B4-BE49-F238E27FC236}">
                <a16:creationId xmlns:a16="http://schemas.microsoft.com/office/drawing/2014/main" id="{A92B22BF-DC6E-4FB5-B177-51F760D56CC3}"/>
              </a:ext>
            </a:extLst>
          </p:cNvPr>
          <p:cNvSpPr>
            <a:spLocks noGrp="1"/>
          </p:cNvSpPr>
          <p:nvPr/>
        </p:nvSpPr>
        <p:spPr>
          <a:xfrm>
            <a:off x="1581150" y="4048125"/>
            <a:ext cx="70104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이름만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변경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(R−O)   Qwen +11.1%p /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InternVL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+10.7%p</a:t>
            </a:r>
          </a:p>
        </p:txBody>
      </p:sp>
      <p:sp>
        <p:nvSpPr>
          <p:cNvPr id="96" name="글자가 필요 없는 문제에서는 +1.5%p / −0.8%p로, 뚜렷한 개선 없음">
            <a:extLst>
              <a:ext uri="{FF2B5EF4-FFF2-40B4-BE49-F238E27FC236}">
                <a16:creationId xmlns:a16="http://schemas.microsoft.com/office/drawing/2014/main" id="{572EDCDF-1137-48F2-81FA-0ECCCBB644F2}"/>
              </a:ext>
            </a:extLst>
          </p:cNvPr>
          <p:cNvSpPr>
            <a:spLocks noGrp="1"/>
          </p:cNvSpPr>
          <p:nvPr/>
        </p:nvSpPr>
        <p:spPr>
          <a:xfrm>
            <a:off x="1581150" y="4476750"/>
            <a:ext cx="7010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1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31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글자가</a:t>
            </a:r>
            <a:r>
              <a:rPr sz="131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필요</a:t>
            </a:r>
            <a:r>
              <a:rPr sz="131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없는</a:t>
            </a:r>
            <a:r>
              <a:rPr sz="131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문제에서는</a:t>
            </a:r>
            <a:r>
              <a:rPr sz="131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+1.5%p / −0.8%p로, </a:t>
            </a:r>
            <a:r>
              <a:rPr sz="131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뚜렷한</a:t>
            </a:r>
            <a:r>
              <a:rPr sz="131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개선</a:t>
            </a:r>
            <a:r>
              <a:rPr sz="131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없음</a:t>
            </a:r>
            <a:endParaRPr sz="1313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A6496782-1703-4FA9-B821-7C398EA7CB0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80199F2E-479F-47D6-8A11-8A84ACD698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다음 실험은 화면에서 대상을 찾는 능력을 봅니다">
            <a:extLst>
              <a:ext uri="{FF2B5EF4-FFF2-40B4-BE49-F238E27FC236}">
                <a16:creationId xmlns:a16="http://schemas.microsoft.com/office/drawing/2014/main" id="{64E88396-DECF-492A-A12F-03A0400EB1CD}"/>
              </a:ext>
            </a:extLst>
          </p:cNvPr>
          <p:cNvSpPr>
            <a:spLocks noGrp="1"/>
          </p:cNvSpPr>
          <p:nvPr/>
        </p:nvSpPr>
        <p:spPr>
          <a:xfrm>
            <a:off x="1504950" y="4572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다음 실험은 화면에서 대상을 찾는 능력을 봅니다</a:t>
            </a:r>
          </a:p>
        </p:txBody>
      </p:sp>
      <p:sp>
        <p:nvSpPr>
          <p:cNvPr id="93" name="Grounding = 말로 지칭한 대상을 화면에서 찾는 것">
            <a:extLst>
              <a:ext uri="{FF2B5EF4-FFF2-40B4-BE49-F238E27FC236}">
                <a16:creationId xmlns:a16="http://schemas.microsoft.com/office/drawing/2014/main" id="{50387AB2-8940-43D9-A9CE-1C142C2A15A0}"/>
              </a:ext>
            </a:extLst>
          </p:cNvPr>
          <p:cNvSpPr>
            <a:spLocks noGrp="1"/>
          </p:cNvSpPr>
          <p:nvPr/>
        </p:nvSpPr>
        <p:spPr>
          <a:xfrm>
            <a:off x="1581150" y="1066800"/>
            <a:ext cx="6972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Grounding = 말로 지칭한 대상을 화면에서 찾는 것</a:t>
            </a:r>
          </a:p>
        </p:txBody>
      </p:sp>
      <p:sp>
        <p:nvSpPr>
          <p:cNvPr id="94" name="1">
            <a:extLst>
              <a:ext uri="{FF2B5EF4-FFF2-40B4-BE49-F238E27FC236}">
                <a16:creationId xmlns:a16="http://schemas.microsoft.com/office/drawing/2014/main" id="{3895F383-365F-4A9F-8AED-C5C4A4DD4A7E}"/>
              </a:ext>
            </a:extLst>
          </p:cNvPr>
          <p:cNvSpPr>
            <a:spLocks noGrp="1"/>
          </p:cNvSpPr>
          <p:nvPr/>
        </p:nvSpPr>
        <p:spPr>
          <a:xfrm>
            <a:off x="1581150" y="1724025"/>
            <a:ext cx="4191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5" name="사람이 정답 영역 표시">
            <a:extLst>
              <a:ext uri="{FF2B5EF4-FFF2-40B4-BE49-F238E27FC236}">
                <a16:creationId xmlns:a16="http://schemas.microsoft.com/office/drawing/2014/main" id="{13669A89-16BC-4B47-8BAE-8B0DC8F3CD3B}"/>
              </a:ext>
            </a:extLst>
          </p:cNvPr>
          <p:cNvSpPr>
            <a:spLocks noGrp="1"/>
          </p:cNvSpPr>
          <p:nvPr/>
        </p:nvSpPr>
        <p:spPr>
          <a:xfrm>
            <a:off x="2114550" y="1685925"/>
            <a:ext cx="64389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사람이 정답 영역 표시</a:t>
            </a:r>
          </a:p>
        </p:txBody>
      </p:sp>
      <p:sp>
        <p:nvSpPr>
          <p:cNvPr id="96" name="질문 속 대상의 위치를 사각형(bbox)으로 표시">
            <a:extLst>
              <a:ext uri="{FF2B5EF4-FFF2-40B4-BE49-F238E27FC236}">
                <a16:creationId xmlns:a16="http://schemas.microsoft.com/office/drawing/2014/main" id="{655496F8-F356-48A7-A00B-3EE420069EDF}"/>
              </a:ext>
            </a:extLst>
          </p:cNvPr>
          <p:cNvSpPr>
            <a:spLocks noGrp="1"/>
          </p:cNvSpPr>
          <p:nvPr/>
        </p:nvSpPr>
        <p:spPr>
          <a:xfrm>
            <a:off x="2114550" y="2095500"/>
            <a:ext cx="64389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질문 속 대상의 위치를 사각형(bbox)으로 표시</a:t>
            </a:r>
          </a:p>
        </p:txBody>
      </p:sp>
      <p:sp>
        <p:nvSpPr>
          <p:cNvPr id="97" name="2">
            <a:extLst>
              <a:ext uri="{FF2B5EF4-FFF2-40B4-BE49-F238E27FC236}">
                <a16:creationId xmlns:a16="http://schemas.microsoft.com/office/drawing/2014/main" id="{D2995774-77E8-430B-B414-07F32078073C}"/>
              </a:ext>
            </a:extLst>
          </p:cNvPr>
          <p:cNvSpPr>
            <a:spLocks noGrp="1"/>
          </p:cNvSpPr>
          <p:nvPr/>
        </p:nvSpPr>
        <p:spPr>
          <a:xfrm>
            <a:off x="1581150" y="2647950"/>
            <a:ext cx="4191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8" name="AI가 대상 위치에 점 찍기">
            <a:extLst>
              <a:ext uri="{FF2B5EF4-FFF2-40B4-BE49-F238E27FC236}">
                <a16:creationId xmlns:a16="http://schemas.microsoft.com/office/drawing/2014/main" id="{50B2AFD0-635A-49FD-B744-5B6348371EA6}"/>
              </a:ext>
            </a:extLst>
          </p:cNvPr>
          <p:cNvSpPr>
            <a:spLocks noGrp="1"/>
          </p:cNvSpPr>
          <p:nvPr/>
        </p:nvSpPr>
        <p:spPr>
          <a:xfrm>
            <a:off x="2114550" y="2609850"/>
            <a:ext cx="64389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AI가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대상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위치에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점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찍기</a:t>
            </a:r>
            <a:endParaRPr sz="1725" b="1" dirty="0">
              <a:solidFill>
                <a:srgbClr val="1926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O와 R의 표현을 각각 주고 좌표 (x, y) 하나를 출력">
            <a:extLst>
              <a:ext uri="{FF2B5EF4-FFF2-40B4-BE49-F238E27FC236}">
                <a16:creationId xmlns:a16="http://schemas.microsoft.com/office/drawing/2014/main" id="{6FA1B7F1-41E8-4E6E-A13B-D86CD7EB4525}"/>
              </a:ext>
            </a:extLst>
          </p:cNvPr>
          <p:cNvSpPr>
            <a:spLocks noGrp="1"/>
          </p:cNvSpPr>
          <p:nvPr/>
        </p:nvSpPr>
        <p:spPr>
          <a:xfrm>
            <a:off x="2114550" y="3019425"/>
            <a:ext cx="64389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O와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R의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표현을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각각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주고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좌표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(x, y)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하나를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출력</a:t>
            </a:r>
            <a:endParaRPr sz="1463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3">
            <a:extLst>
              <a:ext uri="{FF2B5EF4-FFF2-40B4-BE49-F238E27FC236}">
                <a16:creationId xmlns:a16="http://schemas.microsoft.com/office/drawing/2014/main" id="{4B4CC5FA-5B6E-43A8-ABE1-21F52DE72962}"/>
              </a:ext>
            </a:extLst>
          </p:cNvPr>
          <p:cNvSpPr>
            <a:spLocks noGrp="1"/>
          </p:cNvSpPr>
          <p:nvPr/>
        </p:nvSpPr>
        <p:spPr>
          <a:xfrm>
            <a:off x="1581150" y="3571875"/>
            <a:ext cx="4191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1" name="대상 찾기와 관계 정답 함께 비교">
            <a:extLst>
              <a:ext uri="{FF2B5EF4-FFF2-40B4-BE49-F238E27FC236}">
                <a16:creationId xmlns:a16="http://schemas.microsoft.com/office/drawing/2014/main" id="{FE427E2D-E0E8-4A9B-9E8D-F5B8CCC02177}"/>
              </a:ext>
            </a:extLst>
          </p:cNvPr>
          <p:cNvSpPr>
            <a:spLocks noGrp="1"/>
          </p:cNvSpPr>
          <p:nvPr/>
        </p:nvSpPr>
        <p:spPr>
          <a:xfrm>
            <a:off x="2114550" y="3533775"/>
            <a:ext cx="64389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대상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찾기와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관계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정답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함께</a:t>
            </a:r>
            <a:r>
              <a:rPr sz="17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비교</a:t>
            </a:r>
            <a:endParaRPr sz="1725" b="1" dirty="0">
              <a:solidFill>
                <a:srgbClr val="1926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점이 정답 영역 안에 드는지, REL 정답도 함께 바뀌는지 확인">
            <a:extLst>
              <a:ext uri="{FF2B5EF4-FFF2-40B4-BE49-F238E27FC236}">
                <a16:creationId xmlns:a16="http://schemas.microsoft.com/office/drawing/2014/main" id="{B5A58680-9801-4D62-B342-EFB94F01AA24}"/>
              </a:ext>
            </a:extLst>
          </p:cNvPr>
          <p:cNvSpPr>
            <a:spLocks noGrp="1"/>
          </p:cNvSpPr>
          <p:nvPr/>
        </p:nvSpPr>
        <p:spPr>
          <a:xfrm>
            <a:off x="2114550" y="3943350"/>
            <a:ext cx="64389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63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점이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정답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영역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안에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드는지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, REL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정답도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함께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바뀌는지</a:t>
            </a:r>
            <a:r>
              <a:rPr sz="1463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463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확인</a:t>
            </a:r>
            <a:endParaRPr sz="1463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5257FDEF-4821-464F-86E2-A4F24A7A376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DC236FE5-08D2-4675-9106-B6FA863F5C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대상을 못 찾는 걸까,&#10;찾고도 관계를 틀리는 걸까?">
            <a:extLst>
              <a:ext uri="{FF2B5EF4-FFF2-40B4-BE49-F238E27FC236}">
                <a16:creationId xmlns:a16="http://schemas.microsoft.com/office/drawing/2014/main" id="{040F3459-F255-4388-91E1-A542C40CE092}"/>
              </a:ext>
            </a:extLst>
          </p:cNvPr>
          <p:cNvSpPr>
            <a:spLocks noGrp="1"/>
          </p:cNvSpPr>
          <p:nvPr/>
        </p:nvSpPr>
        <p:spPr>
          <a:xfrm>
            <a:off x="1581150" y="1238250"/>
            <a:ext cx="69532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대상을</a:t>
            </a:r>
            <a:r>
              <a:rPr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못 </a:t>
            </a:r>
            <a:r>
              <a:rPr sz="26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찾는</a:t>
            </a:r>
            <a:r>
              <a:rPr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걸까</a:t>
            </a:r>
            <a:r>
              <a:rPr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 algn="l">
              <a:buNone/>
              <a:defRPr sz="262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찾고도</a:t>
            </a:r>
            <a:r>
              <a:rPr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관계</a:t>
            </a:r>
            <a:r>
              <a:rPr lang="en-US"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lang="ko-KR" altLang="en-US" dirty="0"/>
              <a:t>추론을</a:t>
            </a:r>
            <a:r>
              <a:rPr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틀리는</a:t>
            </a:r>
            <a:r>
              <a:rPr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9264B"/>
                </a:solidFill>
                <a:latin typeface="Arial"/>
                <a:ea typeface="Arial"/>
                <a:cs typeface="Arial"/>
              </a:rPr>
              <a:t>걸까</a:t>
            </a:r>
            <a:r>
              <a:rPr sz="2625" b="1" dirty="0">
                <a:solidFill>
                  <a:srgbClr val="19264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3" name="먼저 확인할 것">
            <a:extLst>
              <a:ext uri="{FF2B5EF4-FFF2-40B4-BE49-F238E27FC236}">
                <a16:creationId xmlns:a16="http://schemas.microsoft.com/office/drawing/2014/main" id="{91A29E7D-7ECC-420C-9615-BDEACBF2A004}"/>
              </a:ext>
            </a:extLst>
          </p:cNvPr>
          <p:cNvSpPr>
            <a:spLocks noGrp="1"/>
          </p:cNvSpPr>
          <p:nvPr/>
        </p:nvSpPr>
        <p:spPr>
          <a:xfrm>
            <a:off x="1581150" y="28003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먼저 확인할 것</a:t>
            </a:r>
          </a:p>
        </p:txBody>
      </p:sp>
      <p:sp>
        <p:nvSpPr>
          <p:cNvPr id="94" name="이름을 맞춘 뒤 대상 찾기와 관계 정답이 함께 좋아지는지">
            <a:extLst>
              <a:ext uri="{FF2B5EF4-FFF2-40B4-BE49-F238E27FC236}">
                <a16:creationId xmlns:a16="http://schemas.microsoft.com/office/drawing/2014/main" id="{828B5F82-2701-4A51-839A-10506FC12028}"/>
              </a:ext>
            </a:extLst>
          </p:cNvPr>
          <p:cNvSpPr>
            <a:spLocks noGrp="1"/>
          </p:cNvSpPr>
          <p:nvPr/>
        </p:nvSpPr>
        <p:spPr>
          <a:xfrm>
            <a:off x="3667125" y="2800350"/>
            <a:ext cx="4886325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이름을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맞춘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뒤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대상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찾기와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관계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정답이</a:t>
            </a:r>
            <a:br>
              <a:rPr lang="en-US"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</a:b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함께</a:t>
            </a:r>
            <a:r>
              <a:rPr sz="1725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좋아지는지</a:t>
            </a:r>
            <a:endParaRPr sz="1725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후속 방법 후보">
            <a:extLst>
              <a:ext uri="{FF2B5EF4-FFF2-40B4-BE49-F238E27FC236}">
                <a16:creationId xmlns:a16="http://schemas.microsoft.com/office/drawing/2014/main" id="{B8C104C0-19A0-407D-BDBA-8E460C6D040A}"/>
              </a:ext>
            </a:extLst>
          </p:cNvPr>
          <p:cNvSpPr>
            <a:spLocks noGrp="1"/>
          </p:cNvSpPr>
          <p:nvPr/>
        </p:nvSpPr>
        <p:spPr>
          <a:xfrm>
            <a:off x="1581150" y="377190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후속 방법 후보</a:t>
            </a:r>
          </a:p>
        </p:txBody>
      </p:sp>
      <p:sp>
        <p:nvSpPr>
          <p:cNvPr id="96" name="필요한 대상 이름만 두 단계로 맞추는 방법&#10;Selective Referent Al">
            <a:extLst>
              <a:ext uri="{FF2B5EF4-FFF2-40B4-BE49-F238E27FC236}">
                <a16:creationId xmlns:a16="http://schemas.microsoft.com/office/drawing/2014/main" id="{574EFABB-2492-415E-8149-DA56E8451B95}"/>
              </a:ext>
            </a:extLst>
          </p:cNvPr>
          <p:cNvSpPr>
            <a:spLocks noGrp="1"/>
          </p:cNvSpPr>
          <p:nvPr/>
        </p:nvSpPr>
        <p:spPr>
          <a:xfrm>
            <a:off x="3667125" y="3743325"/>
            <a:ext cx="4886325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필요한</a:t>
            </a:r>
            <a:r>
              <a:rPr sz="165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대상</a:t>
            </a:r>
            <a:r>
              <a:rPr sz="165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이름만</a:t>
            </a:r>
            <a:r>
              <a:rPr sz="165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두 </a:t>
            </a:r>
            <a:r>
              <a:rPr sz="165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단계로</a:t>
            </a:r>
            <a:r>
              <a:rPr sz="165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맞추는</a:t>
            </a:r>
            <a:r>
              <a:rPr sz="165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4314A"/>
                </a:solidFill>
                <a:latin typeface="Arial"/>
                <a:ea typeface="Arial"/>
                <a:cs typeface="Arial"/>
              </a:rPr>
              <a:t>방법</a:t>
            </a:r>
            <a:endParaRPr sz="1650" b="0" dirty="0">
              <a:solidFill>
                <a:srgbClr val="24314A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650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4314A"/>
                </a:solidFill>
                <a:latin typeface="Arial"/>
                <a:ea typeface="Arial"/>
                <a:cs typeface="Arial"/>
              </a:rPr>
              <a:t>Selective Referent Alignment</a:t>
            </a:r>
          </a:p>
        </p:txBody>
      </p:sp>
      <p:sp>
        <p:nvSpPr>
          <p:cNvPr id="97" name="다국어 선행연구를 더 살펴 방법을 구체화하겠습니다">
            <a:extLst>
              <a:ext uri="{FF2B5EF4-FFF2-40B4-BE49-F238E27FC236}">
                <a16:creationId xmlns:a16="http://schemas.microsoft.com/office/drawing/2014/main" id="{1B16636A-DB35-4F89-BAEB-3651E3049C13}"/>
              </a:ext>
            </a:extLst>
          </p:cNvPr>
          <p:cNvSpPr>
            <a:spLocks noGrp="1"/>
          </p:cNvSpPr>
          <p:nvPr/>
        </p:nvSpPr>
        <p:spPr>
          <a:xfrm>
            <a:off x="1581150" y="4714875"/>
            <a:ext cx="6953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다국어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선행연구를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더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살펴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방법을</a:t>
            </a:r>
            <a:r>
              <a:rPr sz="1275" b="0" dirty="0">
                <a:solidFill>
                  <a:srgbClr val="657083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657083"/>
                </a:solidFill>
                <a:latin typeface="Arial"/>
                <a:ea typeface="Arial"/>
                <a:cs typeface="Arial"/>
              </a:rPr>
              <a:t>구체화하겠습니다</a:t>
            </a:r>
            <a:endParaRPr sz="1275" b="0" dirty="0">
              <a:solidFill>
                <a:srgbClr val="65708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A8ED87E-AD37-4855-BAF5-F809145EC78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26FC23E4-2D33-4E7D-8BCC-8260BACC5D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부록 1. Text-dependent REL 전체 결과">
            <a:extLst>
              <a:ext uri="{FF2B5EF4-FFF2-40B4-BE49-F238E27FC236}">
                <a16:creationId xmlns:a16="http://schemas.microsoft.com/office/drawing/2014/main" id="{C7BEDB57-8A06-4CFE-B2B3-6DFA76D6D4FC}"/>
              </a:ext>
            </a:extLst>
          </p:cNvPr>
          <p:cNvSpPr>
            <a:spLocks noGrp="1"/>
          </p:cNvSpPr>
          <p:nvPr/>
        </p:nvSpPr>
        <p:spPr>
          <a:xfrm>
            <a:off x="1504950" y="4572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부록 1. Text-dependent REL 전체 결과</a:t>
            </a:r>
          </a:p>
        </p:txBody>
      </p:sp>
      <p:sp>
        <p:nvSpPr>
          <p:cNvPr id="93" name="회복의 큰 부분은 일반적인 문맥 번역보다 대상 이름의 정렬에서 나타남">
            <a:extLst>
              <a:ext uri="{FF2B5EF4-FFF2-40B4-BE49-F238E27FC236}">
                <a16:creationId xmlns:a16="http://schemas.microsoft.com/office/drawing/2014/main" id="{51614072-4A29-4A03-83C3-9059952F017A}"/>
              </a:ext>
            </a:extLst>
          </p:cNvPr>
          <p:cNvSpPr>
            <a:spLocks noGrp="1"/>
          </p:cNvSpPr>
          <p:nvPr/>
        </p:nvSpPr>
        <p:spPr>
          <a:xfrm>
            <a:off x="1581150" y="1038225"/>
            <a:ext cx="6972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회복의 큰 부분은 일반적인 문맥 번역보다 대상 이름의 정렬에서 나타남</a:t>
            </a: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5238DD04-0C6B-4230-9F4E-CC7778D3E20D}"/>
              </a:ext>
            </a:extLst>
          </p:cNvPr>
          <p:cNvGraphicFramePr/>
          <p:nvPr/>
        </p:nvGraphicFramePr>
        <p:xfrm>
          <a:off x="1581150" y="1514475"/>
          <a:ext cx="6972300" cy="31527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 / contrast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Qwen2.5-VL-7B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InternVL2.5-8B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O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60.598%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47.427%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71.700%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58.110%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57.942%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47.371%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73.238%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58.753%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− O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+11.102pp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+10.682pp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C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+15.296pp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+11.381pp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− O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−2.657pp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−0.056pp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R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+1.538pp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+0.643pp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(F−C) − (R−O)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+4.195pp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+0.699pp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5" name="pp는 %p와 같음. 대비는 반올림 전 값에서 계산해 표의 정확도 차이와 미세하게">
            <a:extLst>
              <a:ext uri="{FF2B5EF4-FFF2-40B4-BE49-F238E27FC236}">
                <a16:creationId xmlns:a16="http://schemas.microsoft.com/office/drawing/2014/main" id="{66D37A6C-96FE-4135-86B3-8C615C6926D3}"/>
              </a:ext>
            </a:extLst>
          </p:cNvPr>
          <p:cNvSpPr>
            <a:spLocks noGrp="1"/>
          </p:cNvSpPr>
          <p:nvPr/>
        </p:nvSpPr>
        <p:spPr>
          <a:xfrm>
            <a:off x="1581150" y="4848225"/>
            <a:ext cx="69723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pp는 %p와 같음. 대비는 반올림 전 값에서 계산해 표의 정확도 차이와 미세하게 다를 수 있음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8E9004D1-5305-4F69-964A-7EDC7BC00E8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F1EC1982-DA6B-4255-8280-F1380F6528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부록 2. Text-independent REL 전체 결과">
            <a:extLst>
              <a:ext uri="{FF2B5EF4-FFF2-40B4-BE49-F238E27FC236}">
                <a16:creationId xmlns:a16="http://schemas.microsoft.com/office/drawing/2014/main" id="{36996890-567A-47AA-8D94-87A1992FD0F8}"/>
              </a:ext>
            </a:extLst>
          </p:cNvPr>
          <p:cNvSpPr>
            <a:spLocks noGrp="1"/>
          </p:cNvSpPr>
          <p:nvPr/>
        </p:nvSpPr>
        <p:spPr>
          <a:xfrm>
            <a:off x="1504950" y="4572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부록 2. Text-independent REL 전체 결과</a:t>
            </a:r>
          </a:p>
        </p:txBody>
      </p:sp>
      <p:sp>
        <p:nvSpPr>
          <p:cNvPr id="93" name="Referent 관련 대비가 작아짐. 뚜렷한 개선을 확인하지 못함">
            <a:extLst>
              <a:ext uri="{FF2B5EF4-FFF2-40B4-BE49-F238E27FC236}">
                <a16:creationId xmlns:a16="http://schemas.microsoft.com/office/drawing/2014/main" id="{7D6FBCF1-83FF-4CFF-8884-9958E94D3D42}"/>
              </a:ext>
            </a:extLst>
          </p:cNvPr>
          <p:cNvSpPr>
            <a:spLocks noGrp="1"/>
          </p:cNvSpPr>
          <p:nvPr/>
        </p:nvSpPr>
        <p:spPr>
          <a:xfrm>
            <a:off x="1581150" y="1038225"/>
            <a:ext cx="6972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Referent 관련 대비가 작아짐. 뚜렷한 개선을 확인하지 못함</a:t>
            </a: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C3666F12-F4CC-43FF-8793-C46B62857367}"/>
              </a:ext>
            </a:extLst>
          </p:cNvPr>
          <p:cNvGraphicFramePr/>
          <p:nvPr/>
        </p:nvGraphicFramePr>
        <p:xfrm>
          <a:off x="1581150" y="1514475"/>
          <a:ext cx="6972300" cy="31527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 / contrast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Qwen2.5-VL-7B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InternVL2.5-8B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O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68.575%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59.916%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70.112%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59.078%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66.760%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58.799%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accuracy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69.134%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59.777%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 − O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+1.536pp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−0.838pp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C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+2.374pp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+0.978pp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 − O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−1.816pp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−1.117pp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 − R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−0.978pp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+0.698pp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(F−C) − (R−O)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+0.838pp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+1.816pp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5" name="pp는 %p와 같음. 대비는 반올림 전 값에서 계산해 표의 정확도 차이와 미세하게">
            <a:extLst>
              <a:ext uri="{FF2B5EF4-FFF2-40B4-BE49-F238E27FC236}">
                <a16:creationId xmlns:a16="http://schemas.microsoft.com/office/drawing/2014/main" id="{5CC82744-A637-4809-8B66-781E0EFCBB99}"/>
              </a:ext>
            </a:extLst>
          </p:cNvPr>
          <p:cNvSpPr>
            <a:spLocks noGrp="1"/>
          </p:cNvSpPr>
          <p:nvPr/>
        </p:nvSpPr>
        <p:spPr>
          <a:xfrm>
            <a:off x="1581150" y="4848225"/>
            <a:ext cx="69723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pp는 %p와 같음. 대비는 반올림 전 값에서 계산해 표의 정확도 차이와 미세하게 다를 수 있음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86D37BA-590E-48B5-807A-5401103CE1D4}"/>
              </a:ext>
            </a:extLst>
          </p:cNvPr>
          <p:cNvSpPr>
            <a:spLocks noGrp="1"/>
          </p:cNvSpPr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A221D83-8B9C-4BB7-97BD-56AB2111F45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F54085B0-4522-4DE6-9924-47BEAC4067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92" name="부록 3. 실험 설정과 후속 방법 구상">
            <a:extLst>
              <a:ext uri="{FF2B5EF4-FFF2-40B4-BE49-F238E27FC236}">
                <a16:creationId xmlns:a16="http://schemas.microsoft.com/office/drawing/2014/main" id="{15EF21D5-C9D0-4DAD-9F84-61F4FA26D9ED}"/>
              </a:ext>
            </a:extLst>
          </p:cNvPr>
          <p:cNvSpPr>
            <a:spLocks noGrp="1"/>
          </p:cNvSpPr>
          <p:nvPr/>
        </p:nvSpPr>
        <p:spPr>
          <a:xfrm>
            <a:off x="1504950" y="4572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defPPr>
            <a:lvl1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1pPr>
            <a:lvl2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2pPr>
            <a:lvl3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3pPr>
            <a:lvl4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4pPr>
            <a:lvl5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5pPr>
            <a:lvl6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6pPr>
            <a:lvl7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7pPr>
            <a:lvl8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8pPr>
            <a:lvl9pPr algn="l">
              <a:buNone/>
              <a:def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defRPr>
            </a:lvl9pPr>
          </a:lstStyle>
          <a:p>
            <a:pPr algn="l">
              <a:buNone/>
              <a:defRPr sz="2000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</a:rPr>
              <a:t>부록 3. 실험 설정과 후속 방법 구상</a:t>
            </a:r>
          </a:p>
        </p:txBody>
      </p:sp>
      <p:sp>
        <p:nvSpPr>
          <p:cNvPr id="93" name="Qwen2.5-VL-7B, InternVL2.5-8B">
            <a:extLst>
              <a:ext uri="{FF2B5EF4-FFF2-40B4-BE49-F238E27FC236}">
                <a16:creationId xmlns:a16="http://schemas.microsoft.com/office/drawing/2014/main" id="{04CF935F-1F0A-4DA5-8AFC-389FC89604D8}"/>
              </a:ext>
            </a:extLst>
          </p:cNvPr>
          <p:cNvSpPr>
            <a:spLocks noGrp="1"/>
          </p:cNvSpPr>
          <p:nvPr/>
        </p:nvSpPr>
        <p:spPr>
          <a:xfrm>
            <a:off x="1581150" y="1057275"/>
            <a:ext cx="69723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Qwen2.5-VL-7B, InternVL2.5-8B</a:t>
            </a: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6B41EFF4-37EA-4CA4-A70B-446E406834B3}"/>
              </a:ext>
            </a:extLst>
          </p:cNvPr>
          <p:cNvGraphicFramePr/>
          <p:nvPr/>
        </p:nvGraphicFramePr>
        <p:xfrm>
          <a:off x="1581150" y="1543050"/>
          <a:ext cx="6972300" cy="14573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Context = Source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Context = GUI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>
                      <a:solidFill>
                        <a:srgbClr val="DCE1EA"/>
                      </a:solidFill>
                      <a:prstDash val="soli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Referent = Source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Referent = GUI</a:t>
                      </a:r>
                    </a:p>
                  </a:txBody>
                  <a:tcPr>
                    <a:lnL w="7620">
                      <a:solidFill>
                        <a:srgbClr val="DCE1EA"/>
                      </a:solidFill>
                      <a:prstDash val="soli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314A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>
                    <a:lnL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E1EA"/>
                      </a:solidFill>
                      <a:prstDash val="solid"/>
                    </a:lnR>
                    <a:lnT w="7620" cap="flat" cmpd="sng" algn="ctr">
                      <a:solidFill>
                        <a:srgbClr val="DC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" name="Source는 원래 질문 언어, GUI는 화면 언어">
            <a:extLst>
              <a:ext uri="{FF2B5EF4-FFF2-40B4-BE49-F238E27FC236}">
                <a16:creationId xmlns:a16="http://schemas.microsoft.com/office/drawing/2014/main" id="{68C1EFF3-08CE-45E7-BA1E-176F2E2DB639}"/>
              </a:ext>
            </a:extLst>
          </p:cNvPr>
          <p:cNvSpPr>
            <a:spLocks noGrp="1"/>
          </p:cNvSpPr>
          <p:nvPr/>
        </p:nvSpPr>
        <p:spPr>
          <a:xfrm>
            <a:off x="1581150" y="3124200"/>
            <a:ext cx="69723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5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083"/>
                </a:solidFill>
                <a:latin typeface="Arial"/>
                <a:ea typeface="Arial"/>
                <a:cs typeface="Arial"/>
              </a:rPr>
              <a:t>Source는 원래 질문 언어, GUI는 화면 언어</a:t>
            </a:r>
          </a:p>
        </p:txBody>
      </p:sp>
      <p:sp>
        <p:nvSpPr>
          <p:cNvPr id="96" name="우선 후보   필요한 referent만 선택해 두 단계로 현지화">
            <a:extLst>
              <a:ext uri="{FF2B5EF4-FFF2-40B4-BE49-F238E27FC236}">
                <a16:creationId xmlns:a16="http://schemas.microsoft.com/office/drawing/2014/main" id="{D821C18B-5C2B-4377-B58F-693BF0188DC3}"/>
              </a:ext>
            </a:extLst>
          </p:cNvPr>
          <p:cNvSpPr>
            <a:spLocks noGrp="1"/>
          </p:cNvSpPr>
          <p:nvPr/>
        </p:nvSpPr>
        <p:spPr>
          <a:xfrm>
            <a:off x="1581150" y="3629025"/>
            <a:ext cx="69723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926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64B"/>
                </a:solidFill>
                <a:latin typeface="Arial"/>
                <a:ea typeface="Arial"/>
                <a:cs typeface="Arial"/>
              </a:rPr>
              <a:t>우선 후보   필요한 referent만 선택해 두 단계로 현지화</a:t>
            </a:r>
          </a:p>
        </p:txBody>
      </p:sp>
      <p:sp>
        <p:nvSpPr>
          <p:cNvPr id="97" name="확장 대안   문맥까지 영어 등 모델에 쉬운 언어로 변경&#10;현재 우선순위는 refe">
            <a:extLst>
              <a:ext uri="{FF2B5EF4-FFF2-40B4-BE49-F238E27FC236}">
                <a16:creationId xmlns:a16="http://schemas.microsoft.com/office/drawing/2014/main" id="{2D92824E-FC9B-4F00-96ED-0388510A1969}"/>
              </a:ext>
            </a:extLst>
          </p:cNvPr>
          <p:cNvSpPr>
            <a:spLocks noGrp="1"/>
          </p:cNvSpPr>
          <p:nvPr/>
        </p:nvSpPr>
        <p:spPr>
          <a:xfrm>
            <a:off x="1581150" y="4124325"/>
            <a:ext cx="69723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확장 대안   문맥까지 영어 등 모델에 쉬운 언어로 변경</a:t>
            </a:r>
          </a:p>
          <a:p>
            <a:pPr algn="l">
              <a:buNone/>
              <a:defRPr sz="1425" b="0">
                <a:solidFill>
                  <a:srgbClr val="24314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14A"/>
                </a:solidFill>
                <a:latin typeface="Arial"/>
                <a:ea typeface="Arial"/>
                <a:cs typeface="Arial"/>
              </a:rPr>
              <a:t>현재 우선순위는 referent의 역할을 분리하는 연구 질문에 집중</a:t>
            </a:r>
          </a:p>
        </p:txBody>
      </p:sp>
    </p:spTree>
    <p:extLst>
      <p:ext uri="{BB962C8B-B14F-4D97-AF65-F5344CB8AC3E}">
        <p14:creationId xmlns:p14="http://schemas.microsoft.com/office/powerpoint/2010/main" val="1209563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2329</Words>
  <Application>Microsoft Office PowerPoint</Application>
  <DocSecurity>0</DocSecurity>
  <PresentationFormat>화면 슬라이드 쇼(16:9)</PresentationFormat>
  <Paragraphs>217</Paragraphs>
  <Slides>11</Slides>
  <Notes>11</Notes>
  <HiddenSlides>3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Nanum Gothic</vt:lpstr>
      <vt:lpstr>NanumGothicExtraBold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이승재</cp:lastModifiedBy>
  <cp:revision>14</cp:revision>
  <dcterms:created xsi:type="dcterms:W3CDTF">2026-10-26T11:43:26Z</dcterms:created>
  <dcterms:modified xsi:type="dcterms:W3CDTF">2026-10-27T07:58:34Z</dcterms:modified>
</cp:coreProperties>
</file>
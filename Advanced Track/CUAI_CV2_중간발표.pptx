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77" r:id="rId2"/>
    <p:sldId id="278" r:id="rId3"/>
    <p:sldId id="279" r:id="rId4"/>
    <p:sldId id="256" r:id="rId5"/>
    <p:sldId id="257" r:id="rId6"/>
    <p:sldId id="258" r:id="rId7"/>
  </p:sldIdLst>
  <p:sldSz cx="9144000" cy="5143500" type="screen16x9"/>
  <p:notesSz cx="6858000" cy="9144000"/>
  <p:defaultTextStyle>
    <a:defPPr marR="0" algn="l">
      <a:lnSpc>
        <a:spcPct val="100000"/>
      </a:lnSpc>
      <a:spcBef>
        <a:spcPts val="0"/>
      </a:spcBef>
      <a:spcAft>
        <a:spcPts val="0"/>
      </a:spcAft>
      <a:buNone/>
    </a:defPPr>
    <a:lvl1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cap="none">
        <a:solidFill>
          <a:srgbClr val="000000"/>
        </a:solidFill>
        <a:latin typeface="Arial"/>
        <a:ea typeface="Arial"/>
        <a:cs typeface="Arial"/>
      </a:defRPr>
    </a:lvl1pPr>
    <a:lvl2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cap="none">
        <a:solidFill>
          <a:srgbClr val="000000"/>
        </a:solidFill>
        <a:latin typeface="Arial"/>
        <a:ea typeface="Arial"/>
        <a:cs typeface="Arial"/>
      </a:defRPr>
    </a:lvl2pPr>
    <a:lvl3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cap="none">
        <a:solidFill>
          <a:srgbClr val="000000"/>
        </a:solidFill>
        <a:latin typeface="Arial"/>
        <a:ea typeface="Arial"/>
        <a:cs typeface="Arial"/>
      </a:defRPr>
    </a:lvl3pPr>
    <a:lvl4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cap="none">
        <a:solidFill>
          <a:srgbClr val="000000"/>
        </a:solidFill>
        <a:latin typeface="Arial"/>
        <a:ea typeface="Arial"/>
        <a:cs typeface="Arial"/>
      </a:defRPr>
    </a:lvl4pPr>
    <a:lvl5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cap="none">
        <a:solidFill>
          <a:srgbClr val="000000"/>
        </a:solidFill>
        <a:latin typeface="Arial"/>
        <a:ea typeface="Arial"/>
        <a:cs typeface="Arial"/>
      </a:defRPr>
    </a:lvl5pPr>
    <a:lvl6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cap="none">
        <a:solidFill>
          <a:srgbClr val="000000"/>
        </a:solidFill>
        <a:latin typeface="Arial"/>
        <a:ea typeface="Arial"/>
        <a:cs typeface="Arial"/>
      </a:defRPr>
    </a:lvl6pPr>
    <a:lvl7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cap="none">
        <a:solidFill>
          <a:srgbClr val="000000"/>
        </a:solidFill>
        <a:latin typeface="Arial"/>
        <a:ea typeface="Arial"/>
        <a:cs typeface="Arial"/>
      </a:defRPr>
    </a:lvl7pPr>
    <a:lvl8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cap="none">
        <a:solidFill>
          <a:srgbClr val="000000"/>
        </a:solidFill>
        <a:latin typeface="Arial"/>
        <a:ea typeface="Arial"/>
        <a:cs typeface="Arial"/>
      </a:defRPr>
    </a:lvl8pPr>
    <a:lvl9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cap="none">
        <a:solidFill>
          <a:srgbClr val="000000"/>
        </a:solidFill>
        <a:latin typeface="Arial"/>
        <a:ea typeface="Arial"/>
        <a:cs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868"/>
    <p:restoredTop sz="87206"/>
  </p:normalViewPr>
  <p:slideViewPr>
    <p:cSldViewPr snapToGrid="0">
      <p:cViewPr varScale="1">
        <p:scale>
          <a:sx n="145" d="100"/>
          <a:sy n="145" d="100"/>
        </p:scale>
        <p:origin x="4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dirty="0" err="1"/>
              <a:t>CoT의</a:t>
            </a:r>
            <a:r>
              <a:rPr dirty="0"/>
              <a:t> </a:t>
            </a:r>
            <a:r>
              <a:rPr dirty="0" err="1"/>
              <a:t>자기검증</a:t>
            </a:r>
            <a:r>
              <a:rPr dirty="0"/>
              <a:t> </a:t>
            </a:r>
            <a:r>
              <a:rPr dirty="0" err="1"/>
              <a:t>문장은</a:t>
            </a:r>
            <a:r>
              <a:rPr dirty="0"/>
              <a:t> </a:t>
            </a:r>
            <a:r>
              <a:rPr dirty="0" err="1"/>
              <a:t>관찰</a:t>
            </a:r>
            <a:r>
              <a:rPr dirty="0"/>
              <a:t> </a:t>
            </a:r>
            <a:r>
              <a:rPr dirty="0" err="1"/>
              <a:t>가능한</a:t>
            </a:r>
            <a:r>
              <a:rPr dirty="0"/>
              <a:t> </a:t>
            </a:r>
            <a:r>
              <a:rPr dirty="0" err="1"/>
              <a:t>텍스트입니다</a:t>
            </a:r>
            <a:r>
              <a:rPr dirty="0"/>
              <a:t>. </a:t>
            </a:r>
            <a:r>
              <a:rPr dirty="0" err="1"/>
              <a:t>실제로</a:t>
            </a:r>
            <a:r>
              <a:rPr dirty="0"/>
              <a:t> </a:t>
            </a:r>
            <a:r>
              <a:rPr dirty="0" err="1"/>
              <a:t>이미지의</a:t>
            </a:r>
            <a:r>
              <a:rPr dirty="0"/>
              <a:t> </a:t>
            </a:r>
            <a:r>
              <a:rPr dirty="0" err="1"/>
              <a:t>새로운</a:t>
            </a:r>
            <a:r>
              <a:rPr dirty="0"/>
              <a:t> </a:t>
            </a:r>
            <a:r>
              <a:rPr dirty="0" err="1"/>
              <a:t>정보를</a:t>
            </a:r>
            <a:r>
              <a:rPr dirty="0"/>
              <a:t> </a:t>
            </a:r>
            <a:r>
              <a:rPr dirty="0" err="1"/>
              <a:t>사용했는지는</a:t>
            </a:r>
            <a:r>
              <a:rPr dirty="0"/>
              <a:t> </a:t>
            </a:r>
            <a:r>
              <a:rPr dirty="0" err="1"/>
              <a:t>별도의</a:t>
            </a:r>
            <a:r>
              <a:rPr dirty="0"/>
              <a:t> </a:t>
            </a:r>
            <a:r>
              <a:rPr dirty="0" err="1"/>
              <a:t>개입</a:t>
            </a:r>
            <a:r>
              <a:rPr dirty="0"/>
              <a:t> </a:t>
            </a:r>
            <a:r>
              <a:rPr dirty="0" err="1"/>
              <a:t>실험으로</a:t>
            </a:r>
            <a:r>
              <a:rPr dirty="0"/>
              <a:t> </a:t>
            </a:r>
            <a:r>
              <a:rPr dirty="0" err="1"/>
              <a:t>확인해야</a:t>
            </a:r>
            <a:r>
              <a:rPr dirty="0"/>
              <a:t> </a:t>
            </a:r>
            <a:r>
              <a:rPr dirty="0" err="1"/>
              <a:t>합니다</a:t>
            </a:r>
            <a:r>
              <a:rPr dirty="0"/>
              <a:t>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dirty="0" err="1"/>
              <a:t>출처</a:t>
            </a:r>
            <a:r>
              <a:rPr dirty="0"/>
              <a:t>: </a:t>
            </a:r>
            <a:r>
              <a:rPr dirty="0" err="1"/>
              <a:t>첨부</a:t>
            </a:r>
            <a:r>
              <a:rPr dirty="0"/>
              <a:t> </a:t>
            </a:r>
            <a:r>
              <a:rPr dirty="0" err="1"/>
              <a:t>논문</a:t>
            </a:r>
            <a:r>
              <a:rPr dirty="0"/>
              <a:t>, arXiv:2605.15864v2 (2026-05-26). Sec. 1; Fig.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그림은 논문의 전체 진단 구조입니다. 동일 질문에서 정답을 바꾸는 시각적 차이를 넣습니다. 모델이 새 이미지에 따라 답을 고치면 재접지에 성공한 것으로 봅니다.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출처: 첨부 논문, arXiv:2605.15864v2 (2026-05-26). Fig. 1; Sec.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>
            <a:extLst>
              <a:ext uri="{FF2B5EF4-FFF2-40B4-BE49-F238E27FC236}">
                <a16:creationId xmlns:a16="http://schemas.microsoft.com/office/drawing/2014/main" id="{0F9ED41F-9166-4390-B04A-7E604B494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>
            <a:extLst>
              <a:ext uri="{FF2B5EF4-FFF2-40B4-BE49-F238E27FC236}">
                <a16:creationId xmlns:a16="http://schemas.microsoft.com/office/drawing/2014/main" id="{33C2B9EE-31FA-41BD-8644-691CA2AE54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>
            <a:extLst>
              <a:ext uri="{FF2B5EF4-FFF2-40B4-BE49-F238E27FC236}">
                <a16:creationId xmlns:a16="http://schemas.microsoft.com/office/drawing/2014/main" id="{70861452-29B1-4193-AC9C-6C5F2D50A6F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>
            <a:extLst>
              <a:ext uri="{FF2B5EF4-FFF2-40B4-BE49-F238E27FC236}">
                <a16:creationId xmlns:a16="http://schemas.microsoft.com/office/drawing/2014/main" id="{C4DEE0E4-6DCD-4CFC-A083-3687E2994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>
            <a:extLst>
              <a:ext uri="{FF2B5EF4-FFF2-40B4-BE49-F238E27FC236}">
                <a16:creationId xmlns:a16="http://schemas.microsoft.com/office/drawing/2014/main" id="{FDDCECAF-F401-4727-818B-E93B7546879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>
            <a:extLst>
              <a:ext uri="{FF2B5EF4-FFF2-40B4-BE49-F238E27FC236}">
                <a16:creationId xmlns:a16="http://schemas.microsoft.com/office/drawing/2014/main" id="{E4104585-CFFF-4C7E-8E74-ED125AD97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>
            <a:extLst>
              <a:ext uri="{FF2B5EF4-FFF2-40B4-BE49-F238E27FC236}">
                <a16:creationId xmlns:a16="http://schemas.microsoft.com/office/drawing/2014/main" id="{0FCCD932-0FA2-4125-8A9E-674768CB6E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>
            <a:extLst>
              <a:ext uri="{FF2B5EF4-FFF2-40B4-BE49-F238E27FC236}">
                <a16:creationId xmlns:a16="http://schemas.microsoft.com/office/drawing/2014/main" id="{235ACE96-C95F-4E0C-B6DB-6BDD0909517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>
            <a:extLst>
              <a:ext uri="{FF2B5EF4-FFF2-40B4-BE49-F238E27FC236}">
                <a16:creationId xmlns:a16="http://schemas.microsoft.com/office/drawing/2014/main" id="{14A65E42-53FC-4015-8AC0-663EC0DFF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>
            <a:extLst>
              <a:ext uri="{FF2B5EF4-FFF2-40B4-BE49-F238E27FC236}">
                <a16:creationId xmlns:a16="http://schemas.microsoft.com/office/drawing/2014/main" id="{005C15EE-A469-451B-B7B1-F51371888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>
            <a:extLst>
              <a:ext uri="{FF2B5EF4-FFF2-40B4-BE49-F238E27FC236}">
                <a16:creationId xmlns:a16="http://schemas.microsoft.com/office/drawing/2014/main" id="{4927B70C-92D7-4B89-900E-B857CA8B60B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>
            <a:extLst>
              <a:ext uri="{FF2B5EF4-FFF2-40B4-BE49-F238E27FC236}">
                <a16:creationId xmlns:a16="http://schemas.microsoft.com/office/drawing/2014/main" id="{759EFBB2-8C2C-4ABA-8E84-6C0A30FB20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>
            <a:extLst>
              <a:ext uri="{FF2B5EF4-FFF2-40B4-BE49-F238E27FC236}">
                <a16:creationId xmlns:a16="http://schemas.microsoft.com/office/drawing/2014/main" id="{2697AD61-6C2A-45B5-AFD4-DD502BEDF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>
            <a:extLst>
              <a:ext uri="{FF2B5EF4-FFF2-40B4-BE49-F238E27FC236}">
                <a16:creationId xmlns:a16="http://schemas.microsoft.com/office/drawing/2014/main" id="{F60A460E-966C-4F76-B4E5-6009747B83A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>
            <a:extLst>
              <a:ext uri="{FF2B5EF4-FFF2-40B4-BE49-F238E27FC236}">
                <a16:creationId xmlns:a16="http://schemas.microsoft.com/office/drawing/2014/main" id="{CF5297D3-6C60-4A18-ABC0-38B5FCFF4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>
            <a:extLst>
              <a:ext uri="{FF2B5EF4-FFF2-40B4-BE49-F238E27FC236}">
                <a16:creationId xmlns:a16="http://schemas.microsoft.com/office/drawing/2014/main" id="{9715ACAB-7A5A-4C07-8931-AE72E72E8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>
            <a:extLst>
              <a:ext uri="{FF2B5EF4-FFF2-40B4-BE49-F238E27FC236}">
                <a16:creationId xmlns:a16="http://schemas.microsoft.com/office/drawing/2014/main" id="{E0E34E07-D693-4279-9B7D-81D274B9E30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>
            <a:extLst>
              <a:ext uri="{FF2B5EF4-FFF2-40B4-BE49-F238E27FC236}">
                <a16:creationId xmlns:a16="http://schemas.microsoft.com/office/drawing/2014/main" id="{02D64BCA-F0A2-4C3D-BDB2-FB75A98C5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>
            <a:extLst>
              <a:ext uri="{FF2B5EF4-FFF2-40B4-BE49-F238E27FC236}">
                <a16:creationId xmlns:a16="http://schemas.microsoft.com/office/drawing/2014/main" id="{ED095DCF-5677-4303-976F-B5D396F9CC8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>
            <a:extLst>
              <a:ext uri="{FF2B5EF4-FFF2-40B4-BE49-F238E27FC236}">
                <a16:creationId xmlns:a16="http://schemas.microsoft.com/office/drawing/2014/main" id="{238851CF-9D17-4742-BAC0-E459EC1593AB}"/>
              </a:ext>
            </a:extLst>
          </p:cNvPr>
          <p:cNvSpPr>
            <a:spLocks noGrp="1"/>
          </p:cNvSpPr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>
            <a:extLst>
              <a:ext uri="{FF2B5EF4-FFF2-40B4-BE49-F238E27FC236}">
                <a16:creationId xmlns:a16="http://schemas.microsoft.com/office/drawing/2014/main" id="{533FFE66-FD5F-4EA6-8B01-75EEE0343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>
            <a:extLst>
              <a:ext uri="{FF2B5EF4-FFF2-40B4-BE49-F238E27FC236}">
                <a16:creationId xmlns:a16="http://schemas.microsoft.com/office/drawing/2014/main" id="{6A1D618F-BA1E-4F97-8739-2005A3C0A5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>
            <a:extLst>
              <a:ext uri="{FF2B5EF4-FFF2-40B4-BE49-F238E27FC236}">
                <a16:creationId xmlns:a16="http://schemas.microsoft.com/office/drawing/2014/main" id="{3B9683C8-96AF-42B9-A7EB-6DCC0ACCA24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>
            <a:extLst>
              <a:ext uri="{FF2B5EF4-FFF2-40B4-BE49-F238E27FC236}">
                <a16:creationId xmlns:a16="http://schemas.microsoft.com/office/drawing/2014/main" id="{54B8987C-8A6E-4419-8B1B-442BC42BF83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>
            <a:extLst>
              <a:ext uri="{FF2B5EF4-FFF2-40B4-BE49-F238E27FC236}">
                <a16:creationId xmlns:a16="http://schemas.microsoft.com/office/drawing/2014/main" id="{BC2BEAC2-78DC-4AD8-9EAD-49CF4CBBE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>
            <a:extLst>
              <a:ext uri="{FF2B5EF4-FFF2-40B4-BE49-F238E27FC236}">
                <a16:creationId xmlns:a16="http://schemas.microsoft.com/office/drawing/2014/main" id="{48F7315F-CD9F-4EA3-84C6-9056F62E864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>
            <a:extLst>
              <a:ext uri="{FF2B5EF4-FFF2-40B4-BE49-F238E27FC236}">
                <a16:creationId xmlns:a16="http://schemas.microsoft.com/office/drawing/2014/main" id="{6A6345D5-D70C-4E8A-A078-55432485A1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>
            <a:extLst>
              <a:ext uri="{FF2B5EF4-FFF2-40B4-BE49-F238E27FC236}">
                <a16:creationId xmlns:a16="http://schemas.microsoft.com/office/drawing/2014/main" id="{9591837A-CC2D-468F-B65C-9DD31CB69B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>
            <a:extLst>
              <a:ext uri="{FF2B5EF4-FFF2-40B4-BE49-F238E27FC236}">
                <a16:creationId xmlns:a16="http://schemas.microsoft.com/office/drawing/2014/main" id="{EFD311FD-AEC3-4A86-B922-B954DEE23BB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>
            <a:extLst>
              <a:ext uri="{FF2B5EF4-FFF2-40B4-BE49-F238E27FC236}">
                <a16:creationId xmlns:a16="http://schemas.microsoft.com/office/drawing/2014/main" id="{0792CE15-4484-444D-9DD1-F39A2095633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>
            <a:extLst>
              <a:ext uri="{FF2B5EF4-FFF2-40B4-BE49-F238E27FC236}">
                <a16:creationId xmlns:a16="http://schemas.microsoft.com/office/drawing/2014/main" id="{29821140-39AC-49F4-81A7-FF943CCA9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>
            <a:extLst>
              <a:ext uri="{FF2B5EF4-FFF2-40B4-BE49-F238E27FC236}">
                <a16:creationId xmlns:a16="http://schemas.microsoft.com/office/drawing/2014/main" id="{009D93C7-80E6-41EE-B746-EB7ADD41A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>
            <a:extLst>
              <a:ext uri="{FF2B5EF4-FFF2-40B4-BE49-F238E27FC236}">
                <a16:creationId xmlns:a16="http://schemas.microsoft.com/office/drawing/2014/main" id="{B70C16CD-F382-479C-957B-185FF47458B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</a:t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1402096" y="3236523"/>
            <a:ext cx="5289650" cy="1370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dirty="0">
                <a:solidFill>
                  <a:srgbClr val="19264B"/>
                </a:solidFill>
              </a:rPr>
              <a:t>CUAI </a:t>
            </a:r>
            <a:r>
              <a:rPr lang="en-US" altLang="ko" sz="2500" b="1" dirty="0">
                <a:solidFill>
                  <a:srgbClr val="19264B"/>
                </a:solidFill>
              </a:rPr>
              <a:t>Team CV2 </a:t>
            </a:r>
            <a:r>
              <a:rPr lang="ko-KR" altLang="en-US" sz="2500" b="1" dirty="0">
                <a:solidFill>
                  <a:srgbClr val="19264B"/>
                </a:solidFill>
              </a:rPr>
              <a:t>프로젝트 발표</a:t>
            </a:r>
            <a:endParaRPr sz="2500" b="1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solidFill>
                  <a:srgbClr val="19264B"/>
                </a:solidFill>
              </a:rPr>
              <a:t>202</a:t>
            </a:r>
            <a:r>
              <a:rPr lang="en-US" altLang="ko" dirty="0">
                <a:solidFill>
                  <a:srgbClr val="19264B"/>
                </a:solidFill>
              </a:rPr>
              <a:t>5</a:t>
            </a:r>
            <a:r>
              <a:rPr lang="ko" dirty="0">
                <a:solidFill>
                  <a:srgbClr val="19264B"/>
                </a:solidFill>
              </a:rPr>
              <a:t>.0</a:t>
            </a:r>
            <a:r>
              <a:rPr lang="en-US" altLang="ko-KR" dirty="0">
                <a:solidFill>
                  <a:srgbClr val="19264B"/>
                </a:solidFill>
              </a:rPr>
              <a:t>9</a:t>
            </a:r>
            <a:r>
              <a:rPr lang="ko" dirty="0">
                <a:solidFill>
                  <a:srgbClr val="19264B"/>
                </a:solidFill>
              </a:rPr>
              <a:t>.</a:t>
            </a:r>
            <a:r>
              <a:rPr lang="en-US" altLang="ko" dirty="0">
                <a:solidFill>
                  <a:srgbClr val="19264B"/>
                </a:solidFill>
              </a:rPr>
              <a:t>2</a:t>
            </a:r>
            <a:r>
              <a:rPr lang="en-US" altLang="ko-KR" dirty="0">
                <a:solidFill>
                  <a:srgbClr val="19264B"/>
                </a:solidFill>
              </a:rPr>
              <a:t>9</a:t>
            </a: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</p:txBody>
      </p:sp>
      <p:cxnSp>
        <p:nvCxnSpPr>
          <p:cNvPr id="56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3" name="Google Shape;63;p14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/>
          <p:nvPr/>
        </p:nvSpPr>
        <p:spPr>
          <a:xfrm>
            <a:off x="1599250" y="1262100"/>
            <a:ext cx="4287600" cy="3414600"/>
          </a:xfrm>
          <a:prstGeom prst="rect">
            <a:avLst/>
          </a:prstGeom>
          <a:solidFill>
            <a:srgbClr val="EFEFEF"/>
          </a:solidFill>
          <a:ln w="38100" cap="flat" cmpd="sng">
            <a:solidFill>
              <a:srgbClr val="1926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이곳에 만나서 찍은 사진을 넣어주세요.</a:t>
            </a:r>
            <a:endParaRPr sz="12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(비대면일 경우엔 화면 캡쳐 이용)</a:t>
            </a:r>
            <a:endParaRPr sz="12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얼굴이 나오게 찍어주셔야 합니다:D</a:t>
            </a:r>
            <a:endParaRPr sz="1200"/>
          </a:p>
        </p:txBody>
      </p:sp>
      <p:sp>
        <p:nvSpPr>
          <p:cNvPr id="66" name="Google Shape;66;p14"/>
          <p:cNvSpPr txBox="1"/>
          <p:nvPr/>
        </p:nvSpPr>
        <p:spPr>
          <a:xfrm>
            <a:off x="1408975" y="306875"/>
            <a:ext cx="4979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스터디원 소개 및 만남 인증</a:t>
            </a:r>
            <a:endParaRPr sz="200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6137600" y="1820125"/>
            <a:ext cx="2282100" cy="147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스터디원 1 : </a:t>
            </a:r>
            <a:r>
              <a:rPr lang="ko-KR" altLang="en-US" dirty="0"/>
              <a:t>강민성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스터디원 2 :</a:t>
            </a:r>
            <a:r>
              <a:rPr lang="en-US" altLang="ko" dirty="0"/>
              <a:t> </a:t>
            </a:r>
            <a:r>
              <a:rPr lang="ko-KR" altLang="en-US" dirty="0" err="1"/>
              <a:t>고의현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rtl="0"/>
            <a:r>
              <a:rPr lang="ko-KR" altLang="en-US" dirty="0" err="1"/>
              <a:t>스터디원</a:t>
            </a:r>
            <a:r>
              <a:rPr lang="ko-KR" altLang="en-US" dirty="0"/>
              <a:t> </a:t>
            </a:r>
            <a:r>
              <a:rPr lang="en-US" altLang="ko-KR" dirty="0"/>
              <a:t>3 :</a:t>
            </a:r>
            <a:r>
              <a:rPr lang="ko-KR" altLang="en-US" dirty="0"/>
              <a:t> 임지수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3" name="Google Shape;63;p14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TextBox 64"/>
          <p:cNvSpPr txBox="1"/>
          <p:nvPr/>
        </p:nvSpPr>
        <p:spPr>
          <a:xfrm>
            <a:off x="1645920" y="384048"/>
            <a:ext cx="7086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0">
                <a:solidFill>
                  <a:srgbClr val="111111"/>
                </a:solidFill>
                <a:latin typeface="Noto Sans CJK KR"/>
              </a:rPr>
              <a:t>목표: 논문 이해를 실제 모델 동작과 연결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49640" y="4818888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Noto Sans CJK KR"/>
              </a:rPr>
              <a:t>01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645920" y="4735197"/>
            <a:ext cx="6217920" cy="1308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dirty="0">
                <a:solidFill>
                  <a:srgbClr val="666666"/>
                </a:solidFill>
                <a:latin typeface="Noto Sans CJK KR"/>
              </a:rPr>
              <a:t>VLM Project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600200" y="1874519"/>
            <a:ext cx="1426464" cy="1097280"/>
          </a:xfrm>
          <a:prstGeom prst="roundRect">
            <a:avLst/>
          </a:prstGeom>
          <a:solidFill>
            <a:srgbClr val="19264B"/>
          </a:solidFill>
          <a:ln w="17780">
            <a:solidFill>
              <a:srgbClr val="19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673352" y="20116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Noto Sans CJK KR"/>
              </a:rPr>
              <a:t>READ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682496" y="2340864"/>
            <a:ext cx="126187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80" b="0">
                <a:solidFill>
                  <a:srgbClr val="FFFFFF"/>
                </a:solidFill>
                <a:latin typeface="Noto Sans CJK KR"/>
              </a:rPr>
              <a:t>핵심 구조와
학습 목적 파악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3044952" y="2423160"/>
            <a:ext cx="265176" cy="0"/>
          </a:xfrm>
          <a:prstGeom prst="line">
            <a:avLst/>
          </a:prstGeom>
          <a:ln w="19050">
            <a:solidFill>
              <a:srgbClr val="19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ounded Rectangle 72"/>
          <p:cNvSpPr/>
          <p:nvPr/>
        </p:nvSpPr>
        <p:spPr>
          <a:xfrm>
            <a:off x="3364992" y="1874519"/>
            <a:ext cx="1426464" cy="1097280"/>
          </a:xfrm>
          <a:prstGeom prst="roundRect">
            <a:avLst/>
          </a:prstGeom>
          <a:solidFill>
            <a:srgbClr val="F0F2F6"/>
          </a:solidFill>
          <a:ln w="17780">
            <a:solidFill>
              <a:srgbClr val="19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438144" y="20116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50" b="1">
                <a:solidFill>
                  <a:srgbClr val="19264B"/>
                </a:solidFill>
                <a:latin typeface="Noto Sans CJK KR"/>
              </a:rPr>
              <a:t>MAP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447288" y="2340864"/>
            <a:ext cx="126187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80" b="0">
                <a:solidFill>
                  <a:srgbClr val="19264B"/>
                </a:solidFill>
                <a:latin typeface="Noto Sans CJK KR"/>
              </a:rPr>
              <a:t>논문 개념 ↔
코드 모듈 매핑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4809744" y="2423160"/>
            <a:ext cx="265176" cy="0"/>
          </a:xfrm>
          <a:prstGeom prst="line">
            <a:avLst/>
          </a:prstGeom>
          <a:ln w="19050">
            <a:solidFill>
              <a:srgbClr val="19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76"/>
          <p:cNvSpPr/>
          <p:nvPr/>
        </p:nvSpPr>
        <p:spPr>
          <a:xfrm>
            <a:off x="5129784" y="1874519"/>
            <a:ext cx="1426464" cy="1097280"/>
          </a:xfrm>
          <a:prstGeom prst="roundRect">
            <a:avLst/>
          </a:prstGeom>
          <a:solidFill>
            <a:srgbClr val="F0F2F6"/>
          </a:solidFill>
          <a:ln w="17780">
            <a:solidFill>
              <a:srgbClr val="19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202936" y="20116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50" b="1">
                <a:solidFill>
                  <a:srgbClr val="19264B"/>
                </a:solidFill>
                <a:latin typeface="Noto Sans CJK KR"/>
              </a:rPr>
              <a:t>INTERVENE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212080" y="2340864"/>
            <a:ext cx="126187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80" b="0">
                <a:solidFill>
                  <a:srgbClr val="19264B"/>
                </a:solidFill>
                <a:latin typeface="Noto Sans CJK KR"/>
              </a:rPr>
              <a:t>component / tensor를
직접 조작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6574536" y="2423160"/>
            <a:ext cx="265176" cy="0"/>
          </a:xfrm>
          <a:prstGeom prst="line">
            <a:avLst/>
          </a:prstGeom>
          <a:ln w="19050">
            <a:solidFill>
              <a:srgbClr val="19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/>
          <p:cNvSpPr/>
          <p:nvPr/>
        </p:nvSpPr>
        <p:spPr>
          <a:xfrm>
            <a:off x="6894576" y="1874519"/>
            <a:ext cx="1426464" cy="1097280"/>
          </a:xfrm>
          <a:prstGeom prst="roundRect">
            <a:avLst/>
          </a:prstGeom>
          <a:solidFill>
            <a:srgbClr val="19264B"/>
          </a:solidFill>
          <a:ln w="17780">
            <a:solidFill>
              <a:srgbClr val="19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967728" y="20116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Noto Sans CJK KR"/>
              </a:rPr>
              <a:t>VERIFY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976872" y="2340864"/>
            <a:ext cx="126187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80" b="0">
                <a:solidFill>
                  <a:srgbClr val="FFFFFF"/>
                </a:solidFill>
                <a:latin typeface="Noto Sans CJK KR"/>
              </a:rPr>
              <a:t>표현 변화와
출력 변화 확인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901952" y="3383280"/>
            <a:ext cx="614476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19264B"/>
                </a:solidFill>
                <a:latin typeface="Noto Sans CJK KR"/>
              </a:rPr>
              <a:t>핵심 질문  </a:t>
            </a:r>
            <a:r>
              <a:rPr sz="1600" b="0">
                <a:solidFill>
                  <a:srgbClr val="111111"/>
                </a:solidFill>
                <a:latin typeface="Noto Sans CJK KR"/>
              </a:rPr>
              <a:t>“각 component는 실제로 어떤 정보를 만들고, 최종 prediction에 어떻게 기여하는가?”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938528" y="4023360"/>
            <a:ext cx="60807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0">
                <a:solidFill>
                  <a:srgbClr val="666666"/>
                </a:solidFill>
                <a:latin typeface="Noto Sans CJK KR"/>
              </a:rPr>
              <a:t>논문 요약이 아니라  역할 → 구현 → 개입 → 결과  를 하나의 흐름으로 확인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C8D23BBD-51EF-2E21-7722-F73BB1DE89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81100" cy="51435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endParaRPr/>
          </a:p>
        </p:txBody>
      </p:sp>
      <p:cxnSp>
        <p:nvCxnSpPr>
          <p:cNvPr id="64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ln w="38100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5" name="Google Shape;57;p13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ln>
            <a:noFill/>
          </a:ln>
        </p:spPr>
      </p:pic>
      <p:sp>
        <p:nvSpPr>
          <p:cNvPr id="66" name="TextBox 65"/>
          <p:cNvSpPr txBox="1"/>
          <p:nvPr/>
        </p:nvSpPr>
        <p:spPr>
          <a:xfrm>
            <a:off x="1645920" y="384048"/>
            <a:ext cx="7086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0">
                <a:solidFill>
                  <a:srgbClr val="111111"/>
                </a:solidFill>
                <a:latin typeface="Noto Sans CJK KR"/>
              </a:rPr>
              <a:t>Foundation → Modern VLM: 빠르게 기준 모델 확보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49640" y="4818888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Noto Sans CJK KR"/>
              </a:rPr>
              <a:t>02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645920" y="4735197"/>
            <a:ext cx="6217920" cy="1308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dirty="0">
                <a:solidFill>
                  <a:srgbClr val="666666"/>
                </a:solidFill>
                <a:latin typeface="Noto Sans CJK KR"/>
              </a:rPr>
              <a:t>VLM Project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572768" y="1024128"/>
            <a:ext cx="1051560" cy="310896"/>
          </a:xfrm>
          <a:prstGeom prst="roundRect">
            <a:avLst/>
          </a:prstGeom>
          <a:solidFill>
            <a:srgbClr val="E5E9F1"/>
          </a:solidFill>
          <a:ln w="6350">
            <a:solidFill>
              <a:srgbClr val="E5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1050" b="1">
                <a:solidFill>
                  <a:srgbClr val="19264B"/>
                </a:solidFill>
                <a:latin typeface="Noto Sans CJK KR"/>
              </a:rPr>
              <a:t>FOUNDATION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743200" y="1005840"/>
            <a:ext cx="5349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>
                <a:solidFill>
                  <a:srgbClr val="666666"/>
                </a:solidFill>
                <a:latin typeface="Noto Sans CJK KR"/>
              </a:rPr>
              <a:t>이미지 표현 → 정렬 → Vision-Language 연결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600200" y="1481328"/>
            <a:ext cx="1325880" cy="786384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9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645920" y="1572768"/>
            <a:ext cx="12344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19264B"/>
                </a:solidFill>
                <a:latin typeface="Noto Sans CJK KR"/>
              </a:rPr>
              <a:t>ViT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645920" y="1837943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80" b="0">
                <a:solidFill>
                  <a:srgbClr val="666666"/>
                </a:solidFill>
                <a:latin typeface="Noto Sans CJK KR"/>
              </a:rPr>
              <a:t>Image → Patch / Token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2953512" y="1874519"/>
            <a:ext cx="192024" cy="0"/>
          </a:xfrm>
          <a:prstGeom prst="line">
            <a:avLst/>
          </a:prstGeom>
          <a:ln w="15240">
            <a:solidFill>
              <a:srgbClr val="19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3200400" y="1481328"/>
            <a:ext cx="1325880" cy="786384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9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246120" y="1572768"/>
            <a:ext cx="12344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19264B"/>
                </a:solidFill>
                <a:latin typeface="Noto Sans CJK KR"/>
              </a:rPr>
              <a:t>CLIP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246120" y="1837943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80" b="0">
                <a:solidFill>
                  <a:srgbClr val="666666"/>
                </a:solidFill>
                <a:latin typeface="Noto Sans CJK KR"/>
              </a:rPr>
              <a:t>Image–Text Alignment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4553712" y="1874519"/>
            <a:ext cx="192024" cy="0"/>
          </a:xfrm>
          <a:prstGeom prst="line">
            <a:avLst/>
          </a:prstGeom>
          <a:ln w="15240">
            <a:solidFill>
              <a:srgbClr val="19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ounded Rectangle 78"/>
          <p:cNvSpPr/>
          <p:nvPr/>
        </p:nvSpPr>
        <p:spPr>
          <a:xfrm>
            <a:off x="4800600" y="1481328"/>
            <a:ext cx="1325880" cy="786384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9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846320" y="1572768"/>
            <a:ext cx="12344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19264B"/>
                </a:solidFill>
                <a:latin typeface="Noto Sans CJK KR"/>
              </a:rPr>
              <a:t>Flamingo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846320" y="1837943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80" b="0">
                <a:solidFill>
                  <a:srgbClr val="666666"/>
                </a:solidFill>
                <a:latin typeface="Noto Sans CJK KR"/>
              </a:rPr>
              <a:t>Cross-Attention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6153912" y="1874519"/>
            <a:ext cx="192024" cy="0"/>
          </a:xfrm>
          <a:prstGeom prst="line">
            <a:avLst/>
          </a:prstGeom>
          <a:ln w="15240">
            <a:solidFill>
              <a:srgbClr val="19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ounded Rectangle 82"/>
          <p:cNvSpPr/>
          <p:nvPr/>
        </p:nvSpPr>
        <p:spPr>
          <a:xfrm>
            <a:off x="6400800" y="1481328"/>
            <a:ext cx="1325880" cy="786384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9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446520" y="1572768"/>
            <a:ext cx="12344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19264B"/>
                </a:solidFill>
                <a:latin typeface="Noto Sans CJK KR"/>
              </a:rPr>
              <a:t>BLIP-2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46520" y="1837943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80" b="0">
                <a:solidFill>
                  <a:srgbClr val="666666"/>
                </a:solidFill>
                <a:latin typeface="Noto Sans CJK KR"/>
              </a:rPr>
              <a:t>Q-Former / Connector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572768" y="2743200"/>
            <a:ext cx="1051560" cy="310896"/>
          </a:xfrm>
          <a:prstGeom prst="roundRect">
            <a:avLst/>
          </a:prstGeom>
          <a:solidFill>
            <a:srgbClr val="E5E9F1"/>
          </a:solidFill>
          <a:ln w="6350">
            <a:solidFill>
              <a:srgbClr val="E5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1050" b="1">
                <a:solidFill>
                  <a:srgbClr val="19264B"/>
                </a:solidFill>
                <a:latin typeface="Noto Sans CJK KR"/>
              </a:rPr>
              <a:t>EVOLUTION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743200" y="2724912"/>
            <a:ext cx="5349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>
                <a:solidFill>
                  <a:srgbClr val="666666"/>
                </a:solidFill>
                <a:latin typeface="Noto Sans CJK KR"/>
              </a:rPr>
              <a:t>단순 connector에서 resolution·data·token handling 확장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874519" y="3200400"/>
            <a:ext cx="1691640" cy="896112"/>
          </a:xfrm>
          <a:prstGeom prst="roundRect">
            <a:avLst/>
          </a:prstGeom>
          <a:solidFill>
            <a:srgbClr val="19264B"/>
          </a:solidFill>
          <a:ln w="17780">
            <a:solidFill>
              <a:srgbClr val="19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1938527" y="3310128"/>
            <a:ext cx="156362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Noto Sans CJK KR"/>
              </a:rPr>
              <a:t>LLaVA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947672" y="3584448"/>
            <a:ext cx="1545336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60" b="0">
                <a:solidFill>
                  <a:srgbClr val="FFFFFF"/>
                </a:solidFill>
                <a:latin typeface="Noto Sans CJK KR"/>
              </a:rPr>
              <a:t>Linear Projector
+ Visual Instruction Tuning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3611879" y="3648456"/>
            <a:ext cx="356617" cy="0"/>
          </a:xfrm>
          <a:prstGeom prst="line">
            <a:avLst/>
          </a:prstGeom>
          <a:ln w="17780">
            <a:solidFill>
              <a:srgbClr val="19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ounded Rectangle 91"/>
          <p:cNvSpPr/>
          <p:nvPr/>
        </p:nvSpPr>
        <p:spPr>
          <a:xfrm>
            <a:off x="4023360" y="3200400"/>
            <a:ext cx="1691640" cy="896112"/>
          </a:xfrm>
          <a:prstGeom prst="roundRect">
            <a:avLst/>
          </a:prstGeom>
          <a:solidFill>
            <a:srgbClr val="F0F2F6"/>
          </a:solidFill>
          <a:ln w="17780">
            <a:solidFill>
              <a:srgbClr val="19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4087368" y="3310128"/>
            <a:ext cx="156362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50" b="1">
                <a:solidFill>
                  <a:srgbClr val="19264B"/>
                </a:solidFill>
                <a:latin typeface="Noto Sans CJK KR"/>
              </a:rPr>
              <a:t>LLaVA-1.5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096512" y="3584448"/>
            <a:ext cx="1545336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60" b="0">
                <a:solidFill>
                  <a:srgbClr val="666666"/>
                </a:solidFill>
                <a:latin typeface="Noto Sans CJK KR"/>
              </a:rPr>
              <a:t>MLP Projector
+ stronger data / resolution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5760720" y="3648456"/>
            <a:ext cx="356616" cy="0"/>
          </a:xfrm>
          <a:prstGeom prst="line">
            <a:avLst/>
          </a:prstGeom>
          <a:ln w="17780">
            <a:solidFill>
              <a:srgbClr val="19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ounded Rectangle 95"/>
          <p:cNvSpPr/>
          <p:nvPr/>
        </p:nvSpPr>
        <p:spPr>
          <a:xfrm>
            <a:off x="6172200" y="3200400"/>
            <a:ext cx="1691640" cy="896112"/>
          </a:xfrm>
          <a:prstGeom prst="roundRect">
            <a:avLst/>
          </a:prstGeom>
          <a:solidFill>
            <a:srgbClr val="F0F2F6"/>
          </a:solidFill>
          <a:ln w="17780">
            <a:solidFill>
              <a:srgbClr val="19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6236208" y="3310128"/>
            <a:ext cx="156362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50" b="1">
                <a:solidFill>
                  <a:srgbClr val="19264B"/>
                </a:solidFill>
                <a:latin typeface="Noto Sans CJK KR"/>
              </a:rPr>
              <a:t>LLaVA-NeXT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245352" y="3584448"/>
            <a:ext cx="1545336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60" b="0">
                <a:solidFill>
                  <a:srgbClr val="666666"/>
                </a:solidFill>
                <a:latin typeface="Noto Sans CJK KR"/>
              </a:rPr>
              <a:t>AnyRes
+ visual token handling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993392" y="4270248"/>
            <a:ext cx="6172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20" b="1">
                <a:solidFill>
                  <a:srgbClr val="19264B"/>
                </a:solidFill>
                <a:latin typeface="Noto Sans CJK KR"/>
              </a:rPr>
              <a:t>여기까지를 공통 언어로 만든 뒤, 이후 최신 VLM을 같은 분석 프레임으로 비교</a:t>
            </a:r>
          </a:p>
        </p:txBody>
      </p:sp>
    </p:spTree>
    <p:extLst>
      <p:ext uri="{BB962C8B-B14F-4D97-AF65-F5344CB8AC3E}">
        <p14:creationId xmlns:p14="http://schemas.microsoft.com/office/powerpoint/2010/main" val="4130652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C8D23BBD-51EF-2E21-7722-F73BB1DE89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81100" cy="51435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endParaRPr/>
          </a:p>
        </p:txBody>
      </p:sp>
      <p:cxnSp>
        <p:nvCxnSpPr>
          <p:cNvPr id="66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ln w="38100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7" name="Google Shape;57;p13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ln>
            <a:noFill/>
          </a:ln>
        </p:spPr>
      </p:pic>
      <p:sp>
        <p:nvSpPr>
          <p:cNvPr id="68" name="TextBox 67"/>
          <p:cNvSpPr txBox="1"/>
          <p:nvPr/>
        </p:nvSpPr>
        <p:spPr>
          <a:xfrm>
            <a:off x="1645920" y="384048"/>
            <a:ext cx="7086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0">
                <a:solidFill>
                  <a:srgbClr val="111111"/>
                </a:solidFill>
                <a:latin typeface="Noto Sans CJK KR"/>
              </a:rPr>
              <a:t>Paper → Code → Tensor → Experiment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49640" y="4818888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Noto Sans CJK KR"/>
              </a:rPr>
              <a:t>03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645920" y="4735197"/>
            <a:ext cx="6217920" cy="1308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dirty="0">
                <a:solidFill>
                  <a:srgbClr val="666666"/>
                </a:solidFill>
                <a:latin typeface="Noto Sans CJK KR"/>
              </a:rPr>
              <a:t>VLM Project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627632" y="950976"/>
            <a:ext cx="6858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Noto Sans CJK KR"/>
              </a:rPr>
              <a:t>한 모델의 forward path를 쪼개고, 각 단계에 controlled intervention을 적용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444752" y="1627632"/>
            <a:ext cx="1280160" cy="868680"/>
          </a:xfrm>
          <a:prstGeom prst="roundRect">
            <a:avLst/>
          </a:prstGeom>
          <a:solidFill>
            <a:srgbClr val="19264B"/>
          </a:solidFill>
          <a:ln w="17780">
            <a:solidFill>
              <a:srgbClr val="19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490472" y="1755648"/>
            <a:ext cx="1188719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Image
Processor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2734056" y="2057400"/>
            <a:ext cx="146304" cy="0"/>
          </a:xfrm>
          <a:prstGeom prst="line">
            <a:avLst/>
          </a:prstGeom>
          <a:ln w="15240">
            <a:solidFill>
              <a:srgbClr val="19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1444752" y="2816352"/>
            <a:ext cx="1280160" cy="841248"/>
          </a:xfrm>
          <a:prstGeom prst="roundRect">
            <a:avLst/>
          </a:prstGeom>
          <a:solidFill>
            <a:srgbClr val="F0F2F6"/>
          </a:solidFill>
          <a:ln w="8890">
            <a:solidFill>
              <a:srgbClr val="E5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490472" y="2916936"/>
            <a:ext cx="1188719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111111"/>
                </a:solidFill>
                <a:latin typeface="Noto Sans CJK KR"/>
              </a:rPr>
              <a:t>resolution
crop / patch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2084832" y="2496312"/>
            <a:ext cx="0" cy="292608"/>
          </a:xfrm>
          <a:prstGeom prst="line">
            <a:avLst/>
          </a:prstGeom>
          <a:ln w="12700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/>
          <p:cNvSpPr/>
          <p:nvPr/>
        </p:nvSpPr>
        <p:spPr>
          <a:xfrm>
            <a:off x="2907791" y="1627632"/>
            <a:ext cx="1280160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9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953511" y="1755648"/>
            <a:ext cx="1188719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19264B"/>
                </a:solidFill>
                <a:latin typeface="Noto Sans CJK KR"/>
              </a:rPr>
              <a:t>Vision
Encoder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4197096" y="2057400"/>
            <a:ext cx="146304" cy="0"/>
          </a:xfrm>
          <a:prstGeom prst="line">
            <a:avLst/>
          </a:prstGeom>
          <a:ln w="15240">
            <a:solidFill>
              <a:srgbClr val="19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/>
          <p:cNvSpPr/>
          <p:nvPr/>
        </p:nvSpPr>
        <p:spPr>
          <a:xfrm>
            <a:off x="2907791" y="2816352"/>
            <a:ext cx="1280160" cy="841248"/>
          </a:xfrm>
          <a:prstGeom prst="roundRect">
            <a:avLst/>
          </a:prstGeom>
          <a:solidFill>
            <a:srgbClr val="F0F2F6"/>
          </a:solidFill>
          <a:ln w="8890">
            <a:solidFill>
              <a:srgbClr val="E5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2953511" y="2916936"/>
            <a:ext cx="1188719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111111"/>
                </a:solidFill>
                <a:latin typeface="Noto Sans CJK KR"/>
              </a:rPr>
              <a:t>layer select
patch masking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3547872" y="2496312"/>
            <a:ext cx="0" cy="292608"/>
          </a:xfrm>
          <a:prstGeom prst="line">
            <a:avLst/>
          </a:prstGeom>
          <a:ln w="12700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4370831" y="1627632"/>
            <a:ext cx="1280160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9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416551" y="1755648"/>
            <a:ext cx="1188719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19264B"/>
                </a:solidFill>
                <a:latin typeface="Noto Sans CJK KR"/>
              </a:rPr>
              <a:t>Projector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5660136" y="2057400"/>
            <a:ext cx="146304" cy="0"/>
          </a:xfrm>
          <a:prstGeom prst="line">
            <a:avLst/>
          </a:prstGeom>
          <a:ln w="15240">
            <a:solidFill>
              <a:srgbClr val="19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4370831" y="2816352"/>
            <a:ext cx="1280160" cy="841248"/>
          </a:xfrm>
          <a:prstGeom prst="roundRect">
            <a:avLst/>
          </a:prstGeom>
          <a:solidFill>
            <a:srgbClr val="F0F2F6"/>
          </a:solidFill>
          <a:ln w="8890">
            <a:solidFill>
              <a:srgbClr val="E5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4416551" y="2916936"/>
            <a:ext cx="1188719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111111"/>
                </a:solidFill>
                <a:latin typeface="Noto Sans CJK KR"/>
              </a:rPr>
              <a:t>linear ↔ MLP
norm / noise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5010912" y="2496312"/>
            <a:ext cx="0" cy="292608"/>
          </a:xfrm>
          <a:prstGeom prst="line">
            <a:avLst/>
          </a:prstGeom>
          <a:ln w="12700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/>
          <p:cNvSpPr/>
          <p:nvPr/>
        </p:nvSpPr>
        <p:spPr>
          <a:xfrm>
            <a:off x="5833872" y="1627632"/>
            <a:ext cx="1280160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9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5879592" y="1755648"/>
            <a:ext cx="1188719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19264B"/>
                </a:solidFill>
                <a:latin typeface="Noto Sans CJK KR"/>
              </a:rPr>
              <a:t>LLM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7123175" y="2057400"/>
            <a:ext cx="146304" cy="0"/>
          </a:xfrm>
          <a:prstGeom prst="line">
            <a:avLst/>
          </a:prstGeom>
          <a:ln w="15240">
            <a:solidFill>
              <a:srgbClr val="19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ounded Rectangle 92"/>
          <p:cNvSpPr/>
          <p:nvPr/>
        </p:nvSpPr>
        <p:spPr>
          <a:xfrm>
            <a:off x="5833872" y="2816352"/>
            <a:ext cx="1280160" cy="841248"/>
          </a:xfrm>
          <a:prstGeom prst="roundRect">
            <a:avLst/>
          </a:prstGeom>
          <a:solidFill>
            <a:srgbClr val="F0F2F6"/>
          </a:solidFill>
          <a:ln w="8890">
            <a:solidFill>
              <a:srgbClr val="E5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5879592" y="2916936"/>
            <a:ext cx="1188719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111111"/>
                </a:solidFill>
                <a:latin typeface="Noto Sans CJK KR"/>
              </a:rPr>
              <a:t>visual attention
token routing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6473952" y="2496312"/>
            <a:ext cx="0" cy="292608"/>
          </a:xfrm>
          <a:prstGeom prst="line">
            <a:avLst/>
          </a:prstGeom>
          <a:ln w="12700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ounded Rectangle 95"/>
          <p:cNvSpPr/>
          <p:nvPr/>
        </p:nvSpPr>
        <p:spPr>
          <a:xfrm>
            <a:off x="7296912" y="1627632"/>
            <a:ext cx="1280160" cy="868680"/>
          </a:xfrm>
          <a:prstGeom prst="roundRect">
            <a:avLst/>
          </a:prstGeom>
          <a:solidFill>
            <a:srgbClr val="19264B"/>
          </a:solidFill>
          <a:ln w="17780">
            <a:solidFill>
              <a:srgbClr val="19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7342631" y="1755648"/>
            <a:ext cx="1188719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Output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7296912" y="2816352"/>
            <a:ext cx="1280160" cy="841248"/>
          </a:xfrm>
          <a:prstGeom prst="roundRect">
            <a:avLst/>
          </a:prstGeom>
          <a:solidFill>
            <a:srgbClr val="F0F2F6"/>
          </a:solidFill>
          <a:ln w="8890">
            <a:solidFill>
              <a:srgbClr val="E5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7342631" y="2916936"/>
            <a:ext cx="1188719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111111"/>
                </a:solidFill>
                <a:latin typeface="Noto Sans CJK KR"/>
              </a:rPr>
              <a:t>logits
accuracy / generation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7936992" y="2496312"/>
            <a:ext cx="0" cy="292608"/>
          </a:xfrm>
          <a:prstGeom prst="line">
            <a:avLst/>
          </a:prstGeom>
          <a:ln w="12700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1536192" y="3858768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19264B"/>
                </a:solidFill>
                <a:latin typeface="Noto Sans CJK KR"/>
              </a:rPr>
              <a:t>Representation Analysis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709160" y="3858768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19264B"/>
                </a:solidFill>
                <a:latin typeface="Noto Sans CJK KR"/>
              </a:rPr>
              <a:t>Causal / Controlled Intervention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554480" y="4151376"/>
            <a:ext cx="3218688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666666"/>
                </a:solidFill>
                <a:latin typeface="Noto Sans CJK KR"/>
              </a:rPr>
              <a:t>norm · similarity · PCA/CKA · layer-wise tracing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727448" y="4151376"/>
            <a:ext cx="3218688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666666"/>
                </a:solidFill>
                <a:latin typeface="Noto Sans CJK KR"/>
              </a:rPr>
              <a:t>ablation · replacement · masking · amplification</a:t>
            </a:r>
          </a:p>
        </p:txBody>
      </p:sp>
    </p:spTree>
    <p:extLst>
      <p:ext uri="{BB962C8B-B14F-4D97-AF65-F5344CB8AC3E}">
        <p14:creationId xmlns:p14="http://schemas.microsoft.com/office/powerpoint/2010/main" val="1271034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C8D23BBD-51EF-2E21-7722-F73BB1DE89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81100" cy="51435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endParaRPr/>
          </a:p>
        </p:txBody>
      </p:sp>
      <p:cxnSp>
        <p:nvCxnSpPr>
          <p:cNvPr id="65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ln w="38100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6" name="Google Shape;57;p13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ln>
            <a:noFill/>
          </a:ln>
        </p:spPr>
      </p:pic>
      <p:sp>
        <p:nvSpPr>
          <p:cNvPr id="67" name="TextBox 66"/>
          <p:cNvSpPr txBox="1"/>
          <p:nvPr/>
        </p:nvSpPr>
        <p:spPr>
          <a:xfrm>
            <a:off x="1645920" y="451065"/>
            <a:ext cx="7086600" cy="3231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0" dirty="0">
                <a:solidFill>
                  <a:srgbClr val="111111"/>
                </a:solidFill>
                <a:latin typeface="Noto Sans CJK KR"/>
              </a:rPr>
              <a:t>Milestones: </a:t>
            </a:r>
            <a:r>
              <a:rPr sz="2100" b="0" dirty="0" err="1">
                <a:solidFill>
                  <a:srgbClr val="111111"/>
                </a:solidFill>
                <a:latin typeface="Noto Sans CJK KR"/>
              </a:rPr>
              <a:t>이해</a:t>
            </a:r>
            <a:r>
              <a:rPr sz="2100" b="0" dirty="0">
                <a:solidFill>
                  <a:srgbClr val="111111"/>
                </a:solidFill>
                <a:latin typeface="Noto Sans CJK KR"/>
              </a:rPr>
              <a:t> → </a:t>
            </a:r>
            <a:r>
              <a:rPr sz="2100" b="0" dirty="0" err="1">
                <a:solidFill>
                  <a:srgbClr val="111111"/>
                </a:solidFill>
                <a:latin typeface="Noto Sans CJK KR"/>
              </a:rPr>
              <a:t>재현</a:t>
            </a:r>
            <a:r>
              <a:rPr sz="2100" b="0" dirty="0">
                <a:solidFill>
                  <a:srgbClr val="111111"/>
                </a:solidFill>
                <a:latin typeface="Noto Sans CJK KR"/>
              </a:rPr>
              <a:t> → </a:t>
            </a:r>
            <a:r>
              <a:rPr sz="2100" b="0" dirty="0" err="1">
                <a:solidFill>
                  <a:srgbClr val="111111"/>
                </a:solidFill>
                <a:latin typeface="Noto Sans CJK KR"/>
              </a:rPr>
              <a:t>검증</a:t>
            </a:r>
            <a:r>
              <a:rPr sz="2100" b="0" dirty="0">
                <a:solidFill>
                  <a:srgbClr val="111111"/>
                </a:solidFill>
                <a:latin typeface="Noto Sans CJK KR"/>
              </a:rPr>
              <a:t> → </a:t>
            </a:r>
            <a:r>
              <a:rPr sz="2100" b="0" dirty="0" err="1">
                <a:solidFill>
                  <a:srgbClr val="111111"/>
                </a:solidFill>
                <a:latin typeface="Noto Sans CJK KR"/>
              </a:rPr>
              <a:t>확장</a:t>
            </a:r>
            <a:endParaRPr sz="2100" b="0" dirty="0">
              <a:solidFill>
                <a:srgbClr val="111111"/>
              </a:solidFill>
              <a:latin typeface="Noto Sans CJK KR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8549640" y="4818888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Noto Sans CJK KR"/>
              </a:rPr>
              <a:t>04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645920" y="4735197"/>
            <a:ext cx="6217920" cy="1308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dirty="0">
                <a:solidFill>
                  <a:srgbClr val="666666"/>
                </a:solidFill>
                <a:latin typeface="Noto Sans CJK KR"/>
              </a:rPr>
              <a:t>VLM Project — Milestones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627632" y="941832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Noto Sans CJK KR"/>
              </a:rPr>
              <a:t>주차를 고정하지 않고, 완료되는 즉시 다음 단계로 진행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389888" y="1581912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666666"/>
                </a:solidFill>
                <a:latin typeface="Noto Sans CJK KR"/>
              </a:rPr>
              <a:t>M0</a:t>
            </a:r>
          </a:p>
        </p:txBody>
      </p:sp>
      <p:sp>
        <p:nvSpPr>
          <p:cNvPr id="72" name="Oval 71"/>
          <p:cNvSpPr/>
          <p:nvPr/>
        </p:nvSpPr>
        <p:spPr>
          <a:xfrm>
            <a:off x="1783080" y="1856231"/>
            <a:ext cx="402336" cy="402336"/>
          </a:xfrm>
          <a:prstGeom prst="ellipse">
            <a:avLst/>
          </a:prstGeom>
          <a:solidFill>
            <a:srgbClr val="19264B"/>
          </a:solidFill>
          <a:ln>
            <a:solidFill>
              <a:srgbClr val="19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3" name="Connector 72"/>
          <p:cNvCxnSpPr/>
          <p:nvPr/>
        </p:nvCxnSpPr>
        <p:spPr>
          <a:xfrm>
            <a:off x="2185416" y="2057400"/>
            <a:ext cx="1042416" cy="0"/>
          </a:xfrm>
          <a:prstGeom prst="line">
            <a:avLst/>
          </a:prstGeom>
          <a:ln w="20320">
            <a:solidFill>
              <a:srgbClr val="19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1389888" y="2368296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19264B"/>
                </a:solidFill>
                <a:latin typeface="Noto Sans CJK KR"/>
              </a:rPr>
              <a:t>Foundation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371600" y="2660904"/>
            <a:ext cx="122529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69" b="0">
                <a:solidFill>
                  <a:srgbClr val="666666"/>
                </a:solidFill>
                <a:latin typeface="Noto Sans CJK KR"/>
              </a:rPr>
              <a:t>ViT / CLIP /
Flamingo / BLIP-2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834640" y="1581912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666666"/>
                </a:solidFill>
                <a:latin typeface="Noto Sans CJK KR"/>
              </a:rPr>
              <a:t>M1</a:t>
            </a:r>
          </a:p>
        </p:txBody>
      </p:sp>
      <p:sp>
        <p:nvSpPr>
          <p:cNvPr id="77" name="Oval 76"/>
          <p:cNvSpPr/>
          <p:nvPr/>
        </p:nvSpPr>
        <p:spPr>
          <a:xfrm>
            <a:off x="3227832" y="1856231"/>
            <a:ext cx="402336" cy="402336"/>
          </a:xfrm>
          <a:prstGeom prst="ellipse">
            <a:avLst/>
          </a:prstGeom>
          <a:solidFill>
            <a:srgbClr val="19264B"/>
          </a:solidFill>
          <a:ln>
            <a:solidFill>
              <a:srgbClr val="19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Connector 77"/>
          <p:cNvCxnSpPr/>
          <p:nvPr/>
        </p:nvCxnSpPr>
        <p:spPr>
          <a:xfrm>
            <a:off x="3630168" y="2057400"/>
            <a:ext cx="1042415" cy="0"/>
          </a:xfrm>
          <a:prstGeom prst="line">
            <a:avLst/>
          </a:prstGeom>
          <a:ln w="20320">
            <a:solidFill>
              <a:srgbClr val="19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2834640" y="2368296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19264B"/>
                </a:solidFill>
                <a:latin typeface="Noto Sans CJK KR"/>
              </a:rPr>
              <a:t>Baseline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816352" y="2660904"/>
            <a:ext cx="122529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69" b="0">
                <a:solidFill>
                  <a:srgbClr val="666666"/>
                </a:solidFill>
                <a:latin typeface="Noto Sans CJK KR"/>
              </a:rPr>
              <a:t>LLaVA 계열
실행·재현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79392" y="1581912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666666"/>
                </a:solidFill>
                <a:latin typeface="Noto Sans CJK KR"/>
              </a:rPr>
              <a:t>M2</a:t>
            </a:r>
          </a:p>
        </p:txBody>
      </p:sp>
      <p:sp>
        <p:nvSpPr>
          <p:cNvPr id="82" name="Oval 81"/>
          <p:cNvSpPr/>
          <p:nvPr/>
        </p:nvSpPr>
        <p:spPr>
          <a:xfrm>
            <a:off x="4672583" y="1856231"/>
            <a:ext cx="402336" cy="402336"/>
          </a:xfrm>
          <a:prstGeom prst="ellipse">
            <a:avLst/>
          </a:prstGeom>
          <a:solidFill>
            <a:srgbClr val="19264B"/>
          </a:solidFill>
          <a:ln>
            <a:solidFill>
              <a:srgbClr val="19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3" name="Connector 82"/>
          <p:cNvCxnSpPr/>
          <p:nvPr/>
        </p:nvCxnSpPr>
        <p:spPr>
          <a:xfrm>
            <a:off x="5074920" y="2057400"/>
            <a:ext cx="1042416" cy="0"/>
          </a:xfrm>
          <a:prstGeom prst="line">
            <a:avLst/>
          </a:prstGeom>
          <a:ln w="20320">
            <a:solidFill>
              <a:srgbClr val="19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4279392" y="2368296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19264B"/>
                </a:solidFill>
                <a:latin typeface="Noto Sans CJK KR"/>
              </a:rPr>
              <a:t>Code Map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261104" y="2660904"/>
            <a:ext cx="122529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69" b="0">
                <a:solidFill>
                  <a:srgbClr val="666666"/>
                </a:solidFill>
                <a:latin typeface="Noto Sans CJK KR"/>
              </a:rPr>
              <a:t>module / tensor /
forward path 정리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724144" y="1581912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666666"/>
                </a:solidFill>
                <a:latin typeface="Noto Sans CJK KR"/>
              </a:rPr>
              <a:t>M3</a:t>
            </a:r>
          </a:p>
        </p:txBody>
      </p:sp>
      <p:sp>
        <p:nvSpPr>
          <p:cNvPr id="87" name="Oval 86"/>
          <p:cNvSpPr/>
          <p:nvPr/>
        </p:nvSpPr>
        <p:spPr>
          <a:xfrm>
            <a:off x="6117336" y="1856231"/>
            <a:ext cx="402336" cy="402336"/>
          </a:xfrm>
          <a:prstGeom prst="ellipse">
            <a:avLst/>
          </a:prstGeom>
          <a:solidFill>
            <a:srgbClr val="19264B"/>
          </a:solidFill>
          <a:ln>
            <a:solidFill>
              <a:srgbClr val="19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8" name="Connector 87"/>
          <p:cNvCxnSpPr/>
          <p:nvPr/>
        </p:nvCxnSpPr>
        <p:spPr>
          <a:xfrm>
            <a:off x="6519672" y="2057400"/>
            <a:ext cx="1042416" cy="0"/>
          </a:xfrm>
          <a:prstGeom prst="line">
            <a:avLst/>
          </a:prstGeom>
          <a:ln w="20320">
            <a:solidFill>
              <a:srgbClr val="19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5724144" y="2368296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19264B"/>
                </a:solidFill>
                <a:latin typeface="Noto Sans CJK KR"/>
              </a:rPr>
              <a:t>Intervention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705856" y="2660904"/>
            <a:ext cx="122529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69" b="0">
                <a:solidFill>
                  <a:srgbClr val="666666"/>
                </a:solidFill>
                <a:latin typeface="Noto Sans CJK KR"/>
              </a:rPr>
              <a:t>component별
실험 matrix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168896" y="1581912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666666"/>
                </a:solidFill>
                <a:latin typeface="Noto Sans CJK KR"/>
              </a:rPr>
              <a:t>M4</a:t>
            </a:r>
          </a:p>
        </p:txBody>
      </p:sp>
      <p:sp>
        <p:nvSpPr>
          <p:cNvPr id="92" name="Oval 91"/>
          <p:cNvSpPr/>
          <p:nvPr/>
        </p:nvSpPr>
        <p:spPr>
          <a:xfrm>
            <a:off x="7562088" y="1856231"/>
            <a:ext cx="402336" cy="402336"/>
          </a:xfrm>
          <a:prstGeom prst="ellipse">
            <a:avLst/>
          </a:prstGeom>
          <a:solidFill>
            <a:srgbClr val="19264B"/>
          </a:solidFill>
          <a:ln>
            <a:solidFill>
              <a:srgbClr val="19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7168896" y="2368296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19264B"/>
                </a:solidFill>
                <a:latin typeface="Noto Sans CJK KR"/>
              </a:rPr>
              <a:t>Generalize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150608" y="2660904"/>
            <a:ext cx="122529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69" b="0">
                <a:solidFill>
                  <a:srgbClr val="666666"/>
                </a:solidFill>
                <a:latin typeface="Noto Sans CJK KR"/>
              </a:rPr>
              <a:t>최신 VLM 비교
+ 연구 질문 도출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572768" y="3456432"/>
            <a:ext cx="6565392" cy="841248"/>
          </a:xfrm>
          <a:prstGeom prst="roundRect">
            <a:avLst/>
          </a:prstGeom>
          <a:solidFill>
            <a:srgbClr val="F0F2F6"/>
          </a:solidFill>
          <a:ln w="10160">
            <a:solidFill>
              <a:srgbClr val="E5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1764792" y="3566160"/>
            <a:ext cx="111556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>
                <a:solidFill>
                  <a:srgbClr val="19264B"/>
                </a:solidFill>
                <a:latin typeface="Noto Sans CJK KR"/>
              </a:rPr>
              <a:t>최종 산출물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017520" y="3547872"/>
            <a:ext cx="48920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80" b="0">
                <a:solidFill>
                  <a:srgbClr val="111111"/>
                </a:solidFill>
                <a:latin typeface="Noto Sans CJK KR"/>
              </a:rPr>
              <a:t>Code Map  ·  Experiment Matrix  ·  Result Dashboard  ·  Research Question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920240" y="4407408"/>
            <a:ext cx="58521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19264B"/>
                </a:solidFill>
                <a:latin typeface="Noto Sans CJK KR"/>
              </a:rPr>
              <a:t>목표는 “모델을 읽는 스터디”가 아니라 “모델의 역할을 실험으로 설명하는 프로젝트”</a:t>
            </a:r>
          </a:p>
        </p:txBody>
      </p:sp>
    </p:spTree>
    <p:extLst>
      <p:ext uri="{BB962C8B-B14F-4D97-AF65-F5344CB8AC3E}">
        <p14:creationId xmlns:p14="http://schemas.microsoft.com/office/powerpoint/2010/main" val="262254057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465</Words>
  <Application>Microsoft Macintosh PowerPoint</Application>
  <DocSecurity>0</DocSecurity>
  <PresentationFormat>화면 슬라이드 쇼(16:9)</PresentationFormat>
  <Paragraphs>91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NanumGothic ExtraBold</vt:lpstr>
      <vt:lpstr>Noto Sans CJK KR</vt:lpstr>
      <vt:lpstr>Arial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강민성</cp:lastModifiedBy>
  <cp:revision>6</cp:revision>
  <dcterms:created xsi:type="dcterms:W3CDTF">2026-09-29T03:15:04Z</dcterms:created>
  <dcterms:modified xsi:type="dcterms:W3CDTF">2026-10-27T09:15:45Z</dcterms:modified>
</cp:coreProperties>
</file>
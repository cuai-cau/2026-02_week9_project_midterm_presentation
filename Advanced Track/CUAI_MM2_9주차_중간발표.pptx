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dbce474f84673" /><Relationship Type="http://schemas.openxmlformats.org/officeDocument/2006/relationships/extended-properties" Target="/docProps/app.xml" Id="Rf9b2a6f51658437f" /><Relationship Type="http://schemas.openxmlformats.org/officeDocument/2006/relationships/officeDocument" Target="/ppt/presentation.xml" Id="Re217e6149f1e4cb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25b17541be1471c"/>
  </p:sldMasterIdLst>
  <p:notesMasterIdLst>
    <p:notesMasterId xmlns:r="http://schemas.openxmlformats.org/officeDocument/2006/relationships" r:id="Rdafb95f0961d4faa"/>
  </p:notesMasterIdLst>
  <p:sldIdLst>
    <p:sldId xmlns:r="http://schemas.openxmlformats.org/officeDocument/2006/relationships" id="256" r:id="R9484e3d4d9c94f7b"/>
    <p:sldId xmlns:r="http://schemas.openxmlformats.org/officeDocument/2006/relationships" id="257" r:id="R9561ab113ff94431"/>
    <p:sldId xmlns:r="http://schemas.openxmlformats.org/officeDocument/2006/relationships" id="258" r:id="R4c08a6317935434b"/>
    <p:sldId xmlns:r="http://schemas.openxmlformats.org/officeDocument/2006/relationships" id="259" r:id="R872502524d1d4797"/>
    <p:sldId xmlns:r="http://schemas.openxmlformats.org/officeDocument/2006/relationships" id="260" r:id="R945a35baf5b8404f"/>
    <p:sldId xmlns:r="http://schemas.openxmlformats.org/officeDocument/2006/relationships" id="261" r:id="Rdb1b881f2af44fcc"/>
    <p:sldId xmlns:r="http://schemas.openxmlformats.org/officeDocument/2006/relationships" id="262" r:id="R725d5a9b54c8466f"/>
    <p:sldId xmlns:r="http://schemas.openxmlformats.org/officeDocument/2006/relationships" id="263" r:id="R5bfae308d9024bdd"/>
    <p:sldId xmlns:r="http://schemas.openxmlformats.org/officeDocument/2006/relationships" id="264" r:id="Red9728f9786e4d8a"/>
    <p:sldId xmlns:r="http://schemas.openxmlformats.org/officeDocument/2006/relationships" id="265" r:id="R3f763d61cd944414"/>
    <p:sldId xmlns:r="http://schemas.openxmlformats.org/officeDocument/2006/relationships" id="266" r:id="Re1c6cb062cfb4ea9"/>
  </p:sldIdLst>
  <p:sldSz cx="9144000" cy="5143500"/>
  <p:notesSz cx="6858000" cy="9144000"/>
  <p:embeddedFontLst>
    <p:embeddedFont>
      <p:font typeface="NanumGothicExtraBold"/>
      <p:bold xmlns:r="http://schemas.openxmlformats.org/officeDocument/2006/relationships" r:id="Rf03a9733dfc844f3"/>
    </p:embeddedFont>
    <p:embeddedFont>
      <p:font typeface="Nanum Gothic"/>
      <p:regular xmlns:r="http://schemas.openxmlformats.org/officeDocument/2006/relationships" r:id="R15d32385388140f3"/>
      <p:bold xmlns:r="http://schemas.openxmlformats.org/officeDocument/2006/relationships" r:id="R248a61671ea64809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a12de68e744e8d" /><Relationship Type="http://schemas.openxmlformats.org/officeDocument/2006/relationships/slideMaster" Target="/ppt/slideMasters/slideMaster1.xml" Id="Rf25b17541be1471c" /><Relationship Type="http://schemas.openxmlformats.org/officeDocument/2006/relationships/notesMaster" Target="/ppt/notesMasters/notesMaster1.xml" Id="Rdafb95f0961d4faa" /><Relationship Type="http://schemas.openxmlformats.org/officeDocument/2006/relationships/presProps" Target="/ppt/presProps.xml" Id="R63285f215c12434f" /><Relationship Type="http://schemas.openxmlformats.org/officeDocument/2006/relationships/viewProps" Target="/ppt/viewProps.xml" Id="Rca04a6651310448b" /><Relationship Type="http://schemas.openxmlformats.org/officeDocument/2006/relationships/tableStyles" Target="/ppt/tableStyles.xml" Id="R895a2393a5a44047" /><Relationship Type="http://schemas.openxmlformats.org/officeDocument/2006/relationships/font" Target="/ppt/fonts/font.dat" Id="Rf03a9733dfc844f3" /><Relationship Type="http://schemas.openxmlformats.org/officeDocument/2006/relationships/font" Target="/ppt/fonts/font2.dat" Id="R15d32385388140f3" /><Relationship Type="http://schemas.openxmlformats.org/officeDocument/2006/relationships/font" Target="/ppt/fonts/font3.dat" Id="R248a61671ea64809" /><Relationship Type="http://schemas.openxmlformats.org/officeDocument/2006/relationships/slide" Target="/ppt/slides/slide1.xml" Id="R9484e3d4d9c94f7b" /><Relationship Type="http://schemas.openxmlformats.org/officeDocument/2006/relationships/slide" Target="/ppt/slides/slide2.xml" Id="R9561ab113ff94431" /><Relationship Type="http://schemas.openxmlformats.org/officeDocument/2006/relationships/slide" Target="/ppt/slides/slide3.xml" Id="R4c08a6317935434b" /><Relationship Type="http://schemas.openxmlformats.org/officeDocument/2006/relationships/slide" Target="/ppt/slides/slide4.xml" Id="R872502524d1d4797" /><Relationship Type="http://schemas.openxmlformats.org/officeDocument/2006/relationships/slide" Target="/ppt/slides/slide5.xml" Id="R945a35baf5b8404f" /><Relationship Type="http://schemas.openxmlformats.org/officeDocument/2006/relationships/slide" Target="/ppt/slides/slide6.xml" Id="Rdb1b881f2af44fcc" /><Relationship Type="http://schemas.openxmlformats.org/officeDocument/2006/relationships/slide" Target="/ppt/slides/slide7.xml" Id="R725d5a9b54c8466f" /><Relationship Type="http://schemas.openxmlformats.org/officeDocument/2006/relationships/slide" Target="/ppt/slides/slide8.xml" Id="R5bfae308d9024bdd" /><Relationship Type="http://schemas.openxmlformats.org/officeDocument/2006/relationships/slide" Target="/ppt/slides/slide9.xml" Id="Red9728f9786e4d8a" /><Relationship Type="http://schemas.openxmlformats.org/officeDocument/2006/relationships/slide" Target="/ppt/slides/slide10.xml" Id="R3f763d61cd944414" /><Relationship Type="http://schemas.openxmlformats.org/officeDocument/2006/relationships/slide" Target="/ppt/slides/slide11.xml" Id="Re1c6cb062cfb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7c1fc11da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4ffc796e724ae7" /><Relationship Type="http://schemas.openxmlformats.org/officeDocument/2006/relationships/notesMaster" Target="/ppt/notesMasters/notesMaster1.xml" Id="R2bb314ecb48a45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636df61534db1" /><Relationship Type="http://schemas.openxmlformats.org/officeDocument/2006/relationships/notesMaster" Target="/ppt/notesMasters/notesMaster1.xml" Id="R5a6de9a116e7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98451f143441f" /><Relationship Type="http://schemas.openxmlformats.org/officeDocument/2006/relationships/notesMaster" Target="/ppt/notesMasters/notesMaster1.xml" Id="Rb8cef5c1701c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c29d9ec624ecc" /><Relationship Type="http://schemas.openxmlformats.org/officeDocument/2006/relationships/notesMaster" Target="/ppt/notesMasters/notesMaster1.xml" Id="R50edaa05473a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229c01d5cc47cc" /><Relationship Type="http://schemas.openxmlformats.org/officeDocument/2006/relationships/notesMaster" Target="/ppt/notesMasters/notesMaster1.xml" Id="R72dd1e86296f40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f0274536c942ba" /><Relationship Type="http://schemas.openxmlformats.org/officeDocument/2006/relationships/notesMaster" Target="/ppt/notesMasters/notesMaster1.xml" Id="R71478b6776b04a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7e2c82a0f846a3" /><Relationship Type="http://schemas.openxmlformats.org/officeDocument/2006/relationships/notesMaster" Target="/ppt/notesMasters/notesMaster1.xml" Id="R33c6b4311827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14fbd1ee54226" /><Relationship Type="http://schemas.openxmlformats.org/officeDocument/2006/relationships/notesMaster" Target="/ppt/notesMasters/notesMaster1.xml" Id="R7f9a1caa04f44d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a685e9cd5455a" /><Relationship Type="http://schemas.openxmlformats.org/officeDocument/2006/relationships/notesMaster" Target="/ppt/notesMasters/notesMaster1.xml" Id="R0d546a88e106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4e5cc529dc4ee7" /><Relationship Type="http://schemas.openxmlformats.org/officeDocument/2006/relationships/notesMaster" Target="/ppt/notesMasters/notesMaster1.xml" Id="R5115bd93ff88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a1d2cb91de4bdd" /><Relationship Type="http://schemas.openxmlformats.org/officeDocument/2006/relationships/notesMaster" Target="/ppt/notesMasters/notesMaster1.xml" Id="Rb5e3d83dc419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[15초 배분 · 0:00–0:15]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안녕하세요. MM2팀 배기현, 이승재입니다. 저희는 질문과 화면의 언어가 다를 때 AI가 왜 어려워하는지 연구하고 있습니다. 지금까지의 결과와 다음 실험 계획을 말씀드리겠습니다.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팀명·이름: 기존 CUAI 소논문 및 발표 자료. 발표 일자: 사용자가 제공한 9주차 세션 공지.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[25초 배분 · 0:15–0:40]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왼쪽은 중국어 알람 화면입니다. 영어로 Ringtone 아래에 무엇이 있는지 묻는 상황입니다. AI는 벨소리라는 영어 이름을 중국어 화면 속 대상과 연결한 뒤, 아래에 있는 항목을 찾아야 합니다. 저희는 이 언어 차이가 문제를 푸는 데 얼마나 방해가 되는지 알아봤습니다.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이미지: followup_rel_4lang/assets/images/3/zh/clock_zh_5.jpg, rel::3/clock_5.jpg, en→zh. MPR-GUI-Bench 데이터, CC-BY-NC-4.0. 원래 질문: In relation to the Ringtone element visible on this interface, which element is positioned directly below it? 예시 정답 B: Once / 只响一次.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[30초 배분 · 0:40–1:10]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먼저 여섯 개 언어로 질문과 화면을 조합했습니다. 여러 조건을 고려해도 언어가 같을 때 추가 이득이 있었고, 관계를 묻는 REL 문제에서 차이가 가장 컸습니다. REL을 다시 나누니 화면 글자를 읽어야 하는 문제에 불이익이 집중됐습니다. 그래서 문장 전체와 대상 이름 중 무엇이 중요한지 나눠 봤습니다.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연구 흐름 및 REL에서 효과가 가장 컸다는 비교: 이번 사용자 제공 내용. 기존 REL 분해 근거: mpr-gui-crosslocale-rel-annotation-ui/01_code/results/analysis/README_KO.md. 관찰적 분류이며 단일 원인의 인과효과로 확정하지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[35초 배분 · 1:10–1:45]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영어 질문과 중국어 화면을 예로 들겠습니다. O는 원문입니다. R은 대상 이름만 중국어로, C는 이름을 제외한 나머지 문장만 중국어로 바꿉니다. F는 둘 다 바꿉니다. 화면과 정답은 고정합니다. 이렇게 비교하면 이름을 맞추는 것과 문장을 번역하는 것 중 어느 쪽이 더 도움이 되는지 확인할 수 있습니다.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O=(reference_alignment 0,context_localization 0), R=(1,0), C=(0,1), F=(1,1). 질문과 A–D 보기 모두 조작. label_provenance=parallel_qas_text_proxy, human_reviewed=false.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[20초 배분 · 1:45–2:05]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366개 문항을 준비하고, 네 개 언어와 Qwen, InternVL 두 모델에서 실험했습니다. 데이터 생성과 전체 추론, 통계 분석까지 마쳤습니다. 제외 기준을 적용해 364문항을 분석했고, 번역과 화면을 대조하는 검수는 진행 중입니다.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outputs/orcf_review_20261008/item_cluster_bootstrap_review.json (2026-10-08), source_commit=a9f58c3. https://github.com/dltmdwoOS/mpr-gui-crosslocale/tree/a9f58c3/followup_rel_4lang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실제 추론 모델당 18,432건, 23,424조건 행. 주 분석 모델당 17,168행, 4,292 quartet. dependent 301문항, independent 63문항. Qwen batch32 완료본 사용. 9월 AI 1차 검수 237기록은 사람 전수 검수와 다름.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[40초 배분 · 2:05–2:45]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결과를 보면 이름을 바꾼 R과 둘 다 바꾼 F가 높고, 문장만 바꾼 C는 원문보다 좋아지지 않았습니다. 이름만 맞췄을 때 두 모델 모두 정답률이 약 11퍼센트포인트 높아졌습니다. 반면 화면 글자가 필요 없는 문제에서는 뚜렷한 개선을 확인하지 못했습니다. 현재 결과는 문장 전체보다 대상 이름을 맞추는 것이 회복의 큰 부분을 차지한다는 단서입니다.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outputs/orcf_review_20261008/item_cluster_bootstrap_review.json (2026-10-08), source_commit=a9f58c3. https://github.com/dltmdwoOS/mpr-gui-crosslocale/tree/a9f58c3/followup_rel_4lang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정확도: InternVL O=47.427%, R=58.110%, Qwen O=60.598%, R=71.700%. dependent 301문항, 모델당 3,576 방향성 언어쌍 quartet, 행 가중 정확도. R−O 문항 cluster bootstrap 95% CI: InternVL [8.668,12.750]%p, Qwen [8.697,13.542]%p, 10,000 draws. independent R−O: InternVL −0.838%p [−3.572,1.667], Qwen +1.536%p [−0.286,3.693]. 유의하지 않은 차이를 동등성으로 해석하지 않음.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문맥 효과가 항상 0이라는 뜻은 아니다. Qwen dependent에서 F−R=+1.538pp, interaction=+4.195pp. Referent 효과가 거의 사라짐은 작은 관측 대비를 쉽게 설명한 표현이며 동등성 검정 결론이 아니다.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[40초 배분 · 2:45–3:25]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다음에는 대상을 찾는 단계부터 어려운지 확인하겠습니다. 먼저 사람이 화면 속 대상에 정답 사각형을 표시합니다. AI에게 O와 R의 이름을 각각 주고 해당 위치에 점을 찍게 합니다. 점이 사각형 안에 들어오면 정답입니다. 이름을 바꾼 뒤 대상을 찾게 된 사례에서, 관계 문제도 함께 정답으로 바뀌는지 보겠습니다. 아직 수행 전인 실험 계획입니다.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제안한 Grounding Diagnostic. 아직 수행하지 않은 계획. 각 query의 referent element에만 수작업 GT bbox annotation. 동일 화면에서 O/R 표현별로 explicit point grounding task: “{referent}가 가리키는 GUI element에 점을 (x,y)로 하나 찍어라.” point-in-box accuracy는 예측 점이 GT bbox 안이면 1, 밖이면 0. 원본 이미지 크기와 좌표계 고정, 잘못된 출력 형식·영역 모호성 처리 규칙 사전 명시가 필요하다. 동일 model/item/language pair/referent 단위로 O/R grounding 0→1과 REL 0→1의 공동 전이를 확인한다. 명시적 grounding과 원래 REL 추론은 다른 프롬프트이므로 공동 교정은 기전의 진단 증거이며 인과적 매개를 단독 증명하지 않는다. 대상 표현이 여러 개라면 각 표현의 성공과 REL 결과의 집계 기준을 먼저 정한다.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[25초 배분 · 3:25–3:50]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핵심 질문은 대상을 못 찾는 건지, 찾고도 관계를 틀리는 건지입니다. 이를 확인한 뒤 필요한 대상 이름만 두 단계로 맞추는 방법을 검토하려고 합니다. 다국어 선행연구와 진단 결과를 함께 보면서 방법을 구체화하겠습니다. 감사합니다.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 제안: selective referent-only two-stage localization / Selective Referent Alignment. 화면 표현 확인 후 필요한 referent만 정렬하는 두 단계는 발표에서 쉽게 풀어쓴 구상이며, 구현·성능 검증이 완료된 방법이 아니다. Context까지 영어 등 모델에 쉬운 언어로 바꾸는 대안도 가능하지만, 현재의 referent 역할 분리라는 연구 질문과 구분해 후순위로 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Text-dependent REL은 화면의 글자를 읽어야 풀 수 있는 문제입니다. R−O와 F−C가 크게 양수이고, C−O와 F−R은 상대적으로 작습니다. 문맥 효과가 전혀 없거나 referent만 유일한 원인이라는 뜻은 아닙니다.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전체 2×2 설계의 조건·대비. 통계적 해석은 문항 bootstrap과 GLMM 등 추정 방식의 차이를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Text-independent REL은 화면의 글자를 읽지 않아도 풀 수 있는 문제입니다. referent 관련 평균 대비는 dependent보다 작고, 문항 bootstrap 95% 구간이 0을 포함합니다. 효과가 정확히 0이거나 두 조건이 동등하다고 확정하지 않습니다.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전체 2×2 설계의 조건·대비. 통계적 해석은 문항 bootstrap과 GLMM 등 추정 방식의 차이를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Referent는 질문과 보기에서 화면의 대상을 가리키는 표현, context는 그 외 문맥입니다. Source는 원래 질문의 언어, GUI는 화면 언어입니다. 앞으로의 방법은 selective referent-only two-stage localization을 우선 후보로 두고, 다국어 레퍼런스를 더 찾아 구체화할 계획입니다. 문맥을 영어 등 모델에 쉬운 언어로 바꾸는 것도 가능하지만 현재 RQ를 벗어나거나 엔지니어링 성격이 강해질 수 있어 구분해서 검토합니다.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 제공 Settings 표와 이후 method 구상. 방법은 아직 미확정. 영어가 모든 모델·과제에서 항상 가장 쉽다는 일반 사실로 주장하지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c05d158bc4d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a4442d9d74c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adc4b857848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284f8e02f46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7929aac7749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8fa9d3b5443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201b6b7764e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8873606b14e5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7e5ed4e3b4ae3" /><Relationship Type="http://schemas.openxmlformats.org/officeDocument/2006/relationships/image" Target="/ppt/media/image.png" Id="R33d58b7b7ed946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b21edf01d42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6d80ad594433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D3D73BB4-F5D2-476C-BF4D-15A3CC2F96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C637253-E4C4-4C8A-9E02-1D05ADBC39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11D5A59-FE4C-4AF3-90C5-41BA1AB46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9C68155-A8AA-4D89-BE6C-B22B6B9F6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6CE10B4-CFC1-4A9F-BBE3-A2F719C4EF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D21EA108-D966-450B-A9D3-35EAF10F5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164C09B-2341-4259-8A02-F7CB7EA26B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73787295-6677-473C-A56A-A9171BB189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2B12649-0555-4C35-AA54-F423B11C1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53C4909-AB5C-4E87-9EDB-4C274D5111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0FD13B7-0102-453B-B450-9868B51B75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022DCFF7-969F-4CDB-A162-2828B48EE8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9C1ACAD4-E066-47EF-A860-13CDDB373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67B74FE3-9656-47E1-8FCD-8A078A47B7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E80CF34-E7A7-4246-A70B-CBDC0856C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10843969-5678-421C-A5F6-92FED07FF0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AF9FE120-D5EB-4EEA-97A8-92136A88B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B724A80E-E5E4-4927-B360-C377FF895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CBB54C7-DE86-42E4-AD46-3E27D866C9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A2918667-ABFD-4650-966E-CB208744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8F64A27-6B5C-4B0A-BFD1-47804D598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C883CFDD-FA1F-4D5F-821F-7CA031F075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1D522461-9911-453D-A218-8E6B1E73F3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B4C0434F-995C-4749-9B7E-4DE9D6435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804D44C7-BA87-4D1D-AE8F-5514ED4A19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71F12BE9-701A-4AFC-8A50-1ADC1EA92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A73F4766-59AB-4536-B5EA-39BD9030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75" y="-84750"/>
            <a:ext cx="9254700" cy="523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0">
            <a:extLst xmlns:a="http://schemas.openxmlformats.org/drawingml/2006/main">
              <a:ext uri="{FF2B5EF4-FFF2-40B4-BE49-F238E27FC236}">
                <a16:creationId xmlns:a16="http://schemas.microsoft.com/office/drawing/2014/main" id="{69C3404B-760D-4496-B9C5-72169D128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58b7b7ed946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049750" y="3137425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Google Shape;46;p10">
            <a:extLst xmlns:a="http://schemas.openxmlformats.org/drawingml/2006/main">
              <a:ext uri="{FF2B5EF4-FFF2-40B4-BE49-F238E27FC236}">
                <a16:creationId xmlns:a16="http://schemas.microsoft.com/office/drawing/2014/main" id="{721B75B7-65AC-4F2E-89C3-C5864CE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354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>
            <a:extLst xmlns:a="http://schemas.openxmlformats.org/drawingml/2006/main">
              <a:ext uri="{FF2B5EF4-FFF2-40B4-BE49-F238E27FC236}">
                <a16:creationId xmlns:a16="http://schemas.microsoft.com/office/drawing/2014/main" id="{3F9AD633-B5B0-4EEA-94E8-62A5988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616375"/>
            <a:ext cx="335700" cy="335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>
            <a:extLst xmlns:a="http://schemas.openxmlformats.org/drawingml/2006/main">
              <a:ext uri="{FF2B5EF4-FFF2-40B4-BE49-F238E27FC236}">
                <a16:creationId xmlns:a16="http://schemas.microsoft.com/office/drawing/2014/main" id="{982E467E-DAC7-4536-8CCE-231908B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0972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088529C9-37FB-4894-B973-0ED2BBF2B390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46900" y="0"/>
            <a:ext cx="0" cy="21525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857707B8-5368-458D-9EA0-5F01133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50" y="211800"/>
            <a:ext cx="7420500" cy="4719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8E4DA744-D650-4368-972E-E134FBAC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575" y="510025"/>
            <a:ext cx="147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>
            <a:extLst xmlns:a="http://schemas.openxmlformats.org/drawingml/2006/main">
              <a:ext uri="{FF2B5EF4-FFF2-40B4-BE49-F238E27FC236}">
                <a16:creationId xmlns:a16="http://schemas.microsoft.com/office/drawing/2014/main" id="{8D95758E-51D1-4523-A09E-5680035E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8" y="59400"/>
            <a:ext cx="1129500" cy="178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8</a:t>
            </a: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</a:rPr>
              <a:t>9</a:t>
            </a:r>
            <a:r>
              <a:rPr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</a:rPr>
              <a:t>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AI </a:t>
            </a: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장학</a:t>
            </a: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59BD97C-B992-4060-939F-5E848DA2F8D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EC22E2B9-3CA0-43AA-8088-08864708C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18F5E343-4425-40F7-A713-60C7B8EBA9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B185CC79-E467-4F52-AFC1-365CEBBE5F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75b9d582d4042" /><Relationship Type="http://schemas.openxmlformats.org/officeDocument/2006/relationships/slideLayout" Target="/ppt/slideLayouts/slideLayout1.xml" Id="Rd951a634d8b743b7" /><Relationship Type="http://schemas.openxmlformats.org/officeDocument/2006/relationships/slideLayout" Target="/ppt/slideLayouts/slideLayout2.xml" Id="R64755fe5cba9424c" /><Relationship Type="http://schemas.openxmlformats.org/officeDocument/2006/relationships/slideLayout" Target="/ppt/slideLayouts/slideLayout3.xml" Id="R4cb02a553ee148a0" /><Relationship Type="http://schemas.openxmlformats.org/officeDocument/2006/relationships/slideLayout" Target="/ppt/slideLayouts/slideLayout4.xml" Id="R4d690f311cde481c" /><Relationship Type="http://schemas.openxmlformats.org/officeDocument/2006/relationships/slideLayout" Target="/ppt/slideLayouts/slideLayout5.xml" Id="R1ff0d86d29f44e16" /><Relationship Type="http://schemas.openxmlformats.org/officeDocument/2006/relationships/slideLayout" Target="/ppt/slideLayouts/slideLayout6.xml" Id="R3795da076725416e" /><Relationship Type="http://schemas.openxmlformats.org/officeDocument/2006/relationships/slideLayout" Target="/ppt/slideLayouts/slideLayout7.xml" Id="R075962014cd34993" /><Relationship Type="http://schemas.openxmlformats.org/officeDocument/2006/relationships/slideLayout" Target="/ppt/slideLayouts/slideLayout8.xml" Id="Raaf9c0a91ca845ad" /><Relationship Type="http://schemas.openxmlformats.org/officeDocument/2006/relationships/slideLayout" Target="/ppt/slideLayouts/slideLayout9.xml" Id="Rc80dd2b6be654db0" /><Relationship Type="http://schemas.openxmlformats.org/officeDocument/2006/relationships/slideLayout" Target="/ppt/slideLayouts/slideLayout10.xml" Id="Rcc437de6d15044bf" /><Relationship Type="http://schemas.openxmlformats.org/officeDocument/2006/relationships/slideLayout" Target="/ppt/slideLayouts/slideLayout11.xml" Id="R32c7a570960e41c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A7789FF-4B1B-47F2-83AC-23E26E007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E7CC8B6-3DB4-41A0-98D1-186771AFA9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1F8D7E7-DD97-497D-AAA4-70A7DA08AE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1a634d8b743b7"/>
    <p:sldLayoutId xmlns:r="http://schemas.openxmlformats.org/officeDocument/2006/relationships" id="2147483650" r:id="R64755fe5cba9424c"/>
    <p:sldLayoutId xmlns:r="http://schemas.openxmlformats.org/officeDocument/2006/relationships" id="2147483651" r:id="R4cb02a553ee148a0"/>
    <p:sldLayoutId xmlns:r="http://schemas.openxmlformats.org/officeDocument/2006/relationships" id="2147483652" r:id="R4d690f311cde481c"/>
    <p:sldLayoutId xmlns:r="http://schemas.openxmlformats.org/officeDocument/2006/relationships" id="2147483653" r:id="R1ff0d86d29f44e16"/>
    <p:sldLayoutId xmlns:r="http://schemas.openxmlformats.org/officeDocument/2006/relationships" id="2147483654" r:id="R3795da076725416e"/>
    <p:sldLayoutId xmlns:r="http://schemas.openxmlformats.org/officeDocument/2006/relationships" id="2147483655" r:id="R075962014cd34993"/>
    <p:sldLayoutId xmlns:r="http://schemas.openxmlformats.org/officeDocument/2006/relationships" id="2147483656" r:id="Raaf9c0a91ca845ad"/>
    <p:sldLayoutId xmlns:r="http://schemas.openxmlformats.org/officeDocument/2006/relationships" id="2147483657" r:id="Rc80dd2b6be654db0"/>
    <p:sldLayoutId xmlns:r="http://schemas.openxmlformats.org/officeDocument/2006/relationships" id="2147483658" r:id="Rcc437de6d15044bf"/>
    <p:sldLayoutId xmlns:r="http://schemas.openxmlformats.org/officeDocument/2006/relationships" id="2147483659" r:id="R32c7a570960e41c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266a35371e4af5" /><Relationship Type="http://schemas.openxmlformats.org/officeDocument/2006/relationships/image" Target="/ppt/media/image.png" Id="R6e78c5d8701445ed" /><Relationship Type="http://schemas.openxmlformats.org/officeDocument/2006/relationships/notesSlide" Target="/ppt/notesSlides/notesSlide1.xml" Id="R4a50a6f7741d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58ccf520a346ff" /><Relationship Type="http://schemas.openxmlformats.org/officeDocument/2006/relationships/image" Target="/ppt/media/image.png" Id="Refc440bb73ec4240" /><Relationship Type="http://schemas.openxmlformats.org/officeDocument/2006/relationships/image" Target="/ppt/media/image.jpeg" Id="R95e7f2265860465c" /><Relationship Type="http://schemas.openxmlformats.org/officeDocument/2006/relationships/notesSlide" Target="/ppt/notesSlides/notesSlide2.xml" Id="R2fa39c7915b0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4489653aceb444d" /><Relationship Type="http://schemas.openxmlformats.org/officeDocument/2006/relationships/image" Target="/ppt/media/image.png" Id="Rdb427ac0e2c24853" /><Relationship Type="http://schemas.openxmlformats.org/officeDocument/2006/relationships/notesSlide" Target="/ppt/notesSlides/notesSlide3.xml" Id="R32dd945f8065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c35c65819e349c0" /><Relationship Type="http://schemas.openxmlformats.org/officeDocument/2006/relationships/image" Target="/ppt/media/image.png" Id="Rca54e72dbc9d4f71" /><Relationship Type="http://schemas.openxmlformats.org/officeDocument/2006/relationships/notesSlide" Target="/ppt/notesSlides/notesSlide4.xml" Id="R6dbc9cc12579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34f8b86ad804f8b" /><Relationship Type="http://schemas.openxmlformats.org/officeDocument/2006/relationships/image" Target="/ppt/media/image.png" Id="R657726184a6845df" /><Relationship Type="http://schemas.openxmlformats.org/officeDocument/2006/relationships/notesSlide" Target="/ppt/notesSlides/notesSlide5.xml" Id="Rfa1c2b74c58840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b801159179c4842" /><Relationship Type="http://schemas.openxmlformats.org/officeDocument/2006/relationships/image" Target="/ppt/media/image.png" Id="R6202ac50454847f8" /><Relationship Type="http://schemas.openxmlformats.org/officeDocument/2006/relationships/chart" Target="/ppt/slides/charts/chart1.xml" Id="R10997847bee24694" /><Relationship Type="http://schemas.openxmlformats.org/officeDocument/2006/relationships/notesSlide" Target="/ppt/notesSlides/notesSlide6.xml" Id="Rc38684131c2542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e89dc706cc44db1" /><Relationship Type="http://schemas.openxmlformats.org/officeDocument/2006/relationships/image" Target="/ppt/media/image.png" Id="R84e5d80c428048ea" /><Relationship Type="http://schemas.openxmlformats.org/officeDocument/2006/relationships/notesSlide" Target="/ppt/notesSlides/notesSlide7.xml" Id="R8fff2e123c4246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1ef6c79eb2b4100" /><Relationship Type="http://schemas.openxmlformats.org/officeDocument/2006/relationships/image" Target="/ppt/media/image.png" Id="Rba73b397f6644c27" /><Relationship Type="http://schemas.openxmlformats.org/officeDocument/2006/relationships/notesSlide" Target="/ppt/notesSlides/notesSlide8.xml" Id="R93e38b8048d4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86b88f74dd34528" /><Relationship Type="http://schemas.openxmlformats.org/officeDocument/2006/relationships/image" Target="/ppt/media/image.png" Id="R82413611882b40fa" /><Relationship Type="http://schemas.openxmlformats.org/officeDocument/2006/relationships/notesSlide" Target="/ppt/notesSlides/notesSlide9.xml" Id="R6984088d77d4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5644e08edfc49d8" /><Relationship Type="http://schemas.openxmlformats.org/officeDocument/2006/relationships/image" Target="/ppt/media/image.png" Id="Ra4f2fe52b8ae425f" /><Relationship Type="http://schemas.openxmlformats.org/officeDocument/2006/relationships/notesSlide" Target="/ppt/notesSlides/notesSlide10.xml" Id="Rba014ed72c5f43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2c12f5c99314c77" /><Relationship Type="http://schemas.openxmlformats.org/officeDocument/2006/relationships/image" Target="/ppt/media/image.png" Id="R742e2742e4c44498" /><Relationship Type="http://schemas.openxmlformats.org/officeDocument/2006/relationships/notesSlide" Target="/ppt/notesSlides/notesSlide11.xml" Id="R393b2184ae2142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 원문</c:v>
          </c:tx>
          <c:spPr>
            <a:solidFill xmlns:a="http://schemas.openxmlformats.org/drawingml/2006/main">
              <a:srgbClr val="AAB6C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60.598</c:v>
                </c:pt>
                <c:pt idx="1">
                  <c:v>47.427</c:v>
                </c:pt>
              </c:numCache>
            </c:numRef>
          </c:val>
        </c:ser>
        <c:ser>
          <c:idx val="1"/>
          <c:order val="1"/>
          <c:tx>
            <c:v>R 이름 변경</c:v>
          </c:tx>
          <c:spPr>
            <a:solidFill xmlns:a="http://schemas.openxmlformats.org/drawingml/2006/main">
              <a:srgbClr val="497DB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71.7</c:v>
                </c:pt>
                <c:pt idx="1">
                  <c:v>58.11</c:v>
                </c:pt>
              </c:numCache>
            </c:numRef>
          </c:val>
        </c:ser>
        <c:ser>
          <c:idx val="2"/>
          <c:order val="2"/>
          <c:tx>
            <c:v>C 문장 변경</c:v>
          </c:tx>
          <c:spPr>
            <a:solidFill xmlns:a="http://schemas.openxmlformats.org/drawingml/2006/main">
              <a:srgbClr val="D7DCE5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57.942</c:v>
                </c:pt>
                <c:pt idx="1">
                  <c:v>47.371</c:v>
                </c:pt>
              </c:numCache>
            </c:numRef>
          </c:val>
        </c:ser>
        <c:ser>
          <c:idx val="3"/>
          <c:order val="3"/>
          <c:tx>
            <c:v>F 둘 다 변경</c:v>
          </c:tx>
          <c:spPr>
            <a:solidFill xmlns:a="http://schemas.openxmlformats.org/drawingml/2006/main">
              <a:srgbClr val="19264B"/>
            </a:solidFill>
          </c:spPr>
          <c:invertIfNegative val="0"/>
          <c:cat>
            <c:strRef>
              <c:f>'Chart Data'!$G$2:$G$3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Data'!$H$2:$H$3</c:f>
              <c:numCache>
                <c:formatCode>0"%"</c:formatCode>
                <c:ptCount val="2"/>
                <c:pt idx="0">
                  <c:v>73.238</c:v>
                </c:pt>
                <c:pt idx="1">
                  <c:v>58.753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926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E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14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406FD3F-BC51-4543-9BA2-77FEC5C6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213C216D-D03F-4711-9A46-8062D2D7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defPPr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질문과 화면의 언어가</a:t>
            </a:r>
            <a:endParaRPr sz="2500" b="1">
              <a:solidFill>
                <a:srgbClr val="19264B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다르면 AI는 헷갈릴까?</a:t>
            </a:r>
            <a:endParaRPr>
              <a:solidFill>
                <a:srgbClr val="19264B"/>
              </a:solidFill>
            </a:endParaRPr>
          </a:p>
        </p:txBody>
      </p:sp>
      <p:cxnSp>
        <p:nvCxn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FA0E79F1-9D3E-4443-876C-0DF621362DDF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B2C9C7FB-2129-438F-998E-56B08E46E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8c5d8701445e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7" name="다국어 GUI 이해 연구">
            <a:extLst xmlns:a="http://schemas.openxmlformats.org/drawingml/2006/main">
              <a:ext uri="{FF2B5EF4-FFF2-40B4-BE49-F238E27FC236}">
                <a16:creationId xmlns:a16="http://schemas.microsoft.com/office/drawing/2014/main" id="{E1E1BA8B-DDD0-4DCC-B170-E8041E9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다국어 GUI 이해 연구</a:t>
            </a:r>
          </a:p>
        </p:txBody>
      </p:sp>
      <p:sp>
        <p:nvSpPr>
          <p:cNvPr id="68" name="CUAI 9기 MM2팀   배기현 · 이승재">
            <a:extLst xmlns:a="http://schemas.openxmlformats.org/drawingml/2006/main">
              <a:ext uri="{FF2B5EF4-FFF2-40B4-BE49-F238E27FC236}">
                <a16:creationId xmlns:a16="http://schemas.microsoft.com/office/drawing/2014/main" id="{DF843724-ED62-44D6-A86F-8FEA9D69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CUAI 9기 MM2팀   배기현 · 이승재</a:t>
            </a:r>
          </a:p>
        </p:txBody>
      </p:sp>
      <p:sp>
        <p:nvSpPr>
          <p:cNvPr id="69" name="프로젝트 중간발표   2026.10.27">
            <a:extLst xmlns:a="http://schemas.openxmlformats.org/drawingml/2006/main">
              <a:ext uri="{FF2B5EF4-FFF2-40B4-BE49-F238E27FC236}">
                <a16:creationId xmlns:a16="http://schemas.microsoft.com/office/drawing/2014/main" id="{2571FB10-7AF0-4679-90E7-5C132820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프로젝트 중간발표   2026.10.27</a:t>
            </a:r>
          </a:p>
        </p:txBody>
      </p:sp>
    </p:spTree>
    <p:extLst>
      <p:ext uri="{BB962C8B-B14F-4D97-AF65-F5344CB8AC3E}">
        <p14:creationId xmlns:p14="http://schemas.microsoft.com/office/powerpoint/2010/main" val="4707686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FC06CD5D-773B-4EA8-A41A-A95F0064DF5D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50C3B0BF-49A1-47BB-9BA5-D8638A505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440bb73ec42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6">
            <a:extLst xmlns:a="http://schemas.openxmlformats.org/drawingml/2006/main"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14375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질문은 영어, 화면은 중국어라면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1C272F7-FB0E-4C4F-B235-E38800986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7f2265860465c"/>
          <a:stretch xmlns:a="http://schemas.openxmlformats.org/drawingml/2006/main"/>
        </p:blipFill>
        <p:spPr>
          <a:xfrm xmlns:a="http://schemas.openxmlformats.org/drawingml/2006/main">
            <a:off x="1619250" y="1098550"/>
            <a:ext cx="1676400" cy="3632200"/>
          </a:xfrm>
          <a:prstGeom xmlns:a="http://schemas.openxmlformats.org/drawingml/2006/main" prst="rect">
            <a:avLst/>
          </a:prstGeom>
        </p:spPr>
      </p:pic>
      <p:sp>
        <p:nvSpPr>
          <p:cNvPr id="94" name="“Ringtone 아래에 무엇이 있나요?”">
            <a:extLst xmlns:a="http://schemas.openxmlformats.org/drawingml/2006/main">
              <a:ext uri="{FF2B5EF4-FFF2-40B4-BE49-F238E27FC236}">
                <a16:creationId xmlns:a16="http://schemas.microsoft.com/office/drawing/2014/main" id="{DB0FBCF1-53EC-4119-BB70-905F771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049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“Ringtone 아래에 무엇이 있나요?”</a:t>
            </a:r>
          </a:p>
        </p:txBody>
      </p:sp>
      <p:sp>
        <p:nvSpPr>
          <p:cNvPr id="95" name="질문에서 찾는 이름은 Ringtone&#10;화면에는 중국어 이름이 표">
            <a:extLst xmlns:a="http://schemas.openxmlformats.org/drawingml/2006/main">
              <a:ext uri="{FF2B5EF4-FFF2-40B4-BE49-F238E27FC236}">
                <a16:creationId xmlns:a16="http://schemas.microsoft.com/office/drawing/2014/main" id="{BBF8A78F-2BFA-4C48-A4B5-9FA4681E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질문에서 찾는 이름은 Ringtone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화면에는 중국어 이름이 표시됨</a:t>
            </a:r>
          </a:p>
        </p:txBody>
      </p:sp>
      <p:sp>
        <p:nvSpPr>
          <p:cNvPr id="96" name="AI는 단어의 뜻과&#10;화면 속 위치를 함께 연결해야 합니다">
            <a:extLst xmlns:a="http://schemas.openxmlformats.org/drawingml/2006/main">
              <a:ext uri="{FF2B5EF4-FFF2-40B4-BE49-F238E27FC236}">
                <a16:creationId xmlns:a16="http://schemas.microsoft.com/office/drawing/2014/main" id="{96A317C5-F38B-484C-A453-195B857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24225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AI는 단어의 뜻과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화면 속 위치를 함께 연결해야 합니다</a:t>
            </a:r>
          </a:p>
        </p:txBody>
      </p:sp>
      <p:sp>
        <p:nvSpPr>
          <p:cNvPr id="97" name="실제 데이터 예시 · 질문은 이해를 돕기 위해 줄여 표기">
            <a:extLst xmlns:a="http://schemas.openxmlformats.org/drawingml/2006/main">
              <a:ext uri="{FF2B5EF4-FFF2-40B4-BE49-F238E27FC236}">
                <a16:creationId xmlns:a16="http://schemas.microsoft.com/office/drawing/2014/main" id="{7868ED2E-95B5-434D-9759-5010A5F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0075"/>
            <a:ext cx="490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실제 데이터 예시 · 질문은 이해를 돕기 위해 줄여 표기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05D76E6E-6C5C-4B39-9316-650337E987BA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1CF73D53-C2B0-4A8F-A181-B413507522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7ac0e2c2485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언어 차이의 영향을 단계별로 좁혀봤습니다">
            <a:extLst xmlns:a="http://schemas.openxmlformats.org/drawingml/2006/main">
              <a:ext uri="{FF2B5EF4-FFF2-40B4-BE49-F238E27FC236}">
                <a16:creationId xmlns:a16="http://schemas.microsoft.com/office/drawing/2014/main" id="{EDA1A302-7034-423A-82E9-AE2B968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언어 차이의 영향을 단계별로 좁혀봤습니다</a:t>
            </a:r>
          </a:p>
        </p:txBody>
      </p:sp>
      <p:sp>
        <p:nvSpPr>
          <p:cNvPr id="93" name="01">
            <a:extLst xmlns:a="http://schemas.openxmlformats.org/drawingml/2006/main">
              <a:ext uri="{FF2B5EF4-FFF2-40B4-BE49-F238E27FC236}">
                <a16:creationId xmlns:a16="http://schemas.microsoft.com/office/drawing/2014/main" id="{D000E724-2ECF-4E18-8C28-C09A39B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049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4" name="언어 조합 비교">
            <a:extLst xmlns:a="http://schemas.openxmlformats.org/drawingml/2006/main">
              <a:ext uri="{FF2B5EF4-FFF2-40B4-BE49-F238E27FC236}">
                <a16:creationId xmlns:a16="http://schemas.microsoft.com/office/drawing/2014/main" id="{61D937CA-4553-4881-B787-3BF5F3AD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66825"/>
            <a:ext cx="622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언어 조합 비교</a:t>
            </a:r>
          </a:p>
        </p:txBody>
      </p:sp>
      <p:sp>
        <p:nvSpPr>
          <p:cNvPr id="95" name="여러 조건을 고려해도, 질문과 화면의 언어가 같을 때 추가 이득">
            <a:extLst xmlns:a="http://schemas.openxmlformats.org/drawingml/2006/main">
              <a:ext uri="{FF2B5EF4-FFF2-40B4-BE49-F238E27FC236}">
                <a16:creationId xmlns:a16="http://schemas.microsoft.com/office/drawing/2014/main" id="{73892F51-C30D-4B6E-B6D8-846E750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859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여러 조건을 고려해도, 질문과 화면의 언어가 같을 때 추가 이득</a:t>
            </a:r>
          </a:p>
        </p:txBody>
      </p:sp>
      <p:sp>
        <p:nvSpPr>
          <p:cNvPr id="96" name="02">
            <a:extLst xmlns:a="http://schemas.openxmlformats.org/drawingml/2006/main">
              <a:ext uri="{FF2B5EF4-FFF2-40B4-BE49-F238E27FC236}">
                <a16:creationId xmlns:a16="http://schemas.microsoft.com/office/drawing/2014/main" id="{C513A2AE-63F2-4AB2-A0C5-F7759A8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6220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7" name="문제 유형 비교">
            <a:extLst xmlns:a="http://schemas.openxmlformats.org/drawingml/2006/main">
              <a:ext uri="{FF2B5EF4-FFF2-40B4-BE49-F238E27FC236}">
                <a16:creationId xmlns:a16="http://schemas.microsoft.com/office/drawing/2014/main" id="{8A11D9BD-A6E6-42F6-988F-1A26569F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24100"/>
            <a:ext cx="622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문제 유형 비교</a:t>
            </a:r>
          </a:p>
        </p:txBody>
      </p:sp>
      <p:sp>
        <p:nvSpPr>
          <p:cNvPr id="98" name="그 차이가 관계를 묻는 문제인 REL에서 가장 컸음">
            <a:extLst xmlns:a="http://schemas.openxmlformats.org/drawingml/2006/main">
              <a:ext uri="{FF2B5EF4-FFF2-40B4-BE49-F238E27FC236}">
                <a16:creationId xmlns:a16="http://schemas.microsoft.com/office/drawing/2014/main" id="{3FFCF8D2-262F-4081-8F80-7912ADAB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43200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그 차이가 관계를 묻는 문제인 REL에서 가장 컸음</a:t>
            </a:r>
          </a:p>
        </p:txBody>
      </p:sp>
      <p:sp>
        <p:nvSpPr>
          <p:cNvPr id="99" name="03">
            <a:extLst xmlns:a="http://schemas.openxmlformats.org/drawingml/2006/main">
              <a:ext uri="{FF2B5EF4-FFF2-40B4-BE49-F238E27FC236}">
                <a16:creationId xmlns:a16="http://schemas.microsoft.com/office/drawing/2014/main" id="{14D097E9-84C7-4EA3-B56E-A088869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194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0" name="REL을 다시 분류">
            <a:extLst xmlns:a="http://schemas.openxmlformats.org/drawingml/2006/main">
              <a:ext uri="{FF2B5EF4-FFF2-40B4-BE49-F238E27FC236}">
                <a16:creationId xmlns:a16="http://schemas.microsoft.com/office/drawing/2014/main" id="{F46DB095-75C8-4CD6-A2EE-5B9C944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1375"/>
            <a:ext cx="622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REL을 다시 분류</a:t>
            </a:r>
          </a:p>
        </p:txBody>
      </p:sp>
      <p:sp>
        <p:nvSpPr>
          <p:cNvPr id="101" name="불일치의 불이익은 화면 글자를 읽어야 하는 문제에 집중">
            <a:extLst xmlns:a="http://schemas.openxmlformats.org/drawingml/2006/main">
              <a:ext uri="{FF2B5EF4-FFF2-40B4-BE49-F238E27FC236}">
                <a16:creationId xmlns:a16="http://schemas.microsoft.com/office/drawing/2014/main" id="{ECC32701-21C4-45C3-A954-5F055083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004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불일치의 불이익은 화면 글자를 읽어야 하는 문제에 집중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82BD9E13-4E0C-4E43-88D4-7802EC6DCF90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480B0E55-8B41-47AF-B40B-08A7A155B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4e72dbc9d4f7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6">
            <a:extLst xmlns:a="http://schemas.openxmlformats.org/drawingml/2006/main"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14375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대상 이름과 나머지 문장을 나눠 바꿨습니다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93" name="예: 영어 질문과 중국어 화면을 비교할 때">
            <a:extLst xmlns:a="http://schemas.openxmlformats.org/drawingml/2006/main">
              <a:ext uri="{FF2B5EF4-FFF2-40B4-BE49-F238E27FC236}">
                <a16:creationId xmlns:a16="http://schemas.microsoft.com/office/drawing/2014/main" id="{19D9C15D-DF51-497F-BA4E-6D9B6E3B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572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예: 영어 질문과 중국어 화면을 비교할 때</a:t>
            </a:r>
          </a:p>
        </p:txBody>
      </p:sp>
      <p:graphicFrame>
        <p:nvGraphicFrame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2BFAF0-2D62-407E-8E13-280C9E0771F9}"/>
              </a:ext>
            </a:extLst>
          </p:cNvPr>
          <p:cNvGraphicFramePr/>
          <p:nvPr/>
        </p:nvGraphicFramePr>
        <p:xfrm>
          <a:off xmlns:a="http://schemas.openxmlformats.org/drawingml/2006/main" x="1581150" y="1590675"/>
          <a:ext xmlns:a="http://schemas.openxmlformats.org/drawingml/2006/main" cx="69723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095500"/>
                <a:gridCol w="2095500"/>
              </a:tblGrid>
              <a:tr h="483870"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대상 이름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나머지 문장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원문 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이름만 변경 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문장만 변경 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둘 다 변경 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EA"/>
                      </a:solidFill>
                      <a:prstDash val="solid"/>
                    </a:lnR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화면과 정답은 고정하고, 질문과 보기의 표현을 바꿨습니다">
            <a:extLst xmlns:a="http://schemas.openxmlformats.org/drawingml/2006/main">
              <a:ext uri="{FF2B5EF4-FFF2-40B4-BE49-F238E27FC236}">
                <a16:creationId xmlns:a16="http://schemas.microsoft.com/office/drawing/2014/main" id="{DE9977CD-999E-49FD-BCAD-CB12B93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76725"/>
            <a:ext cx="697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화면과 정답은 고정하고, 질문과 보기의 표현을 바꿨습니다</a:t>
            </a:r>
          </a:p>
        </p:txBody>
      </p:sp>
      <p:sp>
        <p:nvSpPr>
          <p:cNvPr id="96" name="이름은 기존 다국어 문항에서 가져왔으며 실제 화면과의 검수는 진">
            <a:extLst xmlns:a="http://schemas.openxmlformats.org/drawingml/2006/main">
              <a:ext uri="{FF2B5EF4-FFF2-40B4-BE49-F238E27FC236}">
                <a16:creationId xmlns:a16="http://schemas.microsoft.com/office/drawing/2014/main" id="{AAB8A0AC-9109-4A4F-9F40-FDB040E0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76775"/>
            <a:ext cx="697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이름은 기존 다국어 문항에서 가져왔으며 실제 화면과의 검수는 진행 중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F6A542AB-A851-46E0-8341-97398C34A237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8EDA4EB6-0F9E-4AA7-B058-769D819AF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726184a6845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p16">
            <a:extLst xmlns:a="http://schemas.openxmlformats.org/drawingml/2006/main"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14375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지금까지 데이터 준비와 모델 실험을 마쳤습니다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93" name="366문항">
            <a:extLst xmlns:a="http://schemas.openxmlformats.org/drawingml/2006/main">
              <a:ext uri="{FF2B5EF4-FFF2-40B4-BE49-F238E27FC236}">
                <a16:creationId xmlns:a16="http://schemas.microsoft.com/office/drawing/2014/main" id="{7DB0156F-D825-4258-A826-8D18AABB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366문항</a:t>
            </a:r>
          </a:p>
        </p:txBody>
      </p:sp>
      <p:sp>
        <p:nvSpPr>
          <p:cNvPr id="94" name="화면 글자가 필요한 302개&#10;그렇지 않은 64개">
            <a:extLst xmlns:a="http://schemas.openxmlformats.org/drawingml/2006/main">
              <a:ext uri="{FF2B5EF4-FFF2-40B4-BE49-F238E27FC236}">
                <a16:creationId xmlns:a16="http://schemas.microsoft.com/office/drawing/2014/main" id="{83561298-5634-4E4F-8C58-9216051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19275"/>
            <a:ext cx="314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 글자가 필요한 302개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그렇지 않은 64개</a:t>
            </a:r>
          </a:p>
        </p:txBody>
      </p:sp>
      <p:sp>
        <p:nvSpPr>
          <p:cNvPr id="95" name="4개 언어 · 2개 AI 모델">
            <a:extLst xmlns:a="http://schemas.openxmlformats.org/drawingml/2006/main">
              <a:ext uri="{FF2B5EF4-FFF2-40B4-BE49-F238E27FC236}">
                <a16:creationId xmlns:a16="http://schemas.microsoft.com/office/drawing/2014/main" id="{75A392A5-844D-4FAD-8433-5B32BA8C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4개 언어 · 2개 AI 모델</a:t>
            </a:r>
          </a:p>
        </p:txBody>
      </p:sp>
      <p:sp>
        <p:nvSpPr>
          <p:cNvPr id="96" name="영어, 중국어, 태국어, 러시아어&#10;Qwen과 InternVL">
            <a:extLst xmlns:a="http://schemas.openxmlformats.org/drawingml/2006/main">
              <a:ext uri="{FF2B5EF4-FFF2-40B4-BE49-F238E27FC236}">
                <a16:creationId xmlns:a16="http://schemas.microsoft.com/office/drawing/2014/main" id="{F42B1497-5564-4DA1-A100-1F761661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790700"/>
            <a:ext cx="3667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영어, 중국어, 태국어, 러시아어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Qwen2.5-VL-7B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InternVL2.5-8B</a:t>
            </a:r>
          </a:p>
        </p:txBody>
      </p:sp>
      <p:sp>
        <p:nvSpPr>
          <p:cNvPr id="97" name="완료   조건별 데이터 생성, 전체 추론, 통계 분석">
            <a:extLst xmlns:a="http://schemas.openxmlformats.org/drawingml/2006/main">
              <a:ext uri="{FF2B5EF4-FFF2-40B4-BE49-F238E27FC236}">
                <a16:creationId xmlns:a16="http://schemas.microsoft.com/office/drawing/2014/main" id="{36622B0E-0DFA-4C6F-9E55-409664C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38475"/>
            <a:ext cx="697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완료   조건별 데이터 생성, 전체 추론, 통계 분석</a:t>
            </a:r>
          </a:p>
        </p:txBody>
      </p:sp>
      <p:sp>
        <p:nvSpPr>
          <p:cNvPr id="98" name="진행 중   번역·추출 오류 확인과 화면 대조">
            <a:extLst xmlns:a="http://schemas.openxmlformats.org/drawingml/2006/main">
              <a:ext uri="{FF2B5EF4-FFF2-40B4-BE49-F238E27FC236}">
                <a16:creationId xmlns:a16="http://schemas.microsoft.com/office/drawing/2014/main" id="{90D536CD-EF14-4C50-B2DC-07FF2E81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697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진행 중   번역·추출 오류 확인과 화면 대조</a:t>
            </a:r>
          </a:p>
        </p:txBody>
      </p:sp>
      <p:sp>
        <p:nvSpPr>
          <p:cNvPr id="99" name="분석에는 제외 기준을 적용한 364문항을 사용했습니다">
            <a:extLst xmlns:a="http://schemas.openxmlformats.org/drawingml/2006/main">
              <a:ext uri="{FF2B5EF4-FFF2-40B4-BE49-F238E27FC236}">
                <a16:creationId xmlns:a16="http://schemas.microsoft.com/office/drawing/2014/main" id="{0FE453CF-EF98-4F1D-BC8E-726708A4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분석에는 제외 기준을 적용한 364문항을 사용했습니다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8DC1B356-0575-4888-AF29-F1CD7EE00197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0CDFFEC5-987C-4C7A-A319-0E9556E73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2ac50454847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문장 전체보다 대상 이름을 맞출 때 개선이 컸습니다">
            <a:extLst xmlns:a="http://schemas.openxmlformats.org/drawingml/2006/main">
              <a:ext uri="{FF2B5EF4-FFF2-40B4-BE49-F238E27FC236}">
                <a16:creationId xmlns:a16="http://schemas.microsoft.com/office/drawing/2014/main" id="{1DE0CB7A-3AB9-4181-91CE-8A92AB11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문장 전체보다 대상 이름을 맞출 때 개선이 컸습니다</a:t>
            </a:r>
          </a:p>
        </p:txBody>
      </p:sp>
      <p:sp>
        <p:nvSpPr>
          <p:cNvPr id="93" name="화면 글자를 읽어야 하는 REL 301문항의 정답률">
            <a:extLst xmlns:a="http://schemas.openxmlformats.org/drawingml/2006/main">
              <a:ext uri="{FF2B5EF4-FFF2-40B4-BE49-F238E27FC236}">
                <a16:creationId xmlns:a16="http://schemas.microsoft.com/office/drawing/2014/main" id="{BC114CB3-3570-4151-9E69-E6D0B01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19175"/>
            <a:ext cx="697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화면 글자를 읽어야 하는 REL 301문항의 정답률</a:t>
            </a:r>
          </a:p>
        </p:txBody>
      </p:sp>
      <p:graphicFrame>
        <p:nvGraphicFramePr>
          <p:cNvPr id="94" name="Chart">
            <a:extLst xmlns:a="http://schemas.openxmlformats.org/drawingml/2006/main">
              <a:ext uri="{FF2B5EF4-FFF2-40B4-BE49-F238E27FC236}">
                <a16:creationId xmlns:a16="http://schemas.microsoft.com/office/drawing/2014/main" id="{4027A070-0B2A-4FEB-9DF7-C5DDCC8662A0}"/>
              </a:ext>
            </a:extLst>
          </p:cNvPr>
          <p:cNvGraphicFramePr/>
          <p:nvPr/>
        </p:nvGraphicFramePr>
        <p:xfrm>
          <a:off xmlns:a="http://schemas.openxmlformats.org/drawingml/2006/main" x="1581150" y="1476375"/>
          <a:ext xmlns:a="http://schemas.openxmlformats.org/drawingml/2006/main" cx="6896100" cy="2505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997847bee24694"/>
          </a:graphicData>
        </a:graphic>
      </p:graphicFrame>
      <p:sp>
        <p:nvSpPr>
          <p:cNvPr id="95" name="이름만 변경(R−O)   Qwen +11.1%p / InternVL +10.7%p">
            <a:extLst xmlns:a="http://schemas.openxmlformats.org/drawingml/2006/main">
              <a:ext uri="{FF2B5EF4-FFF2-40B4-BE49-F238E27FC236}">
                <a16:creationId xmlns:a16="http://schemas.microsoft.com/office/drawing/2014/main" id="{A92B22BF-DC6E-4FB5-B177-51F760D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48125"/>
            <a:ext cx="701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이름만 변경(R−O)   Qwen +11.1%p / InternVL +10.7%p</a:t>
            </a:r>
          </a:p>
        </p:txBody>
      </p:sp>
      <p:sp>
        <p:nvSpPr>
          <p:cNvPr id="96" name="글자가 필요 없는 문제에서는 +1.5%p / −0.8%p로, 뚜렷한 개선 없음">
            <a:extLst xmlns:a="http://schemas.openxmlformats.org/drawingml/2006/main">
              <a:ext uri="{FF2B5EF4-FFF2-40B4-BE49-F238E27FC236}">
                <a16:creationId xmlns:a16="http://schemas.microsoft.com/office/drawing/2014/main" id="{572EDCDF-1137-48F2-81FA-0ECCCBB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701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글자가 필요 없는 문제에서는 +1.5%p / −0.8%p로, 뚜렷한 개선 없음</a:t>
            </a:r>
          </a:p>
        </p:txBody>
      </p:sp>
      <p:sp>
        <p:nvSpPr>
          <p:cNvPr id="97" name="현재 생성본 기준. 전수 검수는 진행 중이며, 개선이 작다는 것이 동등성을 뜻하지">
            <a:extLst xmlns:a="http://schemas.openxmlformats.org/drawingml/2006/main">
              <a:ext uri="{FF2B5EF4-FFF2-40B4-BE49-F238E27FC236}">
                <a16:creationId xmlns:a16="http://schemas.microsoft.com/office/drawing/2014/main" id="{EEEBFB05-69C6-418B-97E0-6BF5A7C7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701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현재 생성본 기준. 전수 검수는 진행 중이며, 개선이 작다는 것이 동등성을 뜻하지는 않음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A6496782-1703-4FA9-B821-7C398EA7CB09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80199F2E-479F-47D6-8A11-8A84ACD69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5d80c428048e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다음 실험은 화면에서 대상을 찾는 능력을 봅니다">
            <a:extLst xmlns:a="http://schemas.openxmlformats.org/drawingml/2006/main">
              <a:ext uri="{FF2B5EF4-FFF2-40B4-BE49-F238E27FC236}">
                <a16:creationId xmlns:a16="http://schemas.microsoft.com/office/drawing/2014/main" id="{64E88396-DECF-492A-A12F-03A0400E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다음 실험은 화면에서 대상을 찾는 능력을 봅니다</a:t>
            </a:r>
          </a:p>
        </p:txBody>
      </p:sp>
      <p:sp>
        <p:nvSpPr>
          <p:cNvPr id="93" name="Grounding = 말로 지칭한 대상을 화면에서 찾는 것">
            <a:extLst xmlns:a="http://schemas.openxmlformats.org/drawingml/2006/main">
              <a:ext uri="{FF2B5EF4-FFF2-40B4-BE49-F238E27FC236}">
                <a16:creationId xmlns:a16="http://schemas.microsoft.com/office/drawing/2014/main" id="{50387AB2-8940-43D9-A9CE-1C142C2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66800"/>
            <a:ext cx="697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Grounding = 말로 지칭한 대상을 화면에서 찾는 것</a:t>
            </a:r>
          </a:p>
        </p:txBody>
      </p:sp>
      <p:sp>
        <p:nvSpPr>
          <p:cNvPr id="94" name="1">
            <a:extLst xmlns:a="http://schemas.openxmlformats.org/drawingml/2006/main">
              <a:ext uri="{FF2B5EF4-FFF2-40B4-BE49-F238E27FC236}">
                <a16:creationId xmlns:a16="http://schemas.microsoft.com/office/drawing/2014/main" id="{3895F383-365F-4A9F-8AED-C5C4A4DD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240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5" name="사람이 정답 영역 표시">
            <a:extLst xmlns:a="http://schemas.openxmlformats.org/drawingml/2006/main">
              <a:ext uri="{FF2B5EF4-FFF2-40B4-BE49-F238E27FC236}">
                <a16:creationId xmlns:a16="http://schemas.microsoft.com/office/drawing/2014/main" id="{13669A89-16BC-4B47-8BAE-8B0DC8F3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85925"/>
            <a:ext cx="643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사람이 정답 영역 표시</a:t>
            </a:r>
          </a:p>
        </p:txBody>
      </p:sp>
      <p:sp>
        <p:nvSpPr>
          <p:cNvPr id="96" name="질문 속 대상의 위치를 사각형(bbox)으로 표시">
            <a:extLst xmlns:a="http://schemas.openxmlformats.org/drawingml/2006/main">
              <a:ext uri="{FF2B5EF4-FFF2-40B4-BE49-F238E27FC236}">
                <a16:creationId xmlns:a16="http://schemas.microsoft.com/office/drawing/2014/main" id="{655496F8-F356-48A7-A00B-3EE4200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0"/>
            <a:ext cx="6438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질문 속 대상의 위치를 사각형(bbox)으로 표시</a:t>
            </a:r>
          </a:p>
        </p:txBody>
      </p:sp>
      <p:sp>
        <p:nvSpPr>
          <p:cNvPr id="97" name="2">
            <a:extLst xmlns:a="http://schemas.openxmlformats.org/drawingml/2006/main">
              <a:ext uri="{FF2B5EF4-FFF2-40B4-BE49-F238E27FC236}">
                <a16:creationId xmlns:a16="http://schemas.microsoft.com/office/drawing/2014/main" id="{D2995774-77E8-430B-B414-07F3207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47950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8" name="AI가 대상 위치에 점 찍기">
            <a:extLst xmlns:a="http://schemas.openxmlformats.org/drawingml/2006/main">
              <a:ext uri="{FF2B5EF4-FFF2-40B4-BE49-F238E27FC236}">
                <a16:creationId xmlns:a16="http://schemas.microsoft.com/office/drawing/2014/main" id="{50B2AFD0-635A-49FD-B744-5B634837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643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AI가 대상 위치에 점 찍기</a:t>
            </a:r>
          </a:p>
        </p:txBody>
      </p:sp>
      <p:sp>
        <p:nvSpPr>
          <p:cNvPr id="99" name="O와 R의 표현을 각각 주고 좌표 (x, y) 하나를 출력">
            <a:extLst xmlns:a="http://schemas.openxmlformats.org/drawingml/2006/main">
              <a:ext uri="{FF2B5EF4-FFF2-40B4-BE49-F238E27FC236}">
                <a16:creationId xmlns:a16="http://schemas.microsoft.com/office/drawing/2014/main" id="{6FA1B7F1-41E8-4E6E-A13B-D86CD7EB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19425"/>
            <a:ext cx="6438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O와 R의 표현을 각각 주고 좌표 (x, y) 하나를 출력</a:t>
            </a:r>
          </a:p>
        </p:txBody>
      </p:sp>
      <p:sp>
        <p:nvSpPr>
          <p:cNvPr id="100" name="3">
            <a:extLst xmlns:a="http://schemas.openxmlformats.org/drawingml/2006/main">
              <a:ext uri="{FF2B5EF4-FFF2-40B4-BE49-F238E27FC236}">
                <a16:creationId xmlns:a16="http://schemas.microsoft.com/office/drawing/2014/main" id="{4B4CC5FA-5B6E-43A8-ABE1-21F52DE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7187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1" name="대상 찾기와 관계 정답 함께 비교">
            <a:extLst xmlns:a="http://schemas.openxmlformats.org/drawingml/2006/main">
              <a:ext uri="{FF2B5EF4-FFF2-40B4-BE49-F238E27FC236}">
                <a16:creationId xmlns:a16="http://schemas.microsoft.com/office/drawing/2014/main" id="{FE427E2D-E0E8-4A9B-9E8D-F5B8CCC0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33775"/>
            <a:ext cx="643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대상 찾기와 관계 정답 함께 비교</a:t>
            </a:r>
          </a:p>
        </p:txBody>
      </p:sp>
      <p:sp>
        <p:nvSpPr>
          <p:cNvPr id="102" name="점이 정답 영역 안에 드는지, REL 정답도 함께 바뀌는지 확인">
            <a:extLst xmlns:a="http://schemas.openxmlformats.org/drawingml/2006/main">
              <a:ext uri="{FF2B5EF4-FFF2-40B4-BE49-F238E27FC236}">
                <a16:creationId xmlns:a16="http://schemas.microsoft.com/office/drawing/2014/main" id="{B5A58680-9801-4D62-B342-EFB94F01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43350"/>
            <a:ext cx="6438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점이 정답 영역 안에 드는지, REL 정답도 함께 바뀌는지 확인</a:t>
            </a:r>
          </a:p>
        </p:txBody>
      </p:sp>
      <p:sp>
        <p:nvSpPr>
          <p:cNvPr id="103" name="계획 단계 · “대상 찾기 오답→정답” 사례에서 “REL 오답→정답”도 나타나는지">
            <a:extLst xmlns:a="http://schemas.openxmlformats.org/drawingml/2006/main">
              <a:ext uri="{FF2B5EF4-FFF2-40B4-BE49-F238E27FC236}">
                <a16:creationId xmlns:a16="http://schemas.microsoft.com/office/drawing/2014/main" id="{26819B36-38F8-48F3-AFF2-CE5967E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계획 단계 · “대상 찾기 오답→정답” 사례에서 “REL 오답→정답”도 나타나는지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5257FDEF-4821-464F-86E2-A4F24A7A3761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DC236FE5-08D2-4675-9106-B6FA863F5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3b397f6644c2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대상을 못 찾는 걸까,&#10;찾고도 관계를 틀리는 걸까?">
            <a:extLst xmlns:a="http://schemas.openxmlformats.org/drawingml/2006/main">
              <a:ext uri="{FF2B5EF4-FFF2-40B4-BE49-F238E27FC236}">
                <a16:creationId xmlns:a16="http://schemas.microsoft.com/office/drawing/2014/main" id="{040F3459-F255-4388-91E1-A542C40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38250"/>
            <a:ext cx="695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대상을 못 찾는 걸까,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찾고도 관계를 틀리는 걸까?</a:t>
            </a:r>
          </a:p>
        </p:txBody>
      </p:sp>
      <p:sp>
        <p:nvSpPr>
          <p:cNvPr id="93" name="먼저 확인할 것">
            <a:extLst xmlns:a="http://schemas.openxmlformats.org/drawingml/2006/main">
              <a:ext uri="{FF2B5EF4-FFF2-40B4-BE49-F238E27FC236}">
                <a16:creationId xmlns:a16="http://schemas.microsoft.com/office/drawing/2014/main" id="{91A29E7D-7ECC-420C-9615-BDEACBF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먼저 확인할 것</a:t>
            </a:r>
          </a:p>
        </p:txBody>
      </p:sp>
      <p:sp>
        <p:nvSpPr>
          <p:cNvPr id="94" name="이름을 맞춘 뒤 대상 찾기와 관계 정답이 함께 좋아지는지">
            <a:extLst xmlns:a="http://schemas.openxmlformats.org/drawingml/2006/main">
              <a:ext uri="{FF2B5EF4-FFF2-40B4-BE49-F238E27FC236}">
                <a16:creationId xmlns:a16="http://schemas.microsoft.com/office/drawing/2014/main" id="{828B5F82-2701-4A51-839A-10506FC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4886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이름을 맞춘 뒤 대상 찾기와 관계 정답이 함께 좋아지는지</a:t>
            </a:r>
          </a:p>
        </p:txBody>
      </p:sp>
      <p:sp>
        <p:nvSpPr>
          <p:cNvPr id="95" name="후속 방법 후보">
            <a:extLst xmlns:a="http://schemas.openxmlformats.org/drawingml/2006/main">
              <a:ext uri="{FF2B5EF4-FFF2-40B4-BE49-F238E27FC236}">
                <a16:creationId xmlns:a16="http://schemas.microsoft.com/office/drawing/2014/main" id="{B8C104C0-19A0-407D-BDBA-8E460C6D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후속 방법 후보</a:t>
            </a:r>
          </a:p>
        </p:txBody>
      </p:sp>
      <p:sp>
        <p:nvSpPr>
          <p:cNvPr id="96" name="필요한 대상 이름만 두 단계로 맞추는 방법&#10;Selective Referent Al">
            <a:extLst xmlns:a="http://schemas.openxmlformats.org/drawingml/2006/main">
              <a:ext uri="{FF2B5EF4-FFF2-40B4-BE49-F238E27FC236}">
                <a16:creationId xmlns:a16="http://schemas.microsoft.com/office/drawing/2014/main" id="{574EFABB-2492-415E-8149-DA56E84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43325"/>
            <a:ext cx="48863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필요한 대상 이름만 두 단계로 맞추는 방법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Selective Referent Alignment</a:t>
            </a:r>
          </a:p>
        </p:txBody>
      </p:sp>
      <p:sp>
        <p:nvSpPr>
          <p:cNvPr id="97" name="다국어 선행연구를 더 살펴 방법을 구체화하겠습니다">
            <a:extLst xmlns:a="http://schemas.openxmlformats.org/drawingml/2006/main">
              <a:ext uri="{FF2B5EF4-FFF2-40B4-BE49-F238E27FC236}">
                <a16:creationId xmlns:a16="http://schemas.microsoft.com/office/drawing/2014/main" id="{1B16636A-DB35-4F89-BAEB-3651E304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695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다국어 선행연구를 더 살펴 방법을 구체화하겠습니다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DA8ED87E-AD37-4855-BAF5-F809145EC789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26FC23E4-2D33-4E7D-8BCC-8260BACC5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13611882b40f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부록 1. Text-dependent REL 전체 결과">
            <a:extLst xmlns:a="http://schemas.openxmlformats.org/drawingml/2006/main">
              <a:ext uri="{FF2B5EF4-FFF2-40B4-BE49-F238E27FC236}">
                <a16:creationId xmlns:a16="http://schemas.microsoft.com/office/drawing/2014/main" id="{C7BEDB57-8A06-4CFE-B2B3-6DFA76D6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1. Text-dependent REL 전체 결과</a:t>
            </a:r>
          </a:p>
        </p:txBody>
      </p:sp>
      <p:sp>
        <p:nvSpPr>
          <p:cNvPr id="93" name="회복의 큰 부분은 일반적인 문맥 번역보다 대상 이름의 정렬에서 나타남">
            <a:extLst xmlns:a="http://schemas.openxmlformats.org/drawingml/2006/main">
              <a:ext uri="{FF2B5EF4-FFF2-40B4-BE49-F238E27FC236}">
                <a16:creationId xmlns:a16="http://schemas.microsoft.com/office/drawing/2014/main" id="{51614072-4A29-4A03-83C3-9059952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38225"/>
            <a:ext cx="697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회복의 큰 부분은 일반적인 문맥 번역보다 대상 이름의 정렬에서 나타남</a:t>
            </a:r>
          </a:p>
        </p:txBody>
      </p:sp>
      <p:graphicFrame>
        <p:nvGraphicFrame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38DD04-0C6B-4230-9F4E-CC7778D3E20D}"/>
              </a:ext>
            </a:extLst>
          </p:cNvPr>
          <p:cNvGraphicFramePr/>
          <p:nvPr/>
        </p:nvGraphicFramePr>
        <p:xfrm>
          <a:off xmlns:a="http://schemas.openxmlformats.org/drawingml/2006/main" x="1581150" y="1514475"/>
          <a:ext xmlns:a="http://schemas.openxmlformats.org/drawingml/2006/main" cx="69723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52650"/>
                <a:gridCol w="2152650"/>
              </a:tblGrid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 / contrast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Qwen2.5-VL-7B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InternVL2.5-8B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60.598%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47.427%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71.700%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58.110%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57.942%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47.371%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73.238%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58.753%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− O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+11.102pp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+10.682pp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C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+15.296pp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+11.381pp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− O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−2.657pp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−0.056pp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R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+1.538pp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+0.643pp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(F−C) − (R−O)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+4.195pp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+0.699pp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pp는 %p와 같음. 대비는 반올림 전 값에서 계산해 표의 정확도 차이와 미세하게">
            <a:extLst xmlns:a="http://schemas.openxmlformats.org/drawingml/2006/main">
              <a:ext uri="{FF2B5EF4-FFF2-40B4-BE49-F238E27FC236}">
                <a16:creationId xmlns:a16="http://schemas.microsoft.com/office/drawing/2014/main" id="{66D37A6C-96FE-4135-86B3-8C615C69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48225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pp는 %p와 같음. 대비는 반올림 전 값에서 계산해 표의 정확도 차이와 미세하게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8E9004D1-5305-4F69-964A-7EDC7BC00E86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F1EC1982-DA6B-4255-8280-F1380F6528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2fe52b8ae42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부록 2. Text-independent REL 전체 결과">
            <a:extLst xmlns:a="http://schemas.openxmlformats.org/drawingml/2006/main">
              <a:ext uri="{FF2B5EF4-FFF2-40B4-BE49-F238E27FC236}">
                <a16:creationId xmlns:a16="http://schemas.microsoft.com/office/drawing/2014/main" id="{36996890-567A-47AA-8D94-87A1992F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2. Text-independent REL 전체 결과</a:t>
            </a:r>
          </a:p>
        </p:txBody>
      </p:sp>
      <p:sp>
        <p:nvSpPr>
          <p:cNvPr id="93" name="Referent 관련 대비가 작아짐. 뚜렷한 개선을 확인하지 못함">
            <a:extLst xmlns:a="http://schemas.openxmlformats.org/drawingml/2006/main">
              <a:ext uri="{FF2B5EF4-FFF2-40B4-BE49-F238E27FC236}">
                <a16:creationId xmlns:a16="http://schemas.microsoft.com/office/drawing/2014/main" id="{7D6FBCF1-83FF-4CFF-8884-9958E94D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38225"/>
            <a:ext cx="697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Referent 관련 대비가 작아짐. 뚜렷한 개선을 확인하지 못함</a:t>
            </a:r>
          </a:p>
        </p:txBody>
      </p:sp>
      <p:graphicFrame>
        <p:nvGraphicFrame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666F12-F4CC-43FF-8793-C46B62857367}"/>
              </a:ext>
            </a:extLst>
          </p:cNvPr>
          <p:cNvGraphicFramePr/>
          <p:nvPr/>
        </p:nvGraphicFramePr>
        <p:xfrm>
          <a:off xmlns:a="http://schemas.openxmlformats.org/drawingml/2006/main" x="1581150" y="1514475"/>
          <a:ext xmlns:a="http://schemas.openxmlformats.org/drawingml/2006/main" cx="69723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52650"/>
                <a:gridCol w="2152650"/>
              </a:tblGrid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 / contrast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Qwen2.5-VL-7B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InternVL2.5-8B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68.575%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59.916%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70.112%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59.078%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66.760%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58.799%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accuracy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69.134%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59.777%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− O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+1.536pp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−0.838pp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C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+2.374pp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+0.978pp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− O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−1.816pp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−1.117pp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R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−0.978pp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+0.698pp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(F−C) − (R−O)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+0.838pp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+1.816pp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pp는 %p와 같음. 대비는 반올림 전 값에서 계산해 표의 정확도 차이와 미세하게">
            <a:extLst xmlns:a="http://schemas.openxmlformats.org/drawingml/2006/main">
              <a:ext uri="{FF2B5EF4-FFF2-40B4-BE49-F238E27FC236}">
                <a16:creationId xmlns:a16="http://schemas.microsoft.com/office/drawing/2014/main" id="{5CC82744-A637-4809-8B66-781E0EF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48225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pp는 %p와 같음. 대비는 반올림 전 값에서 계산해 표의 정확도 차이와 미세하게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DA221D83-8B9C-4BB7-97BD-56AB2111F457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F54085B0-4522-4DE6-9924-47BEAC406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2742e4c4449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부록 3. 실험 설정과 후속 방법 구상">
            <a:extLst xmlns:a="http://schemas.openxmlformats.org/drawingml/2006/main">
              <a:ext uri="{FF2B5EF4-FFF2-40B4-BE49-F238E27FC236}">
                <a16:creationId xmlns:a16="http://schemas.microsoft.com/office/drawing/2014/main" id="{15EF21D5-C9D0-4DAD-9F84-61F4FA2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3. 실험 설정과 후속 방법 구상</a:t>
            </a:r>
          </a:p>
        </p:txBody>
      </p:sp>
      <p:sp>
        <p:nvSpPr>
          <p:cNvPr id="93" name="Qwen2.5-VL-7B, InternVL2.5-8B">
            <a:extLst xmlns:a="http://schemas.openxmlformats.org/drawingml/2006/main">
              <a:ext uri="{FF2B5EF4-FFF2-40B4-BE49-F238E27FC236}">
                <a16:creationId xmlns:a16="http://schemas.microsoft.com/office/drawing/2014/main" id="{04CF935F-1F0A-4DA5-8AFC-389FC89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057275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Qwen2.5-VL-7B, InternVL2.5-8B</a:t>
            </a:r>
          </a:p>
        </p:txBody>
      </p:sp>
      <p:graphicFrame>
        <p:nvGraphicFrame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41EFF4-37EA-4CA4-A70B-446E406834B3}"/>
              </a:ext>
            </a:extLst>
          </p:cNvPr>
          <p:cNvGraphicFramePr/>
          <p:nvPr/>
        </p:nvGraphicFramePr>
        <p:xfrm>
          <a:off xmlns:a="http://schemas.openxmlformats.org/drawingml/2006/main" x="1581150" y="1543050"/>
          <a:ext xmlns:a="http://schemas.openxmlformats.org/drawingml/2006/main" cx="6972300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52650"/>
                <a:gridCol w="2152650"/>
              </a:tblGrid>
              <a:tr h="4857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 = Source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 = GUI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Referent = Source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Referent = GUI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CE1EA"/>
                      </a:solidFill>
                      <a:prstDash val="solid"/>
                    </a:lnR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Source는 원래 질문 언어, GUI는 화면 언어">
            <a:extLst xmlns:a="http://schemas.openxmlformats.org/drawingml/2006/main">
              <a:ext uri="{FF2B5EF4-FFF2-40B4-BE49-F238E27FC236}">
                <a16:creationId xmlns:a16="http://schemas.microsoft.com/office/drawing/2014/main" id="{68C1EFF3-08CE-45E7-BA1E-176F2E2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Source는 원래 질문 언어, GUI는 화면 언어</a:t>
            </a:r>
          </a:p>
        </p:txBody>
      </p:sp>
      <p:sp>
        <p:nvSpPr>
          <p:cNvPr id="96" name="우선 후보   필요한 referent만 선택해 두 단계로 현지화">
            <a:extLst xmlns:a="http://schemas.openxmlformats.org/drawingml/2006/main">
              <a:ext uri="{FF2B5EF4-FFF2-40B4-BE49-F238E27FC236}">
                <a16:creationId xmlns:a16="http://schemas.microsoft.com/office/drawing/2014/main" id="{D821C18B-5C2B-4377-B58F-693BF018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29025"/>
            <a:ext cx="6972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우선 후보   필요한 referent만 선택해 두 단계로 현지화</a:t>
            </a:r>
          </a:p>
        </p:txBody>
      </p:sp>
      <p:sp>
        <p:nvSpPr>
          <p:cNvPr id="97" name="확장 대안   문맥까지 영어 등 모델에 쉬운 언어로 변경&#10;현재 우선순위는 refe">
            <a:extLst xmlns:a="http://schemas.openxmlformats.org/drawingml/2006/main">
              <a:ext uri="{FF2B5EF4-FFF2-40B4-BE49-F238E27FC236}">
                <a16:creationId xmlns:a16="http://schemas.microsoft.com/office/drawing/2014/main" id="{2D92824E-FC9B-4F00-96ED-0388510A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24325"/>
            <a:ext cx="697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확장 대안   문맥까지 영어 등 모델에 쉬운 언어로 변경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현재 우선순위는 referent의 역할을 분리하는 연구 질문에 집중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2026-10-26T11:43:26.3200000Z</dcterms:created>
  <dcterms:modified xsi:type="dcterms:W3CDTF">2026-10-26T11:43:26.3200000Z</dcterms:modified>
</coreProperties>
</file>
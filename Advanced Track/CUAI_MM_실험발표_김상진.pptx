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81" r:id="rId3"/>
    <p:sldId id="285" r:id="rId4"/>
    <p:sldId id="284" r:id="rId5"/>
    <p:sldId id="283" r:id="rId6"/>
    <p:sldId id="267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0C9376-4944-9A15-4C72-AB0B715A710E}" v="916" dt="2026-09-08T09:07:10.139"/>
    <p1510:client id="{CE6CC7C8-2954-3E41-153E-AD39F502722D}" v="3416" dt="2026-09-08T09:52:27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91701"/>
  </p:normalViewPr>
  <p:slideViewPr>
    <p:cSldViewPr snapToGrid="0">
      <p:cViewPr varScale="1">
        <p:scale>
          <a:sx n="156" d="100"/>
          <a:sy n="156" d="100"/>
        </p:scale>
        <p:origin x="95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안녕하세요, SIAI Lab 김상진입니다. 오늘은 논문 리뷰가 아니라 저희가 지금 시작하는 실험을 소개하겠습니다.</a:t>
            </a:r>
          </a:p>
          <a:p>
            <a:r>
              <a:t>제목은 Measuring the Unexplained Variance in Prompt Selection입니다. CLIP 영샷 분류를 사례로, 프롬프트 선택에서 설명되지 않는 성능 변동을 측정하는 연구입니다.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48B9595-6A2A-8BD2-BF53-1DB57B95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9040CD0C-368A-7D44-4DCF-D2941BF586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1B17447F-5496-ABC5-E997-983A5F900E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CLIP으로 영샷 분류를 할 때는 클래스 이름을 문장 틀, 즉 템플릿에 끼워 넣습니다. a photo of a 고양이, a blurry photo of a 고양이, art of the 고양이 같은 식입니다.</a:t>
            </a:r>
          </a:p>
          <a:p>
            <a:r>
              <a:t>같은 모델, 같은 이미지인데 이 틀만 바꿔도 성능이 달라집니다. CLIP 원논문에서도 프롬프트 엔지니어링과 템플릿 앙상블로 ImageNet 정확도를 5%p 가까이 올렸다고 보고합니다.</a:t>
            </a:r>
          </a:p>
          <a:p>
            <a:r>
              <a:t>그런데 왜 어떤 템플릿이 더 잘 되는지는 잘 모릅니다. 이유는 구조에 있습니다. 템플릿은 텍스트 임베딩을 거쳐서만 예측에 영향을 주고, 그 임베딩 안에서는 템플릿의 성질이 클래스 이름의 의미와 섞여 버립니다. 그래서 어떤 성질이 성능을 정하는지 직접 읽어낼 수가 없습니다.</a:t>
            </a:r>
          </a:p>
          <a:p>
            <a:r>
              <a:t>그래서 질문을 이렇게 잡았습니다. 템플릿 성능 차이 중에서 텍스트 임베딩이 설명하는 건 몇 퍼센트인가. 그리고 설명되지 않는 나머지는 아무렇게나 흩어져 있는가, 아니면 구조가 있는가.</a:t>
            </a:r>
          </a:p>
        </p:txBody>
      </p:sp>
    </p:spTree>
    <p:extLst>
      <p:ext uri="{BB962C8B-B14F-4D97-AF65-F5344CB8AC3E}">
        <p14:creationId xmlns:p14="http://schemas.microsoft.com/office/powerpoint/2010/main" val="3309223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질문에 답하려고 행렬 두 개를 만듭니다.</a:t>
            </a:r>
          </a:p>
          <a:p>
            <a:r>
              <a:t>위쪽 줄이 X입니다. ImageNet용 템플릿 80개에 클래스 이름 1000개를 하나씩 끼워 넣고 텍스트 임베딩을 뽑습니다. 템플릿마다 1000개 클래스의 임베딩을 평균내고 PCA로 d차원으로 줄이면, 템플릿 하나당 특징 벡터 하나, 80×d 행렬이 나옵니다.</a:t>
            </a:r>
          </a:p>
          <a:p>
            <a:r>
              <a:t>아래쪽 줄이 Y입니다. ImageNet 검증 이미지 5만 장의 임베딩을 뽑고, 템플릿마다 텍스트 임베딩과 내적해서 점수가 가장 높은 클래스를 예측으로 씁니다. 클래스별로 맞힌 비율을 모으면 80×1000, 템플릿×클래스 정확도 표가 됩니다. 텍스트 임베딩이 X와 Y 양쪽에 쓰인다는 점을 봐주세요.</a:t>
            </a:r>
          </a:p>
          <a:p>
            <a:r>
              <a:t>중요한 점은 전부 계산한다는 겁니다. CLIP은 생성 모델이 아니라 점수를 매기는 모델이라, 임베딩을 한 번만 뽑아두면 나머지는 행렬곱입니다. 그래서 순차적으로 골라볼 필요 없이 모든 칸의 정답을 가질 수 있습니다. 같은 과정을 이미지 인코더 세 종류로 반복합니다.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Y를 X로 얼마나 설명할 수 있는지 봅니다. 그림자 비유로 설명하겠습니다.</a:t>
            </a:r>
          </a:p>
          <a:p>
            <a:r>
              <a:t>왼쪽 그림에서 파란 판이 X가 만드는 공간입니다. 성능 벡터 Y에 위에서 빛을 비추면 판 위에 그림자가 생기는데, 이게 투영 P_X Y, 임베딩으로 설명되는 부분입니다. 그림자에 담기지 않고 위로 뜬 빨간 점선이 잔차 E, 설명되지 않는 부분입니다.</a:t>
            </a:r>
          </a:p>
          <a:p>
            <a:r>
              <a:t>여기서 두 가지를 측정합니다. 첫째 ρ, 잔차가 전체에서 차지하는 비율입니다. 회귀의 1 빼기 결정계수와 같습니다. 둘째 잔차를 특이값 분해해서 나오는 첫 번째 방향 u1입니다. 설명 안 되는 부분에서 가장 큰 패턴이고, 이 값이 큰 템플릿과 작은 템플릿을 직접 읽어서 임베딩이 놓친 성질이 뭔지 찾습니다.</a:t>
            </a:r>
          </a:p>
          <a:p>
            <a:r>
              <a:t>마지막 줄이 비교 기준입니다. 판의 차원 d를 늘리면 ρ는 저절로 줄어듭니다. 아무 의미 없는 랜덤한 판을 써도 ρ가 대략 1 빼기 d/(K−1), d가 8이면 0.9 정도 나옵니다. 그래서 ρ는 항상 이 기준선과 같이 보고합니다.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결과는 세 갈래로 나올 수 있고, 어느 쪽이든 보고할 내용이 됩니다.</a:t>
            </a:r>
          </a:p>
          <a:p>
            <a:r>
              <a:t>첫째, 잔차가 크고 몇 개 방향에 몰려 있으면 임베딩이 놓친 저차원 구조가 있다는 뜻입니다. 적은 평가로도 그 구조를 추정할 여지가 생깁니다.</a:t>
            </a:r>
          </a:p>
          <a:p>
            <a:r>
              <a:t>둘째, 잔차가 크지만 고르게 퍼져 있으면 템플릿마다 독립적인 요인이 있다는 뜻이고, 후보를 하나씩 평가해야 합니다.</a:t>
            </a:r>
          </a:p>
          <a:p>
            <a:r>
              <a:t>셋째, 비선형 모델이 잔차를 크게 줄이면 정보는 임베딩 안에 있었고 선형 모델의 한계였다는 뜻입니다. 이 비교는 공정하게 하려고 템플릿 단위 교차검증으로 합니다.</a:t>
            </a:r>
          </a:p>
          <a:p>
            <a:r>
              <a:t>진행은 템플릿 5개, 클래스 10개 파일럿으로 파이프라인을 먼저 검증하고, ImageNet 전체와 인코더 세 종류로 확장한 뒤, 선형과 비선형을 비교해서 KCC에 투고할 계획입니다. 팀은 파이프라인, 특징, 분석 세 파트로 나눠 진행합니다.</a:t>
            </a:r>
          </a:p>
          <a:p>
            <a:r>
              <a:t>그리고 이 틀은 VLA 지시문이나 LLM 프롬프트로 그대로 갑니다. 거기서는 한 번 평가하는 게 비싸서 전수조사가 안 되고 순차적으로 골라야 합니다. 오늘 실험은 그 전에 숨겨진 구조가 정말 있는지를 싸게 확인하는 단계입니다. 감사합니다.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68D2E3F-85A3-4F15-DAD3-11298EDA2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B159BA67-96D6-5234-C6E2-8586C30A37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50B856D7-8C54-0353-3325-58D3B9D19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감사합니다. 질문 받겠습니다.</a:t>
            </a:r>
          </a:p>
        </p:txBody>
      </p:sp>
    </p:spTree>
    <p:extLst>
      <p:ext uri="{BB962C8B-B14F-4D97-AF65-F5344CB8AC3E}">
        <p14:creationId xmlns:p14="http://schemas.microsoft.com/office/powerpoint/2010/main" val="2823140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itleBlock"/>
          <p:cNvSpPr txBox="1"/>
          <p:nvPr/>
        </p:nvSpPr>
        <p:spPr>
          <a:xfrm>
            <a:off x="1362456" y="1691640"/>
            <a:ext cx="713232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19264B"/>
                </a:solidFill>
                <a:latin typeface="Cambria"/>
              </a:rPr>
              <a:t>Measuring the Unexplained Variance</a:t>
            </a:r>
          </a:p>
          <a:p>
            <a:pPr algn="l"/>
            <a:r>
              <a:rPr sz="2400" b="1" dirty="0">
                <a:solidFill>
                  <a:srgbClr val="19264B"/>
                </a:solidFill>
                <a:latin typeface="Cambria"/>
              </a:rPr>
              <a:t>in Prompt Selection</a:t>
            </a:r>
          </a:p>
          <a:p>
            <a:pPr algn="l">
              <a:spcBef>
                <a:spcPts val="600"/>
              </a:spcBef>
            </a:pPr>
            <a:r>
              <a:rPr sz="1400" b="0" dirty="0">
                <a:solidFill>
                  <a:srgbClr val="19264B"/>
                </a:solidFill>
                <a:latin typeface="Cambria"/>
              </a:rPr>
              <a:t>A Case Study on CLIP Zero-Shot Classification</a:t>
            </a:r>
          </a:p>
          <a:p>
            <a:pPr algn="l"/>
            <a:r>
              <a:rPr sz="1000" b="0" dirty="0">
                <a:solidFill>
                  <a:srgbClr val="19264B"/>
                </a:solidFill>
              </a:rPr>
              <a:t> </a:t>
            </a:r>
          </a:p>
          <a:p>
            <a:pPr algn="l"/>
            <a:r>
              <a:rPr sz="1200" b="0" dirty="0">
                <a:solidFill>
                  <a:srgbClr val="19264B"/>
                </a:solidFill>
              </a:rPr>
              <a:t>2026.10.27</a:t>
            </a:r>
          </a:p>
          <a:p>
            <a:pPr algn="l"/>
            <a:r>
              <a:rPr sz="800" b="0" dirty="0">
                <a:solidFill>
                  <a:srgbClr val="19264B"/>
                </a:solidFill>
              </a:rPr>
              <a:t> </a:t>
            </a:r>
          </a:p>
          <a:p>
            <a:r>
              <a:rPr sz="1100" dirty="0" err="1">
                <a:solidFill>
                  <a:srgbClr val="19264B"/>
                </a:solidFill>
              </a:rPr>
              <a:t>발표자</a:t>
            </a:r>
            <a:r>
              <a:rPr sz="1100" dirty="0">
                <a:solidFill>
                  <a:srgbClr val="19264B"/>
                </a:solidFill>
              </a:rPr>
              <a:t> : 김상진(</a:t>
            </a:r>
            <a:r>
              <a:rPr lang="en-US" sz="1100" dirty="0">
                <a:solidFill>
                  <a:srgbClr val="19264B"/>
                </a:solidFill>
              </a:rPr>
              <a:t>Multimodal)</a:t>
            </a:r>
            <a:endParaRPr sz="1100" dirty="0">
              <a:solidFill>
                <a:srgbClr val="19264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EA90CBE-2CCD-0220-8B9C-EE7A67E36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012724F4-74A3-3817-004C-F73D3BA8F0F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996324B9-9CCD-50A9-B9E8-FB639CAF28D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3C719959-B9F8-7B16-88D2-BFA4E8BADBA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itle"/>
          <p:cNvSpPr txBox="1"/>
          <p:nvPr/>
        </p:nvSpPr>
        <p:spPr>
          <a:xfrm>
            <a:off x="1645920" y="4114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1. 템플릿만 바꿔도 성능이 바뀐다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45920" y="102412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9264B"/>
                </a:solidFill>
              </a:rPr>
              <a:t>같은 모델 · 같은 이미지 · 다른 템플릿</a:t>
            </a:r>
          </a:p>
        </p:txBody>
      </p:sp>
      <p:sp>
        <p:nvSpPr>
          <p:cNvPr id="60" name="Template1"/>
          <p:cNvSpPr/>
          <p:nvPr/>
        </p:nvSpPr>
        <p:spPr>
          <a:xfrm>
            <a:off x="1645920" y="1371600"/>
            <a:ext cx="2926080" cy="384048"/>
          </a:xfrm>
          <a:prstGeom prst="roundRect">
            <a:avLst>
              <a:gd name="adj" fmla="val 12000"/>
            </a:avLst>
          </a:prstGeom>
          <a:solidFill>
            <a:srgbClr val="E3E7F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l"/>
            <a:r>
              <a:rPr sz="1200" b="1">
                <a:solidFill>
                  <a:srgbClr val="19264B"/>
                </a:solidFill>
                <a:latin typeface="Courier New"/>
              </a:rPr>
              <a:t>"a photo of a {}."</a:t>
            </a:r>
          </a:p>
        </p:txBody>
      </p:sp>
      <p:sp>
        <p:nvSpPr>
          <p:cNvPr id="61" name="Template2"/>
          <p:cNvSpPr/>
          <p:nvPr/>
        </p:nvSpPr>
        <p:spPr>
          <a:xfrm>
            <a:off x="1645920" y="1847088"/>
            <a:ext cx="2926080" cy="384048"/>
          </a:xfrm>
          <a:prstGeom prst="roundRect">
            <a:avLst>
              <a:gd name="adj" fmla="val 12000"/>
            </a:avLst>
          </a:prstGeom>
          <a:solidFill>
            <a:srgbClr val="E3E7F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l"/>
            <a:r>
              <a:rPr sz="1200" b="1">
                <a:solidFill>
                  <a:srgbClr val="19264B"/>
                </a:solidFill>
                <a:latin typeface="Courier New"/>
              </a:rPr>
              <a:t>"a blurry photo of a {}."</a:t>
            </a:r>
          </a:p>
        </p:txBody>
      </p:sp>
      <p:sp>
        <p:nvSpPr>
          <p:cNvPr id="62" name="Template3"/>
          <p:cNvSpPr/>
          <p:nvPr/>
        </p:nvSpPr>
        <p:spPr>
          <a:xfrm>
            <a:off x="1645920" y="2322576"/>
            <a:ext cx="2926080" cy="384048"/>
          </a:xfrm>
          <a:prstGeom prst="roundRect">
            <a:avLst>
              <a:gd name="adj" fmla="val 12000"/>
            </a:avLst>
          </a:prstGeom>
          <a:solidFill>
            <a:srgbClr val="E3E7F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l"/>
            <a:r>
              <a:rPr sz="1200" b="1">
                <a:solidFill>
                  <a:srgbClr val="19264B"/>
                </a:solidFill>
                <a:latin typeface="Courier New"/>
              </a:rPr>
              <a:t>"art of the {}."</a:t>
            </a:r>
          </a:p>
        </p:txBody>
      </p:sp>
      <p:sp>
        <p:nvSpPr>
          <p:cNvPr id="63" name="Stat"/>
          <p:cNvSpPr txBox="1"/>
          <p:nvPr/>
        </p:nvSpPr>
        <p:spPr>
          <a:xfrm>
            <a:off x="1645920" y="2880360"/>
            <a:ext cx="1234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C0392B"/>
                </a:solidFill>
              </a:rPr>
              <a:t>≈5%p</a:t>
            </a:r>
          </a:p>
        </p:txBody>
      </p:sp>
      <p:sp>
        <p:nvSpPr>
          <p:cNvPr id="64" name="StatCaption"/>
          <p:cNvSpPr txBox="1"/>
          <p:nvPr/>
        </p:nvSpPr>
        <p:spPr>
          <a:xfrm>
            <a:off x="2880360" y="2852928"/>
            <a:ext cx="19202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dirty="0">
                <a:solidFill>
                  <a:srgbClr val="5A637A"/>
                </a:solidFill>
              </a:rPr>
              <a:t>CLIP </a:t>
            </a:r>
            <a:r>
              <a:rPr sz="1000" b="0" dirty="0" err="1">
                <a:solidFill>
                  <a:srgbClr val="5A637A"/>
                </a:solidFill>
              </a:rPr>
              <a:t>원논문</a:t>
            </a:r>
            <a:r>
              <a:rPr sz="1000" b="0" dirty="0">
                <a:solidFill>
                  <a:srgbClr val="5A637A"/>
                </a:solidFill>
              </a:rPr>
              <a:t> </a:t>
            </a:r>
            <a:r>
              <a:rPr sz="1000" b="0" dirty="0" err="1">
                <a:solidFill>
                  <a:srgbClr val="5A637A"/>
                </a:solidFill>
              </a:rPr>
              <a:t>보고</a:t>
            </a:r>
            <a:r>
              <a:rPr sz="1000" b="0" dirty="0">
                <a:solidFill>
                  <a:srgbClr val="5A637A"/>
                </a:solidFill>
              </a:rPr>
              <a:t>:</a:t>
            </a:r>
          </a:p>
          <a:p>
            <a:pPr algn="l"/>
            <a:r>
              <a:rPr sz="1000" b="0" dirty="0" err="1">
                <a:solidFill>
                  <a:srgbClr val="5A637A"/>
                </a:solidFill>
              </a:rPr>
              <a:t>프롬프트</a:t>
            </a:r>
            <a:r>
              <a:rPr sz="1000" b="0" dirty="0">
                <a:solidFill>
                  <a:srgbClr val="5A637A"/>
                </a:solidFill>
              </a:rPr>
              <a:t> </a:t>
            </a:r>
            <a:r>
              <a:rPr sz="1000" b="0" dirty="0" err="1">
                <a:solidFill>
                  <a:srgbClr val="5A637A"/>
                </a:solidFill>
              </a:rPr>
              <a:t>엔지니어링</a:t>
            </a:r>
            <a:r>
              <a:rPr sz="1000" b="0" dirty="0">
                <a:solidFill>
                  <a:srgbClr val="5A637A"/>
                </a:solidFill>
              </a:rPr>
              <a:t> + </a:t>
            </a:r>
            <a:r>
              <a:rPr sz="1000" b="0" dirty="0" err="1">
                <a:solidFill>
                  <a:srgbClr val="5A637A"/>
                </a:solidFill>
              </a:rPr>
              <a:t>앙상블로</a:t>
            </a:r>
            <a:endParaRPr sz="1000" b="0" dirty="0">
              <a:solidFill>
                <a:srgbClr val="5A637A"/>
              </a:solidFill>
            </a:endParaRPr>
          </a:p>
          <a:p>
            <a:pPr algn="l"/>
            <a:r>
              <a:rPr sz="1000" b="0" dirty="0">
                <a:solidFill>
                  <a:srgbClr val="5A637A"/>
                </a:solidFill>
              </a:rPr>
              <a:t>ImageNet </a:t>
            </a:r>
            <a:r>
              <a:rPr sz="1000" b="0" dirty="0" err="1">
                <a:solidFill>
                  <a:srgbClr val="5A637A"/>
                </a:solidFill>
              </a:rPr>
              <a:t>정확도</a:t>
            </a:r>
            <a:r>
              <a:rPr sz="1000" b="0" dirty="0">
                <a:solidFill>
                  <a:srgbClr val="5A637A"/>
                </a:solidFill>
              </a:rPr>
              <a:t> </a:t>
            </a:r>
            <a:r>
              <a:rPr sz="1000" b="0" dirty="0" err="1">
                <a:solidFill>
                  <a:srgbClr val="5A637A"/>
                </a:solidFill>
              </a:rPr>
              <a:t>향상</a:t>
            </a:r>
            <a:endParaRPr sz="1000" b="0" dirty="0">
              <a:solidFill>
                <a:srgbClr val="5A637A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074920" y="102412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9264B"/>
                </a:solidFill>
              </a:rPr>
              <a:t>왜 분석하기 어려운가</a:t>
            </a:r>
          </a:p>
        </p:txBody>
      </p:sp>
      <p:sp>
        <p:nvSpPr>
          <p:cNvPr id="66" name="StepNum1"/>
          <p:cNvSpPr/>
          <p:nvPr/>
        </p:nvSpPr>
        <p:spPr>
          <a:xfrm>
            <a:off x="5074920" y="1426464"/>
            <a:ext cx="365760" cy="365760"/>
          </a:xfrm>
          <a:prstGeom prst="ellipse">
            <a:avLst/>
          </a:prstGeom>
          <a:solidFill>
            <a:srgbClr val="19264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7" name="Step1"/>
          <p:cNvSpPr txBox="1"/>
          <p:nvPr/>
        </p:nvSpPr>
        <p:spPr>
          <a:xfrm>
            <a:off x="5577840" y="1371600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템플릿은 텍스트 임베딩을 거쳐서만 예측에 영향을 준다</a:t>
            </a:r>
          </a:p>
        </p:txBody>
      </p:sp>
      <p:sp>
        <p:nvSpPr>
          <p:cNvPr id="68" name="StepNum2"/>
          <p:cNvSpPr/>
          <p:nvPr/>
        </p:nvSpPr>
        <p:spPr>
          <a:xfrm>
            <a:off x="5074920" y="2084831"/>
            <a:ext cx="365760" cy="365760"/>
          </a:xfrm>
          <a:prstGeom prst="ellipse">
            <a:avLst/>
          </a:prstGeom>
          <a:solidFill>
            <a:srgbClr val="19264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9" name="Step2"/>
          <p:cNvSpPr txBox="1"/>
          <p:nvPr/>
        </p:nvSpPr>
        <p:spPr>
          <a:xfrm>
            <a:off x="5577840" y="2029967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임베딩 안에서 템플릿의 성질이 클래스 이름의 의미와 섞인다</a:t>
            </a:r>
          </a:p>
        </p:txBody>
      </p:sp>
      <p:sp>
        <p:nvSpPr>
          <p:cNvPr id="70" name="StepNum3"/>
          <p:cNvSpPr/>
          <p:nvPr/>
        </p:nvSpPr>
        <p:spPr>
          <a:xfrm>
            <a:off x="5074920" y="2743200"/>
            <a:ext cx="365760" cy="365760"/>
          </a:xfrm>
          <a:prstGeom prst="ellipse">
            <a:avLst/>
          </a:prstGeom>
          <a:solidFill>
            <a:srgbClr val="19264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1" name="Step3"/>
          <p:cNvSpPr txBox="1"/>
          <p:nvPr/>
        </p:nvSpPr>
        <p:spPr>
          <a:xfrm>
            <a:off x="5577840" y="2688336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어떤 성질이 성능을 정하는지 직접 읽을 수 없다</a:t>
            </a:r>
          </a:p>
        </p:txBody>
      </p:sp>
      <p:sp>
        <p:nvSpPr>
          <p:cNvPr id="72" name="Question"/>
          <p:cNvSpPr/>
          <p:nvPr/>
        </p:nvSpPr>
        <p:spPr>
          <a:xfrm>
            <a:off x="1645920" y="3703320"/>
            <a:ext cx="6903720" cy="658368"/>
          </a:xfrm>
          <a:prstGeom prst="roundRect">
            <a:avLst>
              <a:gd name="adj" fmla="val 8000"/>
            </a:avLst>
          </a:prstGeom>
          <a:solidFill>
            <a:srgbClr val="19264B"/>
          </a:solidFill>
          <a:ln>
            <a:noFill/>
          </a:ln>
        </p:spPr>
        <p:txBody>
          <a:bodyPr wrap="square" lIns="228600" tIns="36576" rIns="73152" bIns="36576"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질문  </a:t>
            </a:r>
            <a:r>
              <a:rPr sz="1300" b="0">
                <a:solidFill>
                  <a:srgbClr val="FFFFFF"/>
                </a:solidFill>
              </a:rPr>
              <a:t>템플릿 성능 차이 중 텍스트 임베딩이 설명하는 비율은 얼마인가?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설명되지 않는 나머지에 구조가 있는가?</a:t>
            </a:r>
          </a:p>
        </p:txBody>
      </p:sp>
    </p:spTree>
    <p:extLst>
      <p:ext uri="{BB962C8B-B14F-4D97-AF65-F5344CB8AC3E}">
        <p14:creationId xmlns:p14="http://schemas.microsoft.com/office/powerpoint/2010/main" val="2685758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EA90CBE-2CCD-0220-8B9C-EE7A67E36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012724F4-74A3-3817-004C-F73D3BA8F0F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996324B9-9CCD-50A9-B9E8-FB639CAF28D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3C719959-B9F8-7B16-88D2-BFA4E8BADBA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itle"/>
          <p:cNvSpPr txBox="1"/>
          <p:nvPr/>
        </p:nvSpPr>
        <p:spPr>
          <a:xfrm>
            <a:off x="1645920" y="4114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2. 방법: 행렬 두 개를 전부 계산한다</a:t>
            </a:r>
          </a:p>
        </p:txBody>
      </p:sp>
      <p:sp>
        <p:nvSpPr>
          <p:cNvPr id="59" name="InTemplates"/>
          <p:cNvSpPr/>
          <p:nvPr/>
        </p:nvSpPr>
        <p:spPr>
          <a:xfrm>
            <a:off x="1645920" y="1143000"/>
            <a:ext cx="1554480" cy="713232"/>
          </a:xfrm>
          <a:prstGeom prst="roundRect">
            <a:avLst>
              <a:gd name="adj" fmla="val 12000"/>
            </a:avLst>
          </a:prstGeom>
          <a:solidFill>
            <a:srgbClr val="E3E7F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19264B"/>
                </a:solidFill>
              </a:rPr>
              <a:t>템플릿 80개</a:t>
            </a:r>
          </a:p>
          <a:p>
            <a:pPr algn="ctr"/>
            <a:r>
              <a:rPr sz="1100" b="0">
                <a:solidFill>
                  <a:srgbClr val="19264B"/>
                </a:solidFill>
              </a:rPr>
              <a:t>× 클래스 1000개</a:t>
            </a:r>
          </a:p>
        </p:txBody>
      </p:sp>
      <p:sp>
        <p:nvSpPr>
          <p:cNvPr id="60" name="TextEmb"/>
          <p:cNvSpPr/>
          <p:nvPr/>
        </p:nvSpPr>
        <p:spPr>
          <a:xfrm>
            <a:off x="3611880" y="1143000"/>
            <a:ext cx="1600200" cy="713232"/>
          </a:xfrm>
          <a:prstGeom prst="roundRect">
            <a:avLst>
              <a:gd name="adj" fmla="val 12000"/>
            </a:avLst>
          </a:prstGeom>
          <a:solidFill>
            <a:srgbClr val="E3E7F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19264B"/>
                </a:solidFill>
              </a:rPr>
              <a:t>텍스트 임베딩</a:t>
            </a:r>
          </a:p>
          <a:p>
            <a:pPr algn="ctr"/>
            <a:r>
              <a:rPr sz="1100" b="0">
                <a:solidFill>
                  <a:srgbClr val="19264B"/>
                </a:solidFill>
              </a:rPr>
              <a:t>t</a:t>
            </a:r>
            <a:r>
              <a:rPr sz="1100" b="0" baseline="-25000">
                <a:solidFill>
                  <a:srgbClr val="19264B"/>
                </a:solidFill>
              </a:rPr>
              <a:t>ac</a:t>
            </a:r>
            <a:r>
              <a:rPr sz="1000" b="0">
                <a:solidFill>
                  <a:srgbClr val="19264B"/>
                </a:solidFill>
              </a:rPr>
              <a:t>  (80×1000×D)</a:t>
            </a:r>
          </a:p>
        </p:txBody>
      </p:sp>
      <p:sp>
        <p:nvSpPr>
          <p:cNvPr id="61" name="OutX"/>
          <p:cNvSpPr/>
          <p:nvPr/>
        </p:nvSpPr>
        <p:spPr>
          <a:xfrm>
            <a:off x="6903720" y="114300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19264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X</a:t>
            </a:r>
            <a:r>
              <a:rPr sz="1100" b="0">
                <a:solidFill>
                  <a:srgbClr val="FFFFFF"/>
                </a:solidFill>
              </a:rPr>
              <a:t>   80 × d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템플릿 특징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218688" y="1499616"/>
            <a:ext cx="374904" cy="0"/>
          </a:xfrm>
          <a:prstGeom prst="line">
            <a:avLst/>
          </a:prstGeom>
          <a:ln w="19050">
            <a:solidFill>
              <a:srgbClr val="192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230368" y="1499616"/>
            <a:ext cx="1655064" cy="0"/>
          </a:xfrm>
          <a:prstGeom prst="line">
            <a:avLst/>
          </a:prstGeom>
          <a:ln w="19050">
            <a:solidFill>
              <a:srgbClr val="192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LblPCA"/>
          <p:cNvSpPr txBox="1"/>
          <p:nvPr/>
        </p:nvSpPr>
        <p:spPr>
          <a:xfrm>
            <a:off x="5257800" y="119786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A637A"/>
                </a:solidFill>
              </a:rPr>
              <a:t>클래스 평균 → PCA</a:t>
            </a:r>
          </a:p>
        </p:txBody>
      </p:sp>
      <p:sp>
        <p:nvSpPr>
          <p:cNvPr id="65" name="InImages"/>
          <p:cNvSpPr/>
          <p:nvPr/>
        </p:nvSpPr>
        <p:spPr>
          <a:xfrm>
            <a:off x="1645920" y="2468880"/>
            <a:ext cx="1554480" cy="713232"/>
          </a:xfrm>
          <a:prstGeom prst="roundRect">
            <a:avLst>
              <a:gd name="adj" fmla="val 12000"/>
            </a:avLst>
          </a:prstGeom>
          <a:solidFill>
            <a:srgbClr val="E3E7F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19264B"/>
                </a:solidFill>
              </a:rPr>
              <a:t>이미지 50,000장</a:t>
            </a:r>
          </a:p>
          <a:p>
            <a:pPr algn="ctr"/>
            <a:r>
              <a:rPr sz="1100" b="0">
                <a:solidFill>
                  <a:srgbClr val="19264B"/>
                </a:solidFill>
              </a:rPr>
              <a:t>ImageNet val</a:t>
            </a:r>
          </a:p>
        </p:txBody>
      </p:sp>
      <p:sp>
        <p:nvSpPr>
          <p:cNvPr id="66" name="ImgEmb"/>
          <p:cNvSpPr/>
          <p:nvPr/>
        </p:nvSpPr>
        <p:spPr>
          <a:xfrm>
            <a:off x="3611880" y="2468880"/>
            <a:ext cx="1600200" cy="713232"/>
          </a:xfrm>
          <a:prstGeom prst="roundRect">
            <a:avLst>
              <a:gd name="adj" fmla="val 12000"/>
            </a:avLst>
          </a:prstGeom>
          <a:solidFill>
            <a:srgbClr val="E3E7F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19264B"/>
                </a:solidFill>
              </a:rPr>
              <a:t>이미지 임베딩</a:t>
            </a:r>
          </a:p>
          <a:p>
            <a:pPr algn="ctr"/>
            <a:r>
              <a:rPr sz="1100" b="0">
                <a:solidFill>
                  <a:srgbClr val="19264B"/>
                </a:solidFill>
              </a:rPr>
              <a:t>v</a:t>
            </a:r>
            <a:r>
              <a:rPr sz="1100" b="0" baseline="-25000">
                <a:solidFill>
                  <a:srgbClr val="19264B"/>
                </a:solidFill>
              </a:rPr>
              <a:t>i</a:t>
            </a:r>
            <a:r>
              <a:rPr sz="1000" b="0">
                <a:solidFill>
                  <a:srgbClr val="19264B"/>
                </a:solidFill>
              </a:rPr>
              <a:t>  (50,000×D)</a:t>
            </a:r>
          </a:p>
        </p:txBody>
      </p:sp>
      <p:sp>
        <p:nvSpPr>
          <p:cNvPr id="67" name="OutY"/>
          <p:cNvSpPr/>
          <p:nvPr/>
        </p:nvSpPr>
        <p:spPr>
          <a:xfrm>
            <a:off x="6903720" y="246888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19264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Y</a:t>
            </a:r>
            <a:r>
              <a:rPr sz="1100" b="0">
                <a:solidFill>
                  <a:srgbClr val="FFFFFF"/>
                </a:solidFill>
              </a:rPr>
              <a:t>   80 × 1000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템플릿×클래스 정확도</a:t>
            </a:r>
          </a:p>
        </p:txBody>
      </p:sp>
      <p:sp>
        <p:nvSpPr>
          <p:cNvPr id="68" name="DotNode"/>
          <p:cNvSpPr/>
          <p:nvPr/>
        </p:nvSpPr>
        <p:spPr>
          <a:xfrm>
            <a:off x="5806440" y="261518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9264B"/>
            </a:solidFill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19264B"/>
                </a:solidFill>
              </a:rPr>
              <a:t>·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3218688" y="2825496"/>
            <a:ext cx="374904" cy="0"/>
          </a:xfrm>
          <a:prstGeom prst="line">
            <a:avLst/>
          </a:prstGeom>
          <a:ln w="19050">
            <a:solidFill>
              <a:srgbClr val="192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230368" y="2825496"/>
            <a:ext cx="557784" cy="0"/>
          </a:xfrm>
          <a:prstGeom prst="line">
            <a:avLst/>
          </a:prstGeom>
          <a:ln w="19050">
            <a:solidFill>
              <a:srgbClr val="192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245351" y="2825496"/>
            <a:ext cx="640081" cy="0"/>
          </a:xfrm>
          <a:prstGeom prst="line">
            <a:avLst/>
          </a:prstGeom>
          <a:ln w="19050">
            <a:solidFill>
              <a:srgbClr val="192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16552" y="1874520"/>
            <a:ext cx="1444751" cy="795528"/>
          </a:xfrm>
          <a:prstGeom prst="line">
            <a:avLst/>
          </a:prstGeom>
          <a:ln w="15875">
            <a:solidFill>
              <a:srgbClr val="5A63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LblDot"/>
          <p:cNvSpPr txBox="1"/>
          <p:nvPr/>
        </p:nvSpPr>
        <p:spPr>
          <a:xfrm>
            <a:off x="5349240" y="30815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A637A"/>
                </a:solidFill>
              </a:rPr>
              <a:t>내적 → argmax</a:t>
            </a:r>
          </a:p>
        </p:txBody>
      </p:sp>
      <p:sp>
        <p:nvSpPr>
          <p:cNvPr id="74" name="Caption"/>
          <p:cNvSpPr/>
          <p:nvPr/>
        </p:nvSpPr>
        <p:spPr>
          <a:xfrm>
            <a:off x="1645920" y="3520440"/>
            <a:ext cx="6903720" cy="914400"/>
          </a:xfrm>
          <a:prstGeom prst="roundRect">
            <a:avLst>
              <a:gd name="adj" fmla="val 8000"/>
            </a:avLst>
          </a:prstGeom>
          <a:solidFill>
            <a:srgbClr val="E3E7F1"/>
          </a:solidFill>
          <a:ln>
            <a:noFill/>
          </a:ln>
        </p:spPr>
        <p:txBody>
          <a:bodyPr wrap="square" lIns="182880" tIns="36576" rIns="73152" bIns="36576" rtlCol="0" anchor="ctr"/>
          <a:lstStyle/>
          <a:p>
            <a:pPr algn="l"/>
            <a:r>
              <a:rPr sz="1200" b="1">
                <a:solidFill>
                  <a:srgbClr val="19264B"/>
                </a:solidFill>
              </a:rPr>
              <a:t>Y</a:t>
            </a:r>
            <a:r>
              <a:rPr sz="1200" b="1" baseline="-25000">
                <a:solidFill>
                  <a:srgbClr val="19264B"/>
                </a:solidFill>
              </a:rPr>
              <a:t>ac</a:t>
            </a:r>
            <a:r>
              <a:rPr sz="1200" b="0">
                <a:solidFill>
                  <a:srgbClr val="19264B"/>
                </a:solidFill>
              </a:rPr>
              <a:t>  =  템플릿 a로 분류했을 때 클래스 c 이미지(50장)를 맞힌 비율</a:t>
            </a:r>
          </a:p>
          <a:p>
            <a:pPr algn="l"/>
            <a:r>
              <a:rPr sz="1100" b="0">
                <a:solidFill>
                  <a:srgbClr val="19264B"/>
                </a:solidFill>
              </a:rPr>
              <a:t>CLIP은 점수만 매기는 모델 → 임베딩을 한 번 뽑으면 나머지는 행렬곱</a:t>
            </a:r>
          </a:p>
          <a:p>
            <a:pPr algn="l"/>
            <a:r>
              <a:rPr sz="1100" b="0">
                <a:solidFill>
                  <a:srgbClr val="19264B"/>
                </a:solidFill>
              </a:rPr>
              <a:t>인코더 3종(ViT-B/32 · ViT-L/14 · RN50)으로 같은 과정을 반복</a:t>
            </a:r>
          </a:p>
        </p:txBody>
      </p:sp>
    </p:spTree>
    <p:extLst>
      <p:ext uri="{BB962C8B-B14F-4D97-AF65-F5344CB8AC3E}">
        <p14:creationId xmlns:p14="http://schemas.microsoft.com/office/powerpoint/2010/main" val="2685758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EA90CBE-2CCD-0220-8B9C-EE7A67E36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012724F4-74A3-3817-004C-F73D3BA8F0F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996324B9-9CCD-50A9-B9E8-FB639CAF28D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3C719959-B9F8-7B16-88D2-BFA4E8BADBA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itle"/>
          <p:cNvSpPr txBox="1"/>
          <p:nvPr/>
        </p:nvSpPr>
        <p:spPr>
          <a:xfrm>
            <a:off x="1645920" y="4114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3. 측정: 그림자와 높이로 나눈다</a:t>
            </a:r>
          </a:p>
        </p:txBody>
      </p:sp>
      <p:pic>
        <p:nvPicPr>
          <p:cNvPr id="59" name="ProjectionDiagram" descr="pro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051560"/>
            <a:ext cx="3063240" cy="2388137"/>
          </a:xfrm>
          <a:prstGeom prst="rect">
            <a:avLst/>
          </a:prstGeom>
        </p:spPr>
      </p:pic>
      <p:sp>
        <p:nvSpPr>
          <p:cNvPr id="60" name="DiagramCaption"/>
          <p:cNvSpPr txBox="1"/>
          <p:nvPr/>
        </p:nvSpPr>
        <p:spPr>
          <a:xfrm>
            <a:off x="1645920" y="37033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37A"/>
                </a:solidFill>
              </a:rPr>
              <a:t>그림자 = 임베딩이 설명하는 부분</a:t>
            </a:r>
          </a:p>
          <a:p>
            <a:pPr algn="l"/>
            <a:r>
              <a:rPr sz="1100" b="0">
                <a:solidFill>
                  <a:srgbClr val="5A637A"/>
                </a:solidFill>
              </a:rPr>
              <a:t>높이 = 설명하지 못하는 잔차</a:t>
            </a:r>
          </a:p>
        </p:txBody>
      </p:sp>
      <p:sp>
        <p:nvSpPr>
          <p:cNvPr id="61" name="Lbl_f1"/>
          <p:cNvSpPr txBox="1"/>
          <p:nvPr/>
        </p:nvSpPr>
        <p:spPr>
          <a:xfrm>
            <a:off x="5029200" y="1024128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9264B"/>
                </a:solidFill>
              </a:rPr>
              <a:t>분해</a:t>
            </a:r>
            <a:r>
              <a:rPr sz="1000" b="0">
                <a:solidFill>
                  <a:srgbClr val="5A637A"/>
                </a:solidFill>
              </a:rPr>
              <a:t>   성능 = 설명된 부분 + 잔차</a:t>
            </a:r>
          </a:p>
        </p:txBody>
      </p:sp>
      <p:pic>
        <p:nvPicPr>
          <p:cNvPr id="62" name="Eq_f1" descr="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298448"/>
            <a:ext cx="1862882" cy="219456"/>
          </a:xfrm>
          <a:prstGeom prst="rect">
            <a:avLst/>
          </a:prstGeom>
        </p:spPr>
      </p:pic>
      <p:sp>
        <p:nvSpPr>
          <p:cNvPr id="63" name="Lbl_f2"/>
          <p:cNvSpPr txBox="1"/>
          <p:nvPr/>
        </p:nvSpPr>
        <p:spPr>
          <a:xfrm>
            <a:off x="5029200" y="1792224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9264B"/>
                </a:solidFill>
              </a:rPr>
              <a:t>unexplained fraction</a:t>
            </a:r>
            <a:r>
              <a:rPr sz="1000" b="0">
                <a:solidFill>
                  <a:srgbClr val="5A637A"/>
                </a:solidFill>
              </a:rPr>
              <a:t>   잔차의 비율, 1 − 결정계수</a:t>
            </a:r>
          </a:p>
        </p:txBody>
      </p:sp>
      <p:pic>
        <p:nvPicPr>
          <p:cNvPr id="64" name="Eq_f2" descr="f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066544"/>
            <a:ext cx="1531855" cy="457200"/>
          </a:xfrm>
          <a:prstGeom prst="rect">
            <a:avLst/>
          </a:prstGeom>
        </p:spPr>
      </p:pic>
      <p:sp>
        <p:nvSpPr>
          <p:cNvPr id="65" name="Lbl_f3"/>
          <p:cNvSpPr txBox="1"/>
          <p:nvPr/>
        </p:nvSpPr>
        <p:spPr>
          <a:xfrm>
            <a:off x="5029200" y="2798064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9264B"/>
                </a:solidFill>
              </a:rPr>
              <a:t>top direction</a:t>
            </a:r>
            <a:r>
              <a:rPr sz="1000" b="0">
                <a:solidFill>
                  <a:srgbClr val="5A637A"/>
                </a:solidFill>
              </a:rPr>
              <a:t>   잔차의 가장 큰 패턴, 템플릿별 가중치</a:t>
            </a:r>
          </a:p>
        </p:txBody>
      </p:sp>
      <p:pic>
        <p:nvPicPr>
          <p:cNvPr id="66" name="Eq_f3" descr="f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072384"/>
            <a:ext cx="1795100" cy="219456"/>
          </a:xfrm>
          <a:prstGeom prst="rect">
            <a:avLst/>
          </a:prstGeom>
        </p:spPr>
      </p:pic>
      <p:sp>
        <p:nvSpPr>
          <p:cNvPr id="67" name="Lbl_f4"/>
          <p:cNvSpPr txBox="1"/>
          <p:nvPr/>
        </p:nvSpPr>
        <p:spPr>
          <a:xfrm>
            <a:off x="5029200" y="356616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랜덤 기준선</a:t>
            </a:r>
            <a:r>
              <a:rPr sz="1000" b="0">
                <a:solidFill>
                  <a:srgbClr val="5A637A"/>
                </a:solidFill>
              </a:rPr>
              <a:t>   d가 크면 ρ는 저절로 준다 (d=8 → 0.90)</a:t>
            </a:r>
          </a:p>
        </p:txBody>
      </p:sp>
      <p:pic>
        <p:nvPicPr>
          <p:cNvPr id="68" name="Eq_f4" descr="f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3840480"/>
            <a:ext cx="1731981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758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EA90CBE-2CCD-0220-8B9C-EE7A67E36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012724F4-74A3-3817-004C-F73D3BA8F0F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996324B9-9CCD-50A9-B9E8-FB639CAF28D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3C719959-B9F8-7B16-88D2-BFA4E8BADBA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itle"/>
          <p:cNvSpPr txBox="1"/>
          <p:nvPr/>
        </p:nvSpPr>
        <p:spPr>
          <a:xfrm>
            <a:off x="1645920" y="4114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4. 결과 해석과 다음 단계</a:t>
            </a:r>
          </a:p>
        </p:txBody>
      </p:sp>
      <p:sp>
        <p:nvSpPr>
          <p:cNvPr id="59" name="OutcomeLead"/>
          <p:cNvSpPr txBox="1"/>
          <p:nvPr/>
        </p:nvSpPr>
        <p:spPr>
          <a:xfrm>
            <a:off x="1645920" y="93268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37A"/>
                </a:solidFill>
              </a:rPr>
              <a:t>결과는 세 갈래 중 하나 — 어느 쪽이 나와도 보고할 내용이 된다</a:t>
            </a:r>
          </a:p>
        </p:txBody>
      </p:sp>
      <p:sp>
        <p:nvSpPr>
          <p:cNvPr id="60" name="Card1"/>
          <p:cNvSpPr/>
          <p:nvPr/>
        </p:nvSpPr>
        <p:spPr>
          <a:xfrm>
            <a:off x="1645920" y="128016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E3E7F1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1" name="CardCond1"/>
          <p:cNvSpPr txBox="1"/>
          <p:nvPr/>
        </p:nvSpPr>
        <p:spPr>
          <a:xfrm>
            <a:off x="1783080" y="138988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잔차 큼 · 몇 방향에 집중</a:t>
            </a:r>
          </a:p>
        </p:txBody>
      </p:sp>
      <p:sp>
        <p:nvSpPr>
          <p:cNvPr id="62" name="CardMean1"/>
          <p:cNvSpPr txBox="1"/>
          <p:nvPr/>
        </p:nvSpPr>
        <p:spPr>
          <a:xfrm>
            <a:off x="1783080" y="1719072"/>
            <a:ext cx="1874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9264B"/>
                </a:solidFill>
              </a:rPr>
              <a:t>임베딩이 놓친</a:t>
            </a:r>
          </a:p>
          <a:p>
            <a:pPr algn="l"/>
            <a:r>
              <a:rPr sz="1200" b="1">
                <a:solidFill>
                  <a:srgbClr val="19264B"/>
                </a:solidFill>
              </a:rPr>
              <a:t>저차원 구조가 있다</a:t>
            </a:r>
          </a:p>
        </p:txBody>
      </p:sp>
      <p:sp>
        <p:nvSpPr>
          <p:cNvPr id="63" name="CardImpl1"/>
          <p:cNvSpPr txBox="1"/>
          <p:nvPr/>
        </p:nvSpPr>
        <p:spPr>
          <a:xfrm>
            <a:off x="1783080" y="230428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A637A"/>
                </a:solidFill>
              </a:rPr>
              <a:t>→ 적은 평가로 추정할 여지</a:t>
            </a:r>
          </a:p>
        </p:txBody>
      </p:sp>
      <p:sp>
        <p:nvSpPr>
          <p:cNvPr id="64" name="Card2"/>
          <p:cNvSpPr/>
          <p:nvPr/>
        </p:nvSpPr>
        <p:spPr>
          <a:xfrm>
            <a:off x="4023360" y="128016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E3E7F1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5" name="CardCond2"/>
          <p:cNvSpPr txBox="1"/>
          <p:nvPr/>
        </p:nvSpPr>
        <p:spPr>
          <a:xfrm>
            <a:off x="4160520" y="138988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잔차 큼 · 고르게 퍼짐</a:t>
            </a:r>
          </a:p>
        </p:txBody>
      </p:sp>
      <p:sp>
        <p:nvSpPr>
          <p:cNvPr id="66" name="CardMean2"/>
          <p:cNvSpPr txBox="1"/>
          <p:nvPr/>
        </p:nvSpPr>
        <p:spPr>
          <a:xfrm>
            <a:off x="4160520" y="1719072"/>
            <a:ext cx="1874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9264B"/>
                </a:solidFill>
              </a:rPr>
              <a:t>템플릿마다</a:t>
            </a:r>
          </a:p>
          <a:p>
            <a:pPr algn="l"/>
            <a:r>
              <a:rPr sz="1200" b="1">
                <a:solidFill>
                  <a:srgbClr val="19264B"/>
                </a:solidFill>
              </a:rPr>
              <a:t>독립적인 요인이 있다</a:t>
            </a:r>
          </a:p>
        </p:txBody>
      </p:sp>
      <p:sp>
        <p:nvSpPr>
          <p:cNvPr id="67" name="CardImpl2"/>
          <p:cNvSpPr txBox="1"/>
          <p:nvPr/>
        </p:nvSpPr>
        <p:spPr>
          <a:xfrm>
            <a:off x="4160520" y="230428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A637A"/>
                </a:solidFill>
              </a:rPr>
              <a:t>→ 후보를 하나씩 평가해야 함</a:t>
            </a:r>
          </a:p>
        </p:txBody>
      </p:sp>
      <p:sp>
        <p:nvSpPr>
          <p:cNvPr id="68" name="Card3"/>
          <p:cNvSpPr/>
          <p:nvPr/>
        </p:nvSpPr>
        <p:spPr>
          <a:xfrm>
            <a:off x="6400800" y="128016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E3E7F1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9" name="CardCond3"/>
          <p:cNvSpPr txBox="1"/>
          <p:nvPr/>
        </p:nvSpPr>
        <p:spPr>
          <a:xfrm>
            <a:off x="6537960" y="138988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비선형이 잔차를 크게 줄임</a:t>
            </a:r>
          </a:p>
        </p:txBody>
      </p:sp>
      <p:sp>
        <p:nvSpPr>
          <p:cNvPr id="70" name="CardMean3"/>
          <p:cNvSpPr txBox="1"/>
          <p:nvPr/>
        </p:nvSpPr>
        <p:spPr>
          <a:xfrm>
            <a:off x="6537960" y="1719072"/>
            <a:ext cx="1874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9264B"/>
                </a:solidFill>
              </a:rPr>
              <a:t>정보는 임베딩</a:t>
            </a:r>
          </a:p>
          <a:p>
            <a:pPr algn="l"/>
            <a:r>
              <a:rPr sz="1200" b="1">
                <a:solidFill>
                  <a:srgbClr val="19264B"/>
                </a:solidFill>
              </a:rPr>
              <a:t>안에 있었다</a:t>
            </a:r>
          </a:p>
        </p:txBody>
      </p:sp>
      <p:sp>
        <p:nvSpPr>
          <p:cNvPr id="71" name="CardImpl3"/>
          <p:cNvSpPr txBox="1"/>
          <p:nvPr/>
        </p:nvSpPr>
        <p:spPr>
          <a:xfrm>
            <a:off x="6537960" y="230428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A637A"/>
                </a:solidFill>
              </a:rPr>
              <a:t>→ 선형 모델의 한계</a:t>
            </a:r>
          </a:p>
        </p:txBody>
      </p:sp>
      <p:cxnSp>
        <p:nvCxnSpPr>
          <p:cNvPr id="72" name="RoadmapLine"/>
          <p:cNvCxnSpPr/>
          <p:nvPr/>
        </p:nvCxnSpPr>
        <p:spPr>
          <a:xfrm>
            <a:off x="1837944" y="3310128"/>
            <a:ext cx="5212079" cy="0"/>
          </a:xfrm>
          <a:prstGeom prst="line">
            <a:avLst/>
          </a:prstGeom>
          <a:ln w="15875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adNum1"/>
          <p:cNvSpPr/>
          <p:nvPr/>
        </p:nvSpPr>
        <p:spPr>
          <a:xfrm>
            <a:off x="1645920" y="3118104"/>
            <a:ext cx="384048" cy="384048"/>
          </a:xfrm>
          <a:prstGeom prst="ellipse">
            <a:avLst/>
          </a:prstGeom>
          <a:solidFill>
            <a:srgbClr val="19264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4" name="RoadHead1"/>
          <p:cNvSpPr txBox="1"/>
          <p:nvPr/>
        </p:nvSpPr>
        <p:spPr>
          <a:xfrm>
            <a:off x="1645920" y="3602736"/>
            <a:ext cx="16459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9264B"/>
                </a:solidFill>
              </a:rPr>
              <a:t>파일럿</a:t>
            </a:r>
          </a:p>
        </p:txBody>
      </p:sp>
      <p:sp>
        <p:nvSpPr>
          <p:cNvPr id="75" name="RoadDesc1"/>
          <p:cNvSpPr txBox="1"/>
          <p:nvPr/>
        </p:nvSpPr>
        <p:spPr>
          <a:xfrm>
            <a:off x="1645920" y="3895344"/>
            <a:ext cx="16459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A637A"/>
                </a:solidFill>
              </a:rPr>
              <a:t>템플릿 5 × 클래스 10</a:t>
            </a:r>
          </a:p>
        </p:txBody>
      </p:sp>
      <p:sp>
        <p:nvSpPr>
          <p:cNvPr id="76" name="RoadNum2"/>
          <p:cNvSpPr/>
          <p:nvPr/>
        </p:nvSpPr>
        <p:spPr>
          <a:xfrm>
            <a:off x="3383280" y="3118104"/>
            <a:ext cx="384048" cy="384048"/>
          </a:xfrm>
          <a:prstGeom prst="ellipse">
            <a:avLst/>
          </a:prstGeom>
          <a:solidFill>
            <a:srgbClr val="19264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7" name="RoadHead2"/>
          <p:cNvSpPr txBox="1"/>
          <p:nvPr/>
        </p:nvSpPr>
        <p:spPr>
          <a:xfrm>
            <a:off x="3383280" y="3602736"/>
            <a:ext cx="16459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9264B"/>
                </a:solidFill>
              </a:rPr>
              <a:t>전체 측정</a:t>
            </a:r>
          </a:p>
        </p:txBody>
      </p:sp>
      <p:sp>
        <p:nvSpPr>
          <p:cNvPr id="78" name="RoadDesc2"/>
          <p:cNvSpPr txBox="1"/>
          <p:nvPr/>
        </p:nvSpPr>
        <p:spPr>
          <a:xfrm>
            <a:off x="3383280" y="3895344"/>
            <a:ext cx="16459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A637A"/>
                </a:solidFill>
              </a:rPr>
              <a:t>ImageNet + 인코더 3종</a:t>
            </a:r>
          </a:p>
        </p:txBody>
      </p:sp>
      <p:sp>
        <p:nvSpPr>
          <p:cNvPr id="79" name="RoadNum3"/>
          <p:cNvSpPr/>
          <p:nvPr/>
        </p:nvSpPr>
        <p:spPr>
          <a:xfrm>
            <a:off x="5120640" y="3118104"/>
            <a:ext cx="384048" cy="384048"/>
          </a:xfrm>
          <a:prstGeom prst="ellipse">
            <a:avLst/>
          </a:prstGeom>
          <a:solidFill>
            <a:srgbClr val="19264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0" name="RoadHead3"/>
          <p:cNvSpPr txBox="1"/>
          <p:nvPr/>
        </p:nvSpPr>
        <p:spPr>
          <a:xfrm>
            <a:off x="5120640" y="3602736"/>
            <a:ext cx="16459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9264B"/>
                </a:solidFill>
              </a:rPr>
              <a:t>선형 vs 비선형</a:t>
            </a:r>
          </a:p>
        </p:txBody>
      </p:sp>
      <p:sp>
        <p:nvSpPr>
          <p:cNvPr id="81" name="RoadDesc3"/>
          <p:cNvSpPr txBox="1"/>
          <p:nvPr/>
        </p:nvSpPr>
        <p:spPr>
          <a:xfrm>
            <a:off x="5120640" y="3895344"/>
            <a:ext cx="16459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A637A"/>
                </a:solidFill>
              </a:rPr>
              <a:t>템플릿 단위 교차검증</a:t>
            </a:r>
          </a:p>
        </p:txBody>
      </p:sp>
      <p:sp>
        <p:nvSpPr>
          <p:cNvPr id="82" name="RoadNum4"/>
          <p:cNvSpPr/>
          <p:nvPr/>
        </p:nvSpPr>
        <p:spPr>
          <a:xfrm>
            <a:off x="6857999" y="3118104"/>
            <a:ext cx="384048" cy="384048"/>
          </a:xfrm>
          <a:prstGeom prst="ellipse">
            <a:avLst/>
          </a:prstGeom>
          <a:solidFill>
            <a:srgbClr val="19264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3" name="RoadHead4"/>
          <p:cNvSpPr txBox="1"/>
          <p:nvPr/>
        </p:nvSpPr>
        <p:spPr>
          <a:xfrm>
            <a:off x="6857999" y="3602736"/>
            <a:ext cx="16459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9264B"/>
                </a:solidFill>
              </a:rPr>
              <a:t>KCC 투고</a:t>
            </a:r>
          </a:p>
        </p:txBody>
      </p:sp>
      <p:sp>
        <p:nvSpPr>
          <p:cNvPr id="84" name="RoadDesc4"/>
          <p:cNvSpPr txBox="1"/>
          <p:nvPr/>
        </p:nvSpPr>
        <p:spPr>
          <a:xfrm>
            <a:off x="6857999" y="3895344"/>
            <a:ext cx="16459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A637A"/>
                </a:solidFill>
              </a:rPr>
              <a:t>→ VLA · LLM으로 확장</a:t>
            </a:r>
          </a:p>
        </p:txBody>
      </p:sp>
    </p:spTree>
    <p:extLst>
      <p:ext uri="{BB962C8B-B14F-4D97-AF65-F5344CB8AC3E}">
        <p14:creationId xmlns:p14="http://schemas.microsoft.com/office/powerpoint/2010/main" val="268575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6992568-50B7-AA6D-59BA-A56AC1185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1A3F77BD-ACD8-6943-C1B4-F2EDF5B935E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52F9512C-F3AA-3DC5-8A77-9F342A16E9C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ED36084D-B0FB-6828-9207-8267DF4E53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849EE-1FB4-5F1F-7A7C-9C2DBD5E4BB0}"/>
              </a:ext>
            </a:extLst>
          </p:cNvPr>
          <p:cNvSpPr txBox="1"/>
          <p:nvPr/>
        </p:nvSpPr>
        <p:spPr>
          <a:xfrm>
            <a:off x="4292301" y="237169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13979760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Microsoft Macintosh PowerPoint</Application>
  <PresentationFormat>On-screen Show (16:9)</PresentationFormat>
  <Paragraphs>105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Cambria</vt:lpstr>
      <vt:lpstr>Courier New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김상진</cp:lastModifiedBy>
  <cp:revision>3</cp:revision>
  <dcterms:modified xsi:type="dcterms:W3CDTF">2026-10-27T04:52:49Z</dcterms:modified>
</cp:coreProperties>
</file>
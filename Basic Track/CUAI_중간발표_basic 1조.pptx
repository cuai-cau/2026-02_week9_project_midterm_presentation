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0e66de1a1d4ede" /><Relationship Type="http://schemas.openxmlformats.org/officeDocument/2006/relationships/extended-properties" Target="/docProps/app.xml" Id="R7ea13ed598314dcf" /><Relationship Type="http://schemas.openxmlformats.org/officeDocument/2006/relationships/officeDocument" Target="/ppt/presentation.xml" Id="R7151a3261d594e44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ee28738e72704843"/>
  </p:sldMasterIdLst>
  <p:notesMasterIdLst>
    <p:notesMasterId xmlns:r="http://schemas.openxmlformats.org/officeDocument/2006/relationships" r:id="R9da7fb4f12d34be0"/>
  </p:notesMasterIdLst>
  <p:sldIdLst>
    <p:sldId xmlns:r="http://schemas.openxmlformats.org/officeDocument/2006/relationships" id="256" r:id="R918b33c1a5ee4c13"/>
    <p:sldId xmlns:r="http://schemas.openxmlformats.org/officeDocument/2006/relationships" id="257" r:id="R240bed7724bb4b66"/>
    <p:sldId xmlns:r="http://schemas.openxmlformats.org/officeDocument/2006/relationships" id="258" r:id="R0a94b4043f694911"/>
    <p:sldId xmlns:r="http://schemas.openxmlformats.org/officeDocument/2006/relationships" id="259" r:id="Rb0994d69dd3a4cf5"/>
    <p:sldId xmlns:r="http://schemas.openxmlformats.org/officeDocument/2006/relationships" id="260" r:id="R08b1bbd04bbb4dba"/>
    <p:sldId xmlns:r="http://schemas.openxmlformats.org/officeDocument/2006/relationships" id="261" r:id="R324f1ed73a984523"/>
  </p:sldIdLst>
  <p:sldSz cx="9144000" cy="5143500"/>
  <p:notesSz cx="6858000" cy="9144000"/>
  <p:embeddedFontLst>
    <p:embeddedFont>
      <p:font typeface="Nanum Gothic"/>
      <p:regular xmlns:r="http://schemas.openxmlformats.org/officeDocument/2006/relationships" r:id="R43202bb1c72044c9"/>
      <p:bold xmlns:r="http://schemas.openxmlformats.org/officeDocument/2006/relationships" r:id="R7a534c6c511748bb"/>
    </p:embeddedFont>
    <p:embeddedFont>
      <p:font typeface="NanumGothicExtraBold"/>
      <p:bold xmlns:r="http://schemas.openxmlformats.org/officeDocument/2006/relationships" r:id="R0fbdc08473c34606"/>
    </p:embeddedFont>
    <p:embeddedFont>
      <p:font typeface="Malgun Gothic"/>
      <p:regular xmlns:r="http://schemas.openxmlformats.org/officeDocument/2006/relationships" r:id="Ra5082afb3440463b"/>
      <p:bold xmlns:r="http://schemas.openxmlformats.org/officeDocument/2006/relationships" r:id="Rad75a3303b014e90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3ade0e54114ab1" /><Relationship Type="http://schemas.openxmlformats.org/officeDocument/2006/relationships/slideMaster" Target="/ppt/slideMasters/slideMaster1.xml" Id="Ree28738e72704843" /><Relationship Type="http://schemas.openxmlformats.org/officeDocument/2006/relationships/notesMaster" Target="/ppt/notesMasters/notesMaster1.xml" Id="R9da7fb4f12d34be0" /><Relationship Type="http://schemas.openxmlformats.org/officeDocument/2006/relationships/presProps" Target="/ppt/presProps.xml" Id="R1ae1910d1d6a4607" /><Relationship Type="http://schemas.openxmlformats.org/officeDocument/2006/relationships/viewProps" Target="/ppt/viewProps.xml" Id="Rb358840d237441da" /><Relationship Type="http://schemas.openxmlformats.org/officeDocument/2006/relationships/tableStyles" Target="/ppt/tableStyles.xml" Id="Rf6da45b70d4f4c4c" /><Relationship Type="http://schemas.openxmlformats.org/officeDocument/2006/relationships/font" Target="/ppt/fonts/font.dat" Id="R43202bb1c72044c9" /><Relationship Type="http://schemas.openxmlformats.org/officeDocument/2006/relationships/font" Target="/ppt/fonts/font2.dat" Id="R7a534c6c511748bb" /><Relationship Type="http://schemas.openxmlformats.org/officeDocument/2006/relationships/font" Target="/ppt/fonts/font3.dat" Id="R0fbdc08473c34606" /><Relationship Type="http://schemas.openxmlformats.org/officeDocument/2006/relationships/font" Target="/ppt/fonts/font4.dat" Id="Ra5082afb3440463b" /><Relationship Type="http://schemas.openxmlformats.org/officeDocument/2006/relationships/font" Target="/ppt/fonts/font5.dat" Id="Rad75a3303b014e90" /><Relationship Type="http://schemas.openxmlformats.org/officeDocument/2006/relationships/slide" Target="/ppt/slides/slide1.xml" Id="R918b33c1a5ee4c13" /><Relationship Type="http://schemas.openxmlformats.org/officeDocument/2006/relationships/slide" Target="/ppt/slides/slide2.xml" Id="R240bed7724bb4b66" /><Relationship Type="http://schemas.openxmlformats.org/officeDocument/2006/relationships/slide" Target="/ppt/slides/slide3.xml" Id="R0a94b4043f694911" /><Relationship Type="http://schemas.openxmlformats.org/officeDocument/2006/relationships/slide" Target="/ppt/slides/slide4.xml" Id="Rb0994d69dd3a4cf5" /><Relationship Type="http://schemas.openxmlformats.org/officeDocument/2006/relationships/slide" Target="/ppt/slides/slide5.xml" Id="R08b1bbd04bbb4dba" /><Relationship Type="http://schemas.openxmlformats.org/officeDocument/2006/relationships/slide" Target="/ppt/slides/slide6.xml" Id="R324f1ed73a9845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48fb08f74d46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b439be02e94a02" /><Relationship Type="http://schemas.openxmlformats.org/officeDocument/2006/relationships/notesMaster" Target="/ppt/notesMasters/notesMaster1.xml" Id="R904935b5d98a47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f2067197484fdf" /><Relationship Type="http://schemas.openxmlformats.org/officeDocument/2006/relationships/notesMaster" Target="/ppt/notesMasters/notesMaster1.xml" Id="R231ff18d986d4c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314afb22c744ba" /><Relationship Type="http://schemas.openxmlformats.org/officeDocument/2006/relationships/notesMaster" Target="/ppt/notesMasters/notesMaster1.xml" Id="R9e086e1949b942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3f18ab7dc24723" /><Relationship Type="http://schemas.openxmlformats.org/officeDocument/2006/relationships/notesMaster" Target="/ppt/notesMasters/notesMaster1.xml" Id="R9a93c268e60f43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16b68426d64f35" /><Relationship Type="http://schemas.openxmlformats.org/officeDocument/2006/relationships/notesMaster" Target="/ppt/notesMasters/notesMaster1.xml" Id="R522ed7db7ae546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3f781f069e4e75" /><Relationship Type="http://schemas.openxmlformats.org/officeDocument/2006/relationships/notesMaster" Target="/ppt/notesMasters/notesMaster1.xml" Id="Rbf0ba854845743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이미지 출처: https://dacon.s3.ap-northeast-2.amazonaws.com/competition/235554/header_background.jpeg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대회: https://dacon.io/competitions/official/235554/data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데이터·구조: https://dacon.io/competitions/official/235554/data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반사율 그림: dodo, 2020-01-28, https://dacon.io/competitions/official/235554/talkboard/400210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생성 조건: https://dacon.io/competitions/official/235554/talkboard/400310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원본 생성 조건: https://dacon.io/competitions/official/235554/talkboard/400310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적층 구조: https://dacon.io/competitions/official/235554/data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75949331544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f9c58a77845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f633b52a54f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d4ed87e7b46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50ad161e24d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774d6a99b4dd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0f293b60146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8282a51234d6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7aaef54434648" /><Relationship Type="http://schemas.openxmlformats.org/officeDocument/2006/relationships/image" Target="/ppt/media/image.png" Id="R0d15e67cacba409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33ed9a07d4b0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b731b233d8452b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7A0F6770-6B52-4200-995C-39068830CCC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EE620846-1932-4EA8-AE68-20D0FDBAD9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85FEA7DE-FE05-438B-86BF-4FF4F771F3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92847A11-7577-466B-A35A-08763ED11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>
            <a:endParaRPr/>
          </a:p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A94CF8E1-EBB7-4231-BD40-7087ECE2BD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FE7B1DB0-BA3D-4582-939F-FB402F8749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6E95C0BD-598D-4BE7-9FD2-3D4C30BC8A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0721D8E-464F-4449-8E58-416766BA7C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36D942D0-EE08-413D-9280-E616D2C9F8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E0175570-B266-49B9-8F40-D5C45389F0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336136A9-7502-4816-8784-B9A85A5BC3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12F3CF26-610D-4903-B80F-B81AE5E560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EB78BEAC-CD70-48B5-88D6-31FB63BBFB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FFFC5561-722A-4700-97A2-7C837964EA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F29E3573-3206-4B29-A8E6-0B70DF2B05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6A2C63E7-6D08-4633-9283-4A3F2E3A5C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701AA6EA-5DBD-461E-93BC-51119200A7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442EACD4-28C6-4EFF-96BB-98BE2D8DD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F0ADE961-7400-4759-839A-83E4C655F5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AB1BB6CC-7BD1-43C5-9EAA-D0DB7847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B675013F-45F1-45F1-A3F5-D1621F675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C719B749-69B1-4A41-87FB-35567C83BF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E39D2C42-6806-4D59-A320-F1AA368598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C7CD7D45-AF04-437F-B873-26D7884F33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348A356B-48D5-4763-9EBF-572E61FE04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6DB0C475-1BC1-46BB-9631-CCBA6396F7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4" name="Google Shape;44;p10">
            <a:extLst xmlns:a="http://schemas.openxmlformats.org/drawingml/2006/main">
              <a:ext uri="{FF2B5EF4-FFF2-40B4-BE49-F238E27FC236}">
                <a16:creationId xmlns:a16="http://schemas.microsoft.com/office/drawing/2014/main" id="{9D48DAAF-6AD3-486E-A023-26A9EDDA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75" y="-84750"/>
            <a:ext cx="9254700" cy="523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>
            <a:extLst xmlns:a="http://schemas.openxmlformats.org/drawingml/2006/main">
              <a:ext uri="{FF2B5EF4-FFF2-40B4-BE49-F238E27FC236}">
                <a16:creationId xmlns:a16="http://schemas.microsoft.com/office/drawing/2014/main" id="{F1B04F92-DD30-4B82-A7B5-838BC0BA39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5e67cacba409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1049750" y="3137425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" name="Google Shape;46;p10">
            <a:extLst xmlns:a="http://schemas.openxmlformats.org/drawingml/2006/main">
              <a:ext uri="{FF2B5EF4-FFF2-40B4-BE49-F238E27FC236}">
                <a16:creationId xmlns:a16="http://schemas.microsoft.com/office/drawing/2014/main" id="{12964992-6157-48A3-A3AB-E458FF6A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225" y="135475"/>
            <a:ext cx="335700" cy="33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>
            <a:extLst xmlns:a="http://schemas.openxmlformats.org/drawingml/2006/main">
              <a:ext uri="{FF2B5EF4-FFF2-40B4-BE49-F238E27FC236}">
                <a16:creationId xmlns:a16="http://schemas.microsoft.com/office/drawing/2014/main" id="{7C0DD265-03D6-43BC-A704-284CF9B6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225" y="616375"/>
            <a:ext cx="335700" cy="335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>
            <a:extLst xmlns:a="http://schemas.openxmlformats.org/drawingml/2006/main">
              <a:ext uri="{FF2B5EF4-FFF2-40B4-BE49-F238E27FC236}">
                <a16:creationId xmlns:a16="http://schemas.microsoft.com/office/drawing/2014/main" id="{9DAC338C-659B-4257-B4FE-7D81288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225" y="1097275"/>
            <a:ext cx="335700" cy="33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>
            <a:extLst xmlns:a="http://schemas.openxmlformats.org/drawingml/2006/main">
              <a:ext uri="{FF2B5EF4-FFF2-40B4-BE49-F238E27FC236}">
                <a16:creationId xmlns:a16="http://schemas.microsoft.com/office/drawing/2014/main" id="{4840F5A6-9BC1-482C-AA7F-96E638183A86}"/>
              </a:ext>
            </a:extLst>
          </p:cNvPr>
          <p:cNvCxnSpPr/>
          <p:nvPr/>
        </p:nvCxnSpPr>
        <p:spPr>
          <a:xfrm xmlns:a="http://schemas.openxmlformats.org/drawingml/2006/main" rot="10800000">
            <a:off x="146900" y="0"/>
            <a:ext cx="0" cy="21525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>
            <a:extLst xmlns:a="http://schemas.openxmlformats.org/drawingml/2006/main">
              <a:ext uri="{FF2B5EF4-FFF2-40B4-BE49-F238E27FC236}">
                <a16:creationId xmlns:a16="http://schemas.microsoft.com/office/drawing/2014/main" id="{9827B150-19BD-4B2E-ACBC-EA78D2C8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50" y="211800"/>
            <a:ext cx="7420500" cy="4719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>
            <a:extLst xmlns:a="http://schemas.openxmlformats.org/drawingml/2006/main">
              <a:ext uri="{FF2B5EF4-FFF2-40B4-BE49-F238E27FC236}">
                <a16:creationId xmlns:a16="http://schemas.microsoft.com/office/drawing/2014/main" id="{C96EE0FC-BF44-4620-84A6-113DFF87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575" y="510025"/>
            <a:ext cx="1470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>
            <a:extLst xmlns:a="http://schemas.openxmlformats.org/drawingml/2006/main">
              <a:ext uri="{FF2B5EF4-FFF2-40B4-BE49-F238E27FC236}">
                <a16:creationId xmlns:a16="http://schemas.microsoft.com/office/drawing/2014/main" id="{2152EC7B-74D2-4F4D-9F8D-613269CB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88" y="59400"/>
            <a:ext cx="1129500" cy="178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8기 활동 소개</a:t>
            </a: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정기세션</a:t>
            </a: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999999"/>
                </a:solidFill>
                <a:latin typeface="Nanum Gothic"/>
                <a:ea typeface="Nanum Gothic"/>
                <a:cs typeface="Nanum Gothic"/>
              </a:rPr>
              <a:t>CUAI Github</a:t>
            </a: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Basic Track</a:t>
            </a: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Advanced Track</a:t>
            </a: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스터디 소개</a:t>
            </a: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999999"/>
                </a:solidFill>
                <a:latin typeface="Nanum Gothic"/>
                <a:ea typeface="Nanum Gothic"/>
                <a:cs typeface="Nanum Gothic"/>
              </a:rPr>
              <a:t>CUAI 장학금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E71F84D0-33F8-4878-BAD0-5E990D0562D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55" name="Google Shape;55;p11">
            <a:extLst xmlns:a="http://schemas.openxmlformats.org/drawingml/2006/main">
              <a:ext uri="{FF2B5EF4-FFF2-40B4-BE49-F238E27FC236}">
                <a16:creationId xmlns:a16="http://schemas.microsoft.com/office/drawing/2014/main" id="{17195367-3AC8-4AA4-9C58-29D7BFC1AB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11">
            <a:extLst xmlns:a="http://schemas.openxmlformats.org/drawingml/2006/main">
              <a:ext uri="{FF2B5EF4-FFF2-40B4-BE49-F238E27FC236}">
                <a16:creationId xmlns:a16="http://schemas.microsoft.com/office/drawing/2014/main" id="{1D6ADD13-2B46-4AB8-B743-DA3B2033AF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02454517-9837-445F-AF6B-BF1D4D36AC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6b330f30914193" /><Relationship Type="http://schemas.openxmlformats.org/officeDocument/2006/relationships/slideLayout" Target="/ppt/slideLayouts/slideLayout1.xml" Id="R049207b1905145bd" /><Relationship Type="http://schemas.openxmlformats.org/officeDocument/2006/relationships/slideLayout" Target="/ppt/slideLayouts/slideLayout2.xml" Id="R4bc8ed8d4b934795" /><Relationship Type="http://schemas.openxmlformats.org/officeDocument/2006/relationships/slideLayout" Target="/ppt/slideLayouts/slideLayout3.xml" Id="Rb5cea68d528a43a4" /><Relationship Type="http://schemas.openxmlformats.org/officeDocument/2006/relationships/slideLayout" Target="/ppt/slideLayouts/slideLayout4.xml" Id="Rda15c959372848ff" /><Relationship Type="http://schemas.openxmlformats.org/officeDocument/2006/relationships/slideLayout" Target="/ppt/slideLayouts/slideLayout5.xml" Id="R41107c7b4e00414e" /><Relationship Type="http://schemas.openxmlformats.org/officeDocument/2006/relationships/slideLayout" Target="/ppt/slideLayouts/slideLayout6.xml" Id="R7ce29ef772c74b6c" /><Relationship Type="http://schemas.openxmlformats.org/officeDocument/2006/relationships/slideLayout" Target="/ppt/slideLayouts/slideLayout7.xml" Id="Rb89ddde7ef434f73" /><Relationship Type="http://schemas.openxmlformats.org/officeDocument/2006/relationships/slideLayout" Target="/ppt/slideLayouts/slideLayout8.xml" Id="Rc264c8ad6a614292" /><Relationship Type="http://schemas.openxmlformats.org/officeDocument/2006/relationships/slideLayout" Target="/ppt/slideLayouts/slideLayout9.xml" Id="R273c1c72f6a84100" /><Relationship Type="http://schemas.openxmlformats.org/officeDocument/2006/relationships/slideLayout" Target="/ppt/slideLayouts/slideLayout10.xml" Id="Rb45854d38dd14889" /><Relationship Type="http://schemas.openxmlformats.org/officeDocument/2006/relationships/slideLayout" Target="/ppt/slideLayouts/slideLayout11.xml" Id="Re9ec76e8889d4b03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09C193D-1767-4825-A89F-77F79937B8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9F5AC91C-3CE6-436E-AE7E-AC6B371B37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E8A786D9-098D-486F-900B-CECDC409B8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9207b1905145bd"/>
    <p:sldLayoutId xmlns:r="http://schemas.openxmlformats.org/officeDocument/2006/relationships" id="2147483650" r:id="R4bc8ed8d4b934795"/>
    <p:sldLayoutId xmlns:r="http://schemas.openxmlformats.org/officeDocument/2006/relationships" id="2147483651" r:id="Rb5cea68d528a43a4"/>
    <p:sldLayoutId xmlns:r="http://schemas.openxmlformats.org/officeDocument/2006/relationships" id="2147483652" r:id="Rda15c959372848ff"/>
    <p:sldLayoutId xmlns:r="http://schemas.openxmlformats.org/officeDocument/2006/relationships" id="2147483653" r:id="R41107c7b4e00414e"/>
    <p:sldLayoutId xmlns:r="http://schemas.openxmlformats.org/officeDocument/2006/relationships" id="2147483654" r:id="R7ce29ef772c74b6c"/>
    <p:sldLayoutId xmlns:r="http://schemas.openxmlformats.org/officeDocument/2006/relationships" id="2147483655" r:id="Rb89ddde7ef434f73"/>
    <p:sldLayoutId xmlns:r="http://schemas.openxmlformats.org/officeDocument/2006/relationships" id="2147483656" r:id="Rc264c8ad6a614292"/>
    <p:sldLayoutId xmlns:r="http://schemas.openxmlformats.org/officeDocument/2006/relationships" id="2147483657" r:id="R273c1c72f6a84100"/>
    <p:sldLayoutId xmlns:r="http://schemas.openxmlformats.org/officeDocument/2006/relationships" id="2147483658" r:id="Rb45854d38dd14889"/>
    <p:sldLayoutId xmlns:r="http://schemas.openxmlformats.org/officeDocument/2006/relationships" id="2147483659" r:id="Re9ec76e8889d4b0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3ef8abce166481a" /><Relationship Type="http://schemas.openxmlformats.org/officeDocument/2006/relationships/image" Target="/ppt/media/image.png" Id="Rf170af20054247c0" /><Relationship Type="http://schemas.openxmlformats.org/officeDocument/2006/relationships/image" Target="/ppt/media/image2.png" Id="R5172d697f2534e4a" /><Relationship Type="http://schemas.openxmlformats.org/officeDocument/2006/relationships/notesSlide" Target="/ppt/notesSlides/notesSlide1.xml" Id="Rfe05fd82434d4e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e25c88960fb4835" /><Relationship Type="http://schemas.openxmlformats.org/officeDocument/2006/relationships/image" Target="/ppt/media/image.png" Id="Rc202fafcaa20418c" /><Relationship Type="http://schemas.openxmlformats.org/officeDocument/2006/relationships/image" Target="/ppt/media/image3.png" Id="R69495935e283439a" /><Relationship Type="http://schemas.openxmlformats.org/officeDocument/2006/relationships/notesSlide" Target="/ppt/notesSlides/notesSlide2.xml" Id="R611b9e87b95b40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b8e09fecd7741fa" /><Relationship Type="http://schemas.openxmlformats.org/officeDocument/2006/relationships/image" Target="/ppt/media/image.png" Id="R9bbf07cae5314b3f" /><Relationship Type="http://schemas.openxmlformats.org/officeDocument/2006/relationships/notesSlide" Target="/ppt/notesSlides/notesSlide3.xml" Id="R039d9b17d2b04f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3dbf220ed764f2c" /><Relationship Type="http://schemas.openxmlformats.org/officeDocument/2006/relationships/image" Target="/ppt/media/image.png" Id="R7c9021f909794e1c" /><Relationship Type="http://schemas.openxmlformats.org/officeDocument/2006/relationships/notesSlide" Target="/ppt/notesSlides/notesSlide4.xml" Id="Ree9ecb44e5b84c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1ed3fe6a67348b0" /><Relationship Type="http://schemas.openxmlformats.org/officeDocument/2006/relationships/image" Target="/ppt/media/image.png" Id="R7be1b126bbcf472b" /><Relationship Type="http://schemas.openxmlformats.org/officeDocument/2006/relationships/notesSlide" Target="/ppt/notesSlides/notesSlide5.xml" Id="Rd01326d75f4546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bf3bd249c4ccd" /><Relationship Type="http://schemas.openxmlformats.org/officeDocument/2006/relationships/image" Target="/ppt/media/image.png" Id="Raa83693f3cf04096" /><Relationship Type="http://schemas.openxmlformats.org/officeDocument/2006/relationships/notesSlide" Target="/ppt/notesSlides/notesSlide6.xml" Id="R1b5698ab6e084d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C94B63C7-2EE3-4562-A69F-8F1E7E64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" name="Google Shape;65;p13">
            <a:extLst xmlns:a="http://schemas.openxmlformats.org/drawingml/2006/main">
              <a:ext uri="{FF2B5EF4-FFF2-40B4-BE49-F238E27FC236}">
                <a16:creationId xmlns:a16="http://schemas.microsoft.com/office/drawing/2014/main" id="{0C8CE8F1-BC75-404C-9233-08C5616D96A3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>
            <a:extLst xmlns:a="http://schemas.openxmlformats.org/drawingml/2006/main">
              <a:ext uri="{FF2B5EF4-FFF2-40B4-BE49-F238E27FC236}">
                <a16:creationId xmlns:a16="http://schemas.microsoft.com/office/drawing/2014/main" id="{0E69C139-1A48-4F2B-80A7-577134D491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0af20054247c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7" name="그림 66">
            <a:extLst xmlns:a="http://schemas.openxmlformats.org/drawingml/2006/main">
              <a:ext uri="{FF2B5EF4-FFF2-40B4-BE49-F238E27FC236}">
                <a16:creationId xmlns:a16="http://schemas.microsoft.com/office/drawing/2014/main" id="{EE375613-5B4E-4D10-95CB-C597E14DC4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2d697f2534e4a"/>
          <a:stretch xmlns:a="http://schemas.openxmlformats.org/drawingml/2006/main"/>
        </p:blipFill>
        <p:spPr>
          <a:xfrm xmlns:a="http://schemas.openxmlformats.org/drawingml/2006/main">
            <a:off x="1412833" y="876300"/>
            <a:ext cx="7232734" cy="1381125"/>
          </a:xfrm>
          <a:prstGeom xmlns:a="http://schemas.openxmlformats.org/drawingml/2006/main" prst="rect">
            <a:avLst/>
          </a:prstGeom>
        </p:spPr>
      </p:pic>
      <p:sp>
        <p:nvSpPr>
          <p:cNvPr id="68" name="반도체 박막 두께 예측 AI&#10;잡음 안정성 평가">
            <a:extLst xmlns:a="http://schemas.openxmlformats.org/drawingml/2006/main">
              <a:ext uri="{FF2B5EF4-FFF2-40B4-BE49-F238E27FC236}">
                <a16:creationId xmlns:a16="http://schemas.microsoft.com/office/drawing/2014/main" id="{D9848AF5-0C38-4F70-9CDA-76D85090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479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반도체 박막 두께 예측 AI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잡음 안정성 평가</a:t>
            </a:r>
          </a:p>
        </p:txBody>
      </p:sp>
      <p:sp>
        <p:nvSpPr>
          <p:cNvPr id="69" name="CUAI 프로젝트 주제 발표">
            <a:extLst xmlns:a="http://schemas.openxmlformats.org/drawingml/2006/main">
              <a:ext uri="{FF2B5EF4-FFF2-40B4-BE49-F238E27FC236}">
                <a16:creationId xmlns:a16="http://schemas.microsoft.com/office/drawing/2014/main" id="{A3937782-D3C8-4C4A-892B-74EE76FB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52875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65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65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65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65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65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65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65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65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65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CUAI 프로젝트 주제 발표</a:t>
            </a:r>
          </a:p>
        </p:txBody>
      </p:sp>
      <p:sp>
        <p:nvSpPr>
          <p:cNvPr id="70" name="실험 전 연구 계획   2026.10">
            <a:extLst xmlns:a="http://schemas.openxmlformats.org/drawingml/2006/main">
              <a:ext uri="{FF2B5EF4-FFF2-40B4-BE49-F238E27FC236}">
                <a16:creationId xmlns:a16="http://schemas.microsoft.com/office/drawing/2014/main" id="{BE4BC5BB-2409-4AE9-BF2B-98DE2B63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910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실험 전 연구 계획   2026.10</a:t>
            </a:r>
          </a:p>
        </p:txBody>
      </p:sp>
    </p:spTree>
    <p:extLst>
      <p:ext uri="{BB962C8B-B14F-4D97-AF65-F5344CB8AC3E}">
        <p14:creationId xmlns:p14="http://schemas.microsoft.com/office/powerpoint/2010/main" val="14455379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Google Shape;81;p15">
            <a:extLst xmlns:a="http://schemas.openxmlformats.org/drawingml/2006/main">
              <a:ext uri="{FF2B5EF4-FFF2-40B4-BE49-F238E27FC236}">
                <a16:creationId xmlns:a16="http://schemas.microsoft.com/office/drawing/2014/main" id="{C70A026F-885C-9C63-E439-D99252DE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>
            <a:extLst xmlns:a="http://schemas.openxmlformats.org/drawingml/2006/main">
              <a:ext uri="{FF2B5EF4-FFF2-40B4-BE49-F238E27FC236}">
                <a16:creationId xmlns:a16="http://schemas.microsoft.com/office/drawing/2014/main" id="{04AB42FA-A864-4BFE-BE5C-7B863948F3E3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>
            <a:extLst xmlns:a="http://schemas.openxmlformats.org/drawingml/2006/main">
              <a:ext uri="{FF2B5EF4-FFF2-40B4-BE49-F238E27FC236}">
                <a16:creationId xmlns:a16="http://schemas.microsoft.com/office/drawing/2014/main" id="{0EA8FBA8-FC24-4083-A30E-F6E0D0F750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2fafcaa20418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4" name="반사율 데이터와 예측 대상">
            <a:extLst xmlns:a="http://schemas.openxmlformats.org/drawingml/2006/main">
              <a:ext uri="{FF2B5EF4-FFF2-40B4-BE49-F238E27FC236}">
                <a16:creationId xmlns:a16="http://schemas.microsoft.com/office/drawing/2014/main" id="{D011DE45-0A65-4C84-8198-A28DD473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반사율 데이터와 예측 대상</a:t>
            </a:r>
          </a:p>
        </p:txBody>
      </p:sp>
      <p:sp>
        <p:nvSpPr>
          <p:cNvPr id="85" name="반사율 패턴에서 네 개 박막층의 두께를 추정">
            <a:extLst xmlns:a="http://schemas.openxmlformats.org/drawingml/2006/main">
              <a:ext uri="{FF2B5EF4-FFF2-40B4-BE49-F238E27FC236}">
                <a16:creationId xmlns:a16="http://schemas.microsoft.com/office/drawing/2014/main" id="{DA5C7143-96CA-4F3B-88C3-EE470DE8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287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반사율 패턴에서 네 개 박막층의 두께를 추정</a:t>
            </a:r>
          </a:p>
        </p:txBody>
      </p:sp>
      <p:sp>
        <p:nvSpPr>
          <p:cNvPr id="86" name="입력 · 226개 채널의 반사율">
            <a:extLst xmlns:a="http://schemas.openxmlformats.org/drawingml/2006/main">
              <a:ext uri="{FF2B5EF4-FFF2-40B4-BE49-F238E27FC236}">
                <a16:creationId xmlns:a16="http://schemas.microsoft.com/office/drawing/2014/main" id="{A625A40A-5FF3-4A12-B879-9BE934C4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입력 · 226개 채널의 반사율</a:t>
            </a:r>
          </a:p>
        </p:txBody>
      </p:sp>
      <p:pic>
        <p:nvPicPr>
          <p:cNvPr id="87" name="그림 86">
            <a:extLst xmlns:a="http://schemas.openxmlformats.org/drawingml/2006/main">
              <a:ext uri="{FF2B5EF4-FFF2-40B4-BE49-F238E27FC236}">
                <a16:creationId xmlns:a16="http://schemas.microsoft.com/office/drawing/2014/main" id="{52D700A7-89F1-44FE-9DDE-5B4BB5C63E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95935e283439a"/>
          <a:stretch xmlns:a="http://schemas.openxmlformats.org/drawingml/2006/main"/>
        </p:blipFill>
        <p:spPr>
          <a:xfrm xmlns:a="http://schemas.openxmlformats.org/drawingml/2006/main">
            <a:off x="1457325" y="2011434"/>
            <a:ext cx="4267200" cy="2235058"/>
          </a:xfrm>
          <a:prstGeom xmlns:a="http://schemas.openxmlformats.org/drawingml/2006/main" prst="rect">
            <a:avLst/>
          </a:prstGeom>
        </p:spPr>
      </p:pic>
      <p:sp>
        <p:nvSpPr>
          <p:cNvPr id="88" name="출력 · 층별 두께 4개">
            <a:extLst xmlns:a="http://schemas.openxmlformats.org/drawingml/2006/main">
              <a:ext uri="{FF2B5EF4-FFF2-40B4-BE49-F238E27FC236}">
                <a16:creationId xmlns:a16="http://schemas.microsoft.com/office/drawing/2014/main" id="{C270A845-F4A4-40FF-848E-218BE38C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002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출력 · 층별 두께 4개</a:t>
            </a:r>
          </a:p>
        </p:txBody>
      </p:sp>
      <p:graphicFrame>
        <p:nvGraphicFramePr>
          <p:cNvPr id="89" name="표 88">
            <a:extLst xmlns:a="http://schemas.openxmlformats.org/drawingml/2006/main">
              <a:ext uri="{FF2B5EF4-FFF2-40B4-BE49-F238E27FC236}">
                <a16:creationId xmlns:a16="http://schemas.microsoft.com/office/drawing/2014/main" id="{EF81AD6D-28D4-437C-BC8C-DA806DDE3E94}"/>
              </a:ext>
            </a:extLst>
          </p:cNvPr>
          <p:cNvGraphicFramePr/>
          <p:nvPr/>
        </p:nvGraphicFramePr>
        <p:xfrm>
          <a:off xmlns:a="http://schemas.openxmlformats.org/drawingml/2006/main" x="6191250" y="2038350"/>
          <a:ext xmlns:a="http://schemas.openxmlformats.org/drawingml/2006/main" cx="257175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"/>
                <a:gridCol w="1095375"/>
                <a:gridCol w="857250"/>
              </a:tblGrid>
              <a:tr h="409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926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1층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926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질화규소</a:t>
                      </a:r>
                    </a:p>
                  </a:txBody>
                  <a:tcPr marL="91440" marR="91440" marT="45720" marB="45720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926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d₁</a:t>
                      </a:r>
                    </a:p>
                  </a:txBody>
                  <a:tcPr marL="91440" marR="91440" marT="45720" marB="45720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CE8F5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926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2층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926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이산화규소</a:t>
                      </a:r>
                    </a:p>
                  </a:txBody>
                  <a:tcPr marL="91440" marR="91440" marT="45720" marB="45720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926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d₂</a:t>
                      </a:r>
                    </a:p>
                  </a:txBody>
                  <a:tcPr marL="91440" marR="91440" marT="45720" marB="45720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926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3층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926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질화규소</a:t>
                      </a:r>
                    </a:p>
                  </a:txBody>
                  <a:tcPr marL="91440" marR="91440" marT="45720" marB="45720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926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d₃</a:t>
                      </a:r>
                    </a:p>
                  </a:txBody>
                  <a:tcPr marL="91440" marR="91440" marT="45720" marB="45720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CE8F5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926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4층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926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이산화규소</a:t>
                      </a:r>
                    </a:p>
                  </a:txBody>
                  <a:tcPr marL="91440" marR="91440" marT="45720" marB="45720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9264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d₄</a:t>
                      </a:r>
                    </a:p>
                  </a:txBody>
                  <a:tcPr marL="91440" marR="91440" marT="45720" marB="45720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기판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규소</a:t>
                      </a:r>
                    </a:p>
                  </a:txBody>
                  <a:tcPr marL="91440" marR="91440" marT="45720" marB="45720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예측 제외</a:t>
                      </a:r>
                    </a:p>
                  </a:txBody>
                  <a:tcPr marL="91440" marR="91440" marT="45720" marB="45720" anchor="ctr">
                    <a:lnL w="19050" cmpd="sng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mpd="sng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19264B"/>
                    </a:solidFill>
                  </a:tcPr>
                </a:tc>
              </a:tr>
            </a:tbl>
          </a:graphicData>
        </a:graphic>
      </p:graphicFrame>
      <p:cxnSp>
        <p:nvCxnSpPr>
          <p:cNvPr id="90" name="직선 화살표 연결선 89">
            <a:extLst xmlns:a="http://schemas.openxmlformats.org/drawingml/2006/main">
              <a:ext uri="{FF2B5EF4-FFF2-40B4-BE49-F238E27FC236}">
                <a16:creationId xmlns:a16="http://schemas.microsoft.com/office/drawing/2014/main" id="{E478C8CF-0C4C-4F41-A793-C31A2C478AF2}"/>
              </a:ext>
            </a:extLst>
          </p:cNvPr>
          <p:cNvCxnSpPr/>
          <p:nvPr/>
        </p:nvCxnSpPr>
        <p:spPr>
          <a:xfrm xmlns:a="http://schemas.openxmlformats.org/drawingml/2006/main">
            <a:off x="5772150" y="30575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75D1"/>
            </a:solidFill>
            <a:tailEnd type="triangle" w="med" len="med"/>
          </a:ln>
        </p:spPr>
      </p:cxnSp>
      <p:sp>
        <p:nvSpPr>
          <p:cNvPr id="91" name="학습 표본 약 81만 개 · 광학 계산 기반 합성 데이터">
            <a:extLst xmlns:a="http://schemas.openxmlformats.org/drawingml/2006/main">
              <a:ext uri="{FF2B5EF4-FFF2-40B4-BE49-F238E27FC236}">
                <a16:creationId xmlns:a16="http://schemas.microsoft.com/office/drawing/2014/main" id="{D91B1375-3CE3-42CE-95D4-AE59EA46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714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50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50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50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50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50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50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50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50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50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학습 표본 약 81만 개 · 광학 계산 기반 합성 데이터</a:t>
            </a:r>
          </a:p>
        </p:txBody>
      </p:sp>
      <p:sp>
        <p:nvSpPr>
          <p:cNvPr id="92" name="그림: DACON dodo 공개 분석(2020) · 데이터 예시, 팀 실">
            <a:extLst xmlns:a="http://schemas.openxmlformats.org/drawingml/2006/main">
              <a:ext uri="{FF2B5EF4-FFF2-40B4-BE49-F238E27FC236}">
                <a16:creationId xmlns:a16="http://schemas.microsoft.com/office/drawing/2014/main" id="{BB085A8A-1B1F-4B23-94E4-CADBA085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38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938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938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938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938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938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938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938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938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938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그림: DACON dodo 공개 분석(2020) · 데이터 예시, 팀 실험 결과 아님</a:t>
            </a:r>
          </a:p>
        </p:txBody>
      </p:sp>
    </p:spTree>
    <p:extLst>
      <p:ext uri="{BB962C8B-B14F-4D97-AF65-F5344CB8AC3E}">
        <p14:creationId xmlns:p14="http://schemas.microsoft.com/office/powerpoint/2010/main" val="42732950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8" name="직선 화살표 연결선 107">
            <a:extLst xmlns:a="http://schemas.openxmlformats.org/drawingml/2006/main">
              <a:ext uri="{FF2B5EF4-FFF2-40B4-BE49-F238E27FC236}">
                <a16:creationId xmlns:a16="http://schemas.microsoft.com/office/drawing/2014/main" id="{433E0577-6853-482B-B877-365209C13465}"/>
              </a:ext>
            </a:extLst>
          </p:cNvPr>
          <p:cNvCxnSpPr>
            <a:stCxn xmlns:a="http://schemas.openxmlformats.org/drawingml/2006/main" id="100" idx="6"/>
            <a:endCxn xmlns:a="http://schemas.openxmlformats.org/drawingml/2006/main" id="103" idx="2"/>
          </p:cNvCxnSpPr>
          <p:nvPr/>
        </p:nvCxnSpPr>
        <p:spPr>
          <a:xfrm xmlns:a="http://schemas.openxmlformats.org/drawingml/2006/main">
            <a:off x="6219825" y="2238375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75D1"/>
            </a:solidFill>
            <a:prstDash val="solid"/>
            <a:tailEnd type="triangle" w="med" len="med"/>
          </a:ln>
        </p:spPr>
      </p:cxnSp>
      <p:cxnSp>
        <p:nvCxnSpPr>
          <p:cNvPr id="107" name="직선 화살표 연결선 106">
            <a:extLst xmlns:a="http://schemas.openxmlformats.org/drawingml/2006/main">
              <a:ext uri="{FF2B5EF4-FFF2-40B4-BE49-F238E27FC236}">
                <a16:creationId xmlns:a16="http://schemas.microsoft.com/office/drawing/2014/main" id="{5915EEDB-2C36-41CD-8ACE-9D897E5D56AC}"/>
              </a:ext>
            </a:extLst>
          </p:cNvPr>
          <p:cNvCxnSpPr>
            <a:stCxn xmlns:a="http://schemas.openxmlformats.org/drawingml/2006/main" id="97" idx="6"/>
            <a:endCxn xmlns:a="http://schemas.openxmlformats.org/drawingml/2006/main" id="100" idx="2"/>
          </p:cNvCxnSpPr>
          <p:nvPr/>
        </p:nvCxnSpPr>
        <p:spPr>
          <a:xfrm xmlns:a="http://schemas.openxmlformats.org/drawingml/2006/main">
            <a:off x="4410075" y="2238375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75D1"/>
            </a:solidFill>
            <a:prstDash val="solid"/>
            <a:tailEnd type="triangle" w="med" len="med"/>
          </a:ln>
        </p:spPr>
      </p:cxnSp>
      <p:cxnSp>
        <p:nvCxnSpPr>
          <p:cNvPr id="106" name="직선 화살표 연결선 105">
            <a:extLst xmlns:a="http://schemas.openxmlformats.org/drawingml/2006/main">
              <a:ext uri="{FF2B5EF4-FFF2-40B4-BE49-F238E27FC236}">
                <a16:creationId xmlns:a16="http://schemas.microsoft.com/office/drawing/2014/main" id="{2C27A9BA-1DEC-41C9-9DA0-80C820E65C84}"/>
              </a:ext>
            </a:extLst>
          </p:cNvPr>
          <p:cNvCxnSpPr>
            <a:stCxn xmlns:a="http://schemas.openxmlformats.org/drawingml/2006/main" id="94" idx="6"/>
            <a:endCxn xmlns:a="http://schemas.openxmlformats.org/drawingml/2006/main" id="97" idx="2"/>
          </p:cNvCxnSpPr>
          <p:nvPr/>
        </p:nvCxnSpPr>
        <p:spPr>
          <a:xfrm xmlns:a="http://schemas.openxmlformats.org/drawingml/2006/main">
            <a:off x="2600325" y="2238375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75D1"/>
            </a:solidFill>
            <a:prstDash val="solid"/>
            <a:tailEnd type="triangle" w="med" len="med"/>
          </a:ln>
        </p:spPr>
      </p:cxnSp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B2DC2D31-A076-D80A-2A23-73D60702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45D8676A-6729-4916-B920-913D70540A95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4519E785-6244-4E8D-B262-68618C5166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f07cae5314b3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프로젝트 진행 흐름">
            <a:extLst xmlns:a="http://schemas.openxmlformats.org/drawingml/2006/main">
              <a:ext uri="{FF2B5EF4-FFF2-40B4-BE49-F238E27FC236}">
                <a16:creationId xmlns:a16="http://schemas.microsoft.com/office/drawing/2014/main" id="{B3336700-49F5-4DE1-967C-B8E229A0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프로젝트 진행 흐름</a:t>
            </a:r>
          </a:p>
        </p:txBody>
      </p:sp>
      <p:sp>
        <p:nvSpPr>
          <p:cNvPr id="93" name="데이터를 준비하고, 모델을 만든 뒤 잡음의 영향을 비교">
            <a:extLst xmlns:a="http://schemas.openxmlformats.org/drawingml/2006/main">
              <a:ext uri="{FF2B5EF4-FFF2-40B4-BE49-F238E27FC236}">
                <a16:creationId xmlns:a16="http://schemas.microsoft.com/office/drawing/2014/main" id="{523042B7-402E-4AAD-BF7E-A7D2C293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287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데이터를 준비하고, 모델을 만든 뒤 잡음의 영향을 비교</a:t>
            </a:r>
          </a:p>
        </p:txBody>
      </p:sp>
      <p:sp>
        <p:nvSpPr>
          <p:cNvPr id="94" name="워크플로 단계 1">
            <a:extLst xmlns:a="http://schemas.openxmlformats.org/drawingml/2006/main">
              <a:ext uri="{FF2B5EF4-FFF2-40B4-BE49-F238E27FC236}">
                <a16:creationId xmlns:a16="http://schemas.microsoft.com/office/drawing/2014/main" id="{E675A716-ADC3-4821-AA51-78FBD90F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71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5" name="데이터 준비">
            <a:extLst xmlns:a="http://schemas.openxmlformats.org/drawingml/2006/main">
              <a:ext uri="{FF2B5EF4-FFF2-40B4-BE49-F238E27FC236}">
                <a16:creationId xmlns:a16="http://schemas.microsoft.com/office/drawing/2014/main" id="{EE87C830-6770-4CC6-A467-6CFF9C5F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527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데이터 준비</a:t>
            </a:r>
          </a:p>
        </p:txBody>
      </p:sp>
      <p:sp>
        <p:nvSpPr>
          <p:cNvPr id="96" name="학습·검증 분리&#10;입력·정답 확인">
            <a:extLst xmlns:a="http://schemas.openxmlformats.org/drawingml/2006/main">
              <a:ext uri="{FF2B5EF4-FFF2-40B4-BE49-F238E27FC236}">
                <a16:creationId xmlns:a16="http://schemas.microsoft.com/office/drawing/2014/main" id="{296738A5-2754-40C3-9F6A-CD6DA69C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67075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학습·검증 분리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입력·정답 확인</a:t>
            </a:r>
          </a:p>
        </p:txBody>
      </p:sp>
      <p:sp>
        <p:nvSpPr>
          <p:cNvPr id="97" name="워크플로 단계 2">
            <a:extLst xmlns:a="http://schemas.openxmlformats.org/drawingml/2006/main">
              <a:ext uri="{FF2B5EF4-FFF2-40B4-BE49-F238E27FC236}">
                <a16:creationId xmlns:a16="http://schemas.microsoft.com/office/drawing/2014/main" id="{A1660D58-FE6E-476A-9255-42449140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971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8" name="기준 모델 학습">
            <a:extLst xmlns:a="http://schemas.openxmlformats.org/drawingml/2006/main">
              <a:ext uri="{FF2B5EF4-FFF2-40B4-BE49-F238E27FC236}">
                <a16:creationId xmlns:a16="http://schemas.microsoft.com/office/drawing/2014/main" id="{352073D3-AF16-42DA-8A4D-B9E2423A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527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기준 모델 학습</a:t>
            </a:r>
          </a:p>
        </p:txBody>
      </p:sp>
      <p:sp>
        <p:nvSpPr>
          <p:cNvPr id="99" name="MLP 회귀 모델&#10;MAE 손실 + Adam">
            <a:extLst xmlns:a="http://schemas.openxmlformats.org/drawingml/2006/main">
              <a:ext uri="{FF2B5EF4-FFF2-40B4-BE49-F238E27FC236}">
                <a16:creationId xmlns:a16="http://schemas.microsoft.com/office/drawing/2014/main" id="{C96FD949-7D53-4E5C-8181-74A9E173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67075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MLP 한 종류 학습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원본 데이터 기준</a:t>
            </a:r>
          </a:p>
        </p:txBody>
      </p:sp>
      <p:sp>
        <p:nvSpPr>
          <p:cNvPr id="100" name="워크플로 단계 3">
            <a:extLst xmlns:a="http://schemas.openxmlformats.org/drawingml/2006/main">
              <a:ext uri="{FF2B5EF4-FFF2-40B4-BE49-F238E27FC236}">
                <a16:creationId xmlns:a16="http://schemas.microsoft.com/office/drawing/2014/main" id="{4A347648-4066-4F31-A3B4-5919EC70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971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1" name="추가 잡음 주입">
            <a:extLst xmlns:a="http://schemas.openxmlformats.org/drawingml/2006/main">
              <a:ext uri="{FF2B5EF4-FFF2-40B4-BE49-F238E27FC236}">
                <a16:creationId xmlns:a16="http://schemas.microsoft.com/office/drawing/2014/main" id="{4B67AD8F-5971-4649-9DC2-966F4489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527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추가 잡음 주입</a:t>
            </a:r>
          </a:p>
        </p:txBody>
      </p:sp>
      <p:sp>
        <p:nvSpPr>
          <p:cNvPr id="102" name="같은 반사율 입력에&#10;Gaussian Noise 추가">
            <a:extLst xmlns:a="http://schemas.openxmlformats.org/drawingml/2006/main">
              <a:ext uri="{FF2B5EF4-FFF2-40B4-BE49-F238E27FC236}">
                <a16:creationId xmlns:a16="http://schemas.microsoft.com/office/drawing/2014/main" id="{A24A3BED-204C-4234-9A08-132A3367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67075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같은 반사율 입력에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Gaussian Noise 추가</a:t>
            </a:r>
          </a:p>
        </p:txBody>
      </p:sp>
      <p:sp>
        <p:nvSpPr>
          <p:cNvPr id="103" name="워크플로 단계 4">
            <a:extLst xmlns:a="http://schemas.openxmlformats.org/drawingml/2006/main">
              <a:ext uri="{FF2B5EF4-FFF2-40B4-BE49-F238E27FC236}">
                <a16:creationId xmlns:a16="http://schemas.microsoft.com/office/drawing/2014/main" id="{ED236786-70CA-434F-923E-B0FB912E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971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04" name="안정성 비교">
            <a:extLst xmlns:a="http://schemas.openxmlformats.org/drawingml/2006/main">
              <a:ext uri="{FF2B5EF4-FFF2-40B4-BE49-F238E27FC236}">
                <a16:creationId xmlns:a16="http://schemas.microsoft.com/office/drawing/2014/main" id="{C26C1BC6-E033-4EEF-8CC5-5CE086CF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527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예측 결과 비교</a:t>
            </a:r>
          </a:p>
        </p:txBody>
      </p:sp>
      <p:sp>
        <p:nvSpPr>
          <p:cNvPr id="105" name="MAE·MAPE 변화&#10;층별·두께별 비교">
            <a:extLst xmlns:a="http://schemas.openxmlformats.org/drawingml/2006/main">
              <a:ext uri="{FF2B5EF4-FFF2-40B4-BE49-F238E27FC236}">
                <a16:creationId xmlns:a16="http://schemas.microsoft.com/office/drawing/2014/main" id="{CC8533BF-EB6D-43A1-B9E1-6719FC94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67075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전체·층별 예측 오차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원본 대비 예측 변화</a:t>
            </a:r>
          </a:p>
        </p:txBody>
      </p:sp>
      <p:sp>
        <p:nvSpPr>
          <p:cNvPr id="109" name="현재는 주제·계획 수립 단계이며, 학습과 성능 시험은 앞으로 진행">
            <a:extLst xmlns:a="http://schemas.openxmlformats.org/drawingml/2006/main">
              <a:ext uri="{FF2B5EF4-FFF2-40B4-BE49-F238E27FC236}">
                <a16:creationId xmlns:a16="http://schemas.microsoft.com/office/drawing/2014/main" id="{16AEAF48-97E8-417E-BFD2-856A7737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912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4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4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4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4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4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4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4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4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4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현재는 주제·계획 수립 단계이며, 학습과 성능 시험은 앞으로 진행</a:t>
            </a:r>
          </a:p>
        </p:txBody>
      </p:sp>
    </p:spTree>
    <p:extLst>
      <p:ext uri="{BB962C8B-B14F-4D97-AF65-F5344CB8AC3E}">
        <p14:creationId xmlns:p14="http://schemas.microsoft.com/office/powerpoint/2010/main" val="26675794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6" name="직선 화살표 연결선 105">
            <a:extLst xmlns:a="http://schemas.openxmlformats.org/drawingml/2006/main">
              <a:ext uri="{FF2B5EF4-FFF2-40B4-BE49-F238E27FC236}">
                <a16:creationId xmlns:a16="http://schemas.microsoft.com/office/drawing/2014/main" id="{CD9DB5C2-3D37-4445-98C7-C0C60266232B}"/>
              </a:ext>
            </a:extLst>
          </p:cNvPr>
          <p:cNvCxnSpPr>
            <a:stCxn xmlns:a="http://schemas.openxmlformats.org/drawingml/2006/main" id="98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6696075" y="334327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75D1"/>
            </a:solidFill>
            <a:prstDash val="solid"/>
            <a:tailEnd type="triangle" w="med" len="med"/>
          </a:ln>
        </p:spPr>
      </p:cxnSp>
      <p:cxnSp>
        <p:nvCxnSpPr>
          <p:cNvPr id="105" name="직선 화살표 연결선 104">
            <a:extLst xmlns:a="http://schemas.openxmlformats.org/drawingml/2006/main">
              <a:ext uri="{FF2B5EF4-FFF2-40B4-BE49-F238E27FC236}">
                <a16:creationId xmlns:a16="http://schemas.microsoft.com/office/drawing/2014/main" id="{DC35556B-C537-4C54-A7B7-3BF5C5256D3B}"/>
              </a:ext>
            </a:extLst>
          </p:cNvPr>
          <p:cNvCxnSpPr>
            <a:stCxn xmlns:a="http://schemas.openxmlformats.org/drawingml/2006/main" id="97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6696075" y="19812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75D1"/>
            </a:solidFill>
            <a:prstDash val="solid"/>
            <a:tailEnd type="triangle" w="med" len="med"/>
          </a:ln>
        </p:spPr>
      </p:cxnSp>
      <p:cxnSp>
        <p:nvCxnSpPr>
          <p:cNvPr id="104" name="직선 화살표 연결선 103">
            <a:extLst xmlns:a="http://schemas.openxmlformats.org/drawingml/2006/main">
              <a:ext uri="{FF2B5EF4-FFF2-40B4-BE49-F238E27FC236}">
                <a16:creationId xmlns:a16="http://schemas.microsoft.com/office/drawing/2014/main" id="{ADB12DB4-A9AC-454B-B030-BB269CC92178}"/>
              </a:ext>
            </a:extLst>
          </p:cNvPr>
          <p:cNvCxnSpPr>
            <a:stCxn xmlns:a="http://schemas.openxmlformats.org/drawingml/2006/main" id="96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4867275" y="334327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75D1"/>
            </a:solidFill>
            <a:prstDash val="solid"/>
            <a:tailEnd type="triangle" w="med" len="med"/>
          </a:ln>
        </p:spPr>
      </p:cxnSp>
      <p:cxnSp>
        <p:nvCxnSpPr>
          <p:cNvPr id="103" name="직선 화살표 연결선 102">
            <a:extLst xmlns:a="http://schemas.openxmlformats.org/drawingml/2006/main">
              <a:ext uri="{FF2B5EF4-FFF2-40B4-BE49-F238E27FC236}">
                <a16:creationId xmlns:a16="http://schemas.microsoft.com/office/drawing/2014/main" id="{202009F8-0F70-4DD7-8D4A-ABA70577881C}"/>
              </a:ext>
            </a:extLst>
          </p:cNvPr>
          <p:cNvCxnSpPr>
            <a:stCxn xmlns:a="http://schemas.openxmlformats.org/drawingml/2006/main" id="95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4867275" y="19812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75D1"/>
            </a:solidFill>
            <a:prstDash val="solid"/>
            <a:tailEnd type="triangle" w="med" len="med"/>
          </a:ln>
        </p:spPr>
      </p:cxnSp>
      <p:cxnSp>
        <p:nvCxnSpPr>
          <p:cNvPr id="102" name="연결선: 꺾임 101">
            <a:extLst xmlns:a="http://schemas.openxmlformats.org/drawingml/2006/main">
              <a:ext uri="{FF2B5EF4-FFF2-40B4-BE49-F238E27FC236}">
                <a16:creationId xmlns:a16="http://schemas.microsoft.com/office/drawing/2014/main" id="{7D7DA015-8950-4A4E-BA68-E1DAD8C2442F}"/>
              </a:ext>
            </a:extLst>
          </p:cNvPr>
          <p:cNvCxnSpPr>
            <a:stCxn xmlns:a="http://schemas.openxmlformats.org/drawingml/2006/main" id="94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2952750" y="2586038"/>
            <a:ext cx="533400" cy="7572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75D1"/>
            </a:solidFill>
            <a:prstDash val="solid"/>
            <a:tailEnd type="triangle" w="med" len="med"/>
          </a:ln>
        </p:spPr>
      </p:cxnSp>
      <p:cxnSp>
        <p:nvCxnSpPr>
          <p:cNvPr id="101" name="연결선: 꺾임 100">
            <a:extLst xmlns:a="http://schemas.openxmlformats.org/drawingml/2006/main">
              <a:ext uri="{FF2B5EF4-FFF2-40B4-BE49-F238E27FC236}">
                <a16:creationId xmlns:a16="http://schemas.microsoft.com/office/drawing/2014/main" id="{EF1A13D1-D6EE-4DA2-AB3B-4C33F0E88E5E}"/>
              </a:ext>
            </a:extLst>
          </p:cNvPr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 flipV="1">
            <a:off x="2952750" y="1981200"/>
            <a:ext cx="533400" cy="604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875D1"/>
            </a:solidFill>
            <a:prstDash val="solid"/>
            <a:tailEnd type="triangle" w="med" len="med"/>
          </a:ln>
        </p:spPr>
      </p:cxnSp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B8C98EA6-21BA-F248-FFDC-CE285FC1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7C0C78E5-F7DB-469C-A542-3487E64F103A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35ED07D6-EB67-4C86-B340-27D0376621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021f909794e1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잡음 전후 비교 계획">
            <a:extLst xmlns:a="http://schemas.openxmlformats.org/drawingml/2006/main">
              <a:ext uri="{FF2B5EF4-FFF2-40B4-BE49-F238E27FC236}">
                <a16:creationId xmlns:a16="http://schemas.microsoft.com/office/drawing/2014/main" id="{DF876B01-5111-4FBB-B35A-6BCD5FD9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잡음 전후 비교 계획</a:t>
            </a:r>
          </a:p>
        </p:txBody>
      </p:sp>
      <p:sp>
        <p:nvSpPr>
          <p:cNvPr id="93" name="입력만 바꾸고 동일한 학습 모델로 예측">
            <a:extLst xmlns:a="http://schemas.openxmlformats.org/drawingml/2006/main">
              <a:ext uri="{FF2B5EF4-FFF2-40B4-BE49-F238E27FC236}">
                <a16:creationId xmlns:a16="http://schemas.microsoft.com/office/drawing/2014/main" id="{D4461F0E-250B-416C-BEC7-3792704F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0"/>
            <a:ext cx="714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같은 박막인데 반사율이 달라지면,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AI의 두께 예측은 얼마나 흔들릴까?</a:t>
            </a:r>
          </a:p>
        </p:txBody>
      </p:sp>
      <p:sp>
        <p:nvSpPr>
          <p:cNvPr id="94" name="같은 평가 표본 같은 두께 정답">
            <a:extLst xmlns:a="http://schemas.openxmlformats.org/drawingml/2006/main">
              <a:ext uri="{FF2B5EF4-FFF2-40B4-BE49-F238E27FC236}">
                <a16:creationId xmlns:a16="http://schemas.microsoft.com/office/drawing/2014/main" id="{6B207CB3-DA69-41D0-B8E5-3F527D45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1428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같은 평가 표본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같은 두께 정답</a:t>
            </a:r>
          </a:p>
        </p:txBody>
      </p:sp>
      <p:sp>
        <p:nvSpPr>
          <p:cNvPr id="95" name="원본 입력">
            <a:extLst xmlns:a="http://schemas.openxmlformats.org/drawingml/2006/main">
              <a:ext uri="{FF2B5EF4-FFF2-40B4-BE49-F238E27FC236}">
                <a16:creationId xmlns:a16="http://schemas.microsoft.com/office/drawing/2014/main" id="{C70CD9F1-5082-44E4-8D74-BD287221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95450"/>
            <a:ext cx="1381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8D4E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원본 입력</a:t>
            </a:r>
          </a:p>
        </p:txBody>
      </p:sp>
      <p:sp>
        <p:nvSpPr>
          <p:cNvPr id="96" name="추가 잡음 입력">
            <a:extLst xmlns:a="http://schemas.openxmlformats.org/drawingml/2006/main">
              <a:ext uri="{FF2B5EF4-FFF2-40B4-BE49-F238E27FC236}">
                <a16:creationId xmlns:a16="http://schemas.microsoft.com/office/drawing/2014/main" id="{57688CCF-9198-45BE-A57E-E5A2B40D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57525"/>
            <a:ext cx="1381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8D4E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추가 잡음 입력</a:t>
            </a:r>
          </a:p>
        </p:txBody>
      </p:sp>
      <p:sp>
        <p:nvSpPr>
          <p:cNvPr id="97" name="학습된 MLP">
            <a:extLst xmlns:a="http://schemas.openxmlformats.org/drawingml/2006/main">
              <a:ext uri="{FF2B5EF4-FFF2-40B4-BE49-F238E27FC236}">
                <a16:creationId xmlns:a16="http://schemas.microsoft.com/office/drawing/2014/main" id="{03955132-9E66-4F6F-B93F-3712FA79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95450"/>
            <a:ext cx="1381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8D4E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학습된 MLP</a:t>
            </a:r>
          </a:p>
        </p:txBody>
      </p:sp>
      <p:sp>
        <p:nvSpPr>
          <p:cNvPr id="98" name="같은 MLP">
            <a:extLst xmlns:a="http://schemas.openxmlformats.org/drawingml/2006/main">
              <a:ext uri="{FF2B5EF4-FFF2-40B4-BE49-F238E27FC236}">
                <a16:creationId xmlns:a16="http://schemas.microsoft.com/office/drawing/2014/main" id="{DAD23CF0-2F2F-4E5D-B777-D7C11C35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57525"/>
            <a:ext cx="1381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8D4E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같은 MLP</a:t>
            </a:r>
          </a:p>
        </p:txBody>
      </p:sp>
      <p:sp>
        <p:nvSpPr>
          <p:cNvPr id="99" name="원본 예측">
            <a:extLst xmlns:a="http://schemas.openxmlformats.org/drawingml/2006/main">
              <a:ext uri="{FF2B5EF4-FFF2-40B4-BE49-F238E27FC236}">
                <a16:creationId xmlns:a16="http://schemas.microsoft.com/office/drawing/2014/main" id="{A470D5F7-269F-44C5-AE9A-DB18329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원본 예측</a:t>
            </a:r>
          </a:p>
        </p:txBody>
      </p:sp>
      <p:sp>
        <p:nvSpPr>
          <p:cNvPr id="100" name="잡음 추가 예측">
            <a:extLst xmlns:a="http://schemas.openxmlformats.org/drawingml/2006/main">
              <a:ext uri="{FF2B5EF4-FFF2-40B4-BE49-F238E27FC236}">
                <a16:creationId xmlns:a16="http://schemas.microsoft.com/office/drawing/2014/main" id="{EC838B89-B15E-4E14-84A7-E68B445F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57525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잡음 추가 예측</a:t>
            </a:r>
          </a:p>
        </p:txBody>
      </p:sp>
      <p:sp>
        <p:nvSpPr>
          <p:cNvPr id="107" name="Gaussian Noise">
            <a:extLst xmlns:a="http://schemas.openxmlformats.org/drawingml/2006/main">
              <a:ext uri="{FF2B5EF4-FFF2-40B4-BE49-F238E27FC236}">
                <a16:creationId xmlns:a16="http://schemas.microsoft.com/office/drawing/2014/main" id="{BDC858BC-0043-4279-B4F3-5A55B770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24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1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1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1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1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1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1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1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1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1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Gaussian Noise</a:t>
            </a:r>
          </a:p>
        </p:txBody>
      </p:sp>
      <p:sp>
        <p:nvSpPr>
          <p:cNvPr id="108" name="MAE · 절대오차     MAPE · 상대오차">
            <a:extLst xmlns:a="http://schemas.openxmlformats.org/drawingml/2006/main">
              <a:ext uri="{FF2B5EF4-FFF2-40B4-BE49-F238E27FC236}">
                <a16:creationId xmlns:a16="http://schemas.microsoft.com/office/drawing/2014/main" id="{F30741D0-F476-4C4D-995C-62E207ED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예측 정확도와 예측의 흔들림을 함께 확인</a:t>
            </a:r>
          </a:p>
        </p:txBody>
      </p:sp>
      <p:sp>
        <p:nvSpPr>
          <p:cNvPr id="109" name="잡음 수준에 따른 오차 증가와 예측 변화량을 층별·두께 구간별로 비교">
            <a:extLst xmlns:a="http://schemas.openxmlformats.org/drawingml/2006/main">
              <a:ext uri="{FF2B5EF4-FFF2-40B4-BE49-F238E27FC236}">
                <a16:creationId xmlns:a16="http://schemas.microsoft.com/office/drawing/2014/main" id="{023B87FC-5BEB-4A3A-A7BE-AD38AA7B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053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27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27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27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27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27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27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27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27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27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전체·층별 오차는 MAE(절대오차)와 MAPE(상대오차)로 비교</a:t>
            </a:r>
          </a:p>
        </p:txBody>
      </p:sp>
    </p:spTree>
    <p:extLst>
      <p:ext uri="{BB962C8B-B14F-4D97-AF65-F5344CB8AC3E}">
        <p14:creationId xmlns:p14="http://schemas.microsoft.com/office/powerpoint/2010/main" val="21568782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6" name="직선 화살표 연결선 95">
            <a:extLst xmlns:a="http://schemas.openxmlformats.org/drawingml/2006/main">
              <a:ext uri="{FF2B5EF4-FFF2-40B4-BE49-F238E27FC236}">
                <a16:creationId xmlns:a16="http://schemas.microsoft.com/office/drawing/2014/main" id="{11ACF098-739F-4703-BBB0-54A0A20D1D35}"/>
              </a:ext>
            </a:extLst>
          </p:cNvPr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5524500" y="2757487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75D1"/>
            </a:solidFill>
            <a:prstDash val="solid"/>
            <a:tailEnd type="triangle" w="med" len="med"/>
          </a:ln>
        </p:spPr>
      </p:cxnSp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691B040C-0E00-FB2B-D9C4-4107B0E0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37950"/>
            <a:ext cx="1181100" cy="52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64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175CDAEC-E411-4E82-B59F-558A25A4D7D9}"/>
              </a:ext>
            </a:extLst>
          </p:cNvPr>
          <p:cNvCxnSpPr/>
          <p:nvPr/>
        </p:nvCxnSpPr>
        <p:spPr>
          <a:xfrm xmlns:a="http://schemas.openxmlformats.org/drawingml/2006/main">
            <a:off x="172875" y="-37950"/>
            <a:ext cx="0" cy="2187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65CF4308-A1E7-470A-BB79-3F92EBB84C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1b126bbcf472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928700" y="3071650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분석 목표와 선택 확장">
            <a:extLst xmlns:a="http://schemas.openxmlformats.org/drawingml/2006/main">
              <a:ext uri="{FF2B5EF4-FFF2-40B4-BE49-F238E27FC236}">
                <a16:creationId xmlns:a16="http://schemas.microsoft.com/office/drawing/2014/main" id="{4693E411-0108-4734-9E9B-76397943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층별 비교와 해석 방향</a:t>
            </a:r>
          </a:p>
        </p:txBody>
      </p:sp>
      <p:sp>
        <p:nvSpPr>
          <p:cNvPr id="93" name="기본 목표 · 모델이 취약한 조건 정리">
            <a:extLst xmlns:a="http://schemas.openxmlformats.org/drawingml/2006/main">
              <a:ext uri="{FF2B5EF4-FFF2-40B4-BE49-F238E27FC236}">
                <a16:creationId xmlns:a16="http://schemas.microsoft.com/office/drawing/2014/main" id="{81536ED5-2919-44FE-8CD0-8612EBF9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2112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잡음에 따른 정확도 저하와 층별 차이 확인</a:t>
            </a:r>
          </a:p>
        </p:txBody>
      </p:sp>
      <p:sp>
        <p:nvSpPr>
          <p:cNvPr id="94" name="잡음 수준별 MAE·MAPE 층별·두께 구간별 차이">
            <a:extLst xmlns:a="http://schemas.openxmlformats.org/drawingml/2006/main">
              <a:ext uri="{FF2B5EF4-FFF2-40B4-BE49-F238E27FC236}">
                <a16:creationId xmlns:a16="http://schemas.microsoft.com/office/drawing/2014/main" id="{CB04DCF1-B4BC-4766-A64D-C3E8A3BC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00287"/>
            <a:ext cx="400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E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전체 예측 정확도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네 층의 예측 변화</a:t>
            </a:r>
          </a:p>
        </p:txBody>
      </p:sp>
      <p:sp>
        <p:nvSpPr>
          <p:cNvPr id="95" name="예측 안정성 해석·정리">
            <a:extLst xmlns:a="http://schemas.openxmlformats.org/drawingml/2006/main">
              <a:ext uri="{FF2B5EF4-FFF2-40B4-BE49-F238E27FC236}">
                <a16:creationId xmlns:a16="http://schemas.microsoft.com/office/drawing/2014/main" id="{3DBA40C5-F083-4D7C-9BA6-5BBE23A4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00287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8D4E3"/>
            </a:solidFill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민감한 층과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9264B"/>
                </a:solidFill>
                <a:latin typeface="Malgun Gothic"/>
                <a:ea typeface="Malgun Gothic"/>
                <a:cs typeface="Malgun Gothic"/>
              </a:rPr>
              <a:t>조건 확인</a:t>
            </a:r>
          </a:p>
        </p:txBody>
      </p:sp>
      <p:sp>
        <p:nvSpPr>
          <p:cNvPr id="102" name="원본 정확도와 잡음 조건의 성능을 함께 확인">
            <a:extLst xmlns:a="http://schemas.openxmlformats.org/drawingml/2006/main">
              <a:ext uri="{FF2B5EF4-FFF2-40B4-BE49-F238E27FC236}">
                <a16:creationId xmlns:a16="http://schemas.microsoft.com/office/drawing/2014/main" id="{F16A1C5F-501E-4196-8CC0-618AD4C0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74"/>
                </a:solidFill>
                <a:latin typeface="Malgun Gothic"/>
                <a:ea typeface="Malgun Gothic"/>
                <a:cs typeface="Malgun Gothic"/>
              </a:rPr>
              <a:t>선택 확장 · 여유가 있으면 잡음 증강 학습 비교</a:t>
            </a:r>
          </a:p>
        </p:txBody>
      </p:sp>
    </p:spTree>
    <p:extLst>
      <p:ext uri="{BB962C8B-B14F-4D97-AF65-F5344CB8AC3E}">
        <p14:creationId xmlns:p14="http://schemas.microsoft.com/office/powerpoint/2010/main" val="3399684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926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7" name="Google Shape;97;p17">
            <a:extLst xmlns:a="http://schemas.openxmlformats.org/drawingml/2006/main">
              <a:ext uri="{FF2B5EF4-FFF2-40B4-BE49-F238E27FC236}">
                <a16:creationId xmlns:a16="http://schemas.microsoft.com/office/drawing/2014/main" id="{C68FD71B-4A42-4E54-AEB7-9E291EFF1B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3693f3cf0409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1049750" y="3137425"/>
            <a:ext cx="3038475" cy="1181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8" name="Google Shape;98;p17">
            <a:extLst xmlns:a="http://schemas.openxmlformats.org/drawingml/2006/main">
              <a:ext uri="{FF2B5EF4-FFF2-40B4-BE49-F238E27FC236}">
                <a16:creationId xmlns:a16="http://schemas.microsoft.com/office/drawing/2014/main" id="{0370B9E5-E8C3-4534-9E60-88E4C0BD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225" y="135475"/>
            <a:ext cx="335700" cy="33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>
            <a:extLst xmlns:a="http://schemas.openxmlformats.org/drawingml/2006/main">
              <a:ext uri="{FF2B5EF4-FFF2-40B4-BE49-F238E27FC236}">
                <a16:creationId xmlns:a16="http://schemas.microsoft.com/office/drawing/2014/main" id="{C7B5A487-E021-4750-91C9-7F175610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225" y="616375"/>
            <a:ext cx="335700" cy="33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>
            <a:extLst xmlns:a="http://schemas.openxmlformats.org/drawingml/2006/main">
              <a:ext uri="{FF2B5EF4-FFF2-40B4-BE49-F238E27FC236}">
                <a16:creationId xmlns:a16="http://schemas.microsoft.com/office/drawing/2014/main" id="{7CC0FAED-7AFE-42C7-82A9-B56C510E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225" y="1097275"/>
            <a:ext cx="335700" cy="335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>
            <a:extLst xmlns:a="http://schemas.openxmlformats.org/drawingml/2006/main">
              <a:ext uri="{FF2B5EF4-FFF2-40B4-BE49-F238E27FC236}">
                <a16:creationId xmlns:a16="http://schemas.microsoft.com/office/drawing/2014/main" id="{65ACEA7F-EE22-4D19-825C-ABAB5062CB90}"/>
              </a:ext>
            </a:extLst>
          </p:cNvPr>
          <p:cNvCxnSpPr/>
          <p:nvPr/>
        </p:nvCxnSpPr>
        <p:spPr>
          <a:xfrm xmlns:a="http://schemas.openxmlformats.org/drawingml/2006/main" rot="10800000">
            <a:off x="146900" y="0"/>
            <a:ext cx="0" cy="21525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>
            <a:extLst xmlns:a="http://schemas.openxmlformats.org/drawingml/2006/main">
              <a:ext uri="{FF2B5EF4-FFF2-40B4-BE49-F238E27FC236}">
                <a16:creationId xmlns:a16="http://schemas.microsoft.com/office/drawing/2014/main" id="{7C4BD5BE-A2F0-4062-9615-E53BC4C5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575" y="510025"/>
            <a:ext cx="1470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>
            <a:extLst xmlns:a="http://schemas.openxmlformats.org/drawingml/2006/main">
              <a:ext uri="{FF2B5EF4-FFF2-40B4-BE49-F238E27FC236}">
                <a16:creationId xmlns:a16="http://schemas.microsoft.com/office/drawing/2014/main" id="{FFCB5D88-0E54-49FE-B92D-FE2224FB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300" y="2110050"/>
            <a:ext cx="4979400" cy="91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ctr">
              <a:defRPr sz="4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4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4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4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4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4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4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4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4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4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4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감사합니다</a:t>
            </a:r>
            <a:endParaRPr sz="48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506180746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2026-10-27T03:25:35.5660000Z</dcterms:created>
  <dcterms:modified xsi:type="dcterms:W3CDTF">2026-10-27T03:25:35.5660000Z</dcterms:modified>
</coreProperties>
</file>
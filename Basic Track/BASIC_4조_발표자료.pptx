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8" r:id="rId4"/>
    <p:sldId id="300" r:id="rId100"/>
    <p:sldId id="264" r:id="rId5"/>
    <p:sldId id="262" r:id="rId6"/>
    <p:sldId id="263" r:id="rId7"/>
    <p:sldId id="265" r:id="rId8"/>
    <p:sldId id="301" r:id="rId101"/>
    <p:sldId id="266" r:id="rId18"/>
    <p:sldId id="260" r:id="rId9"/>
  </p:sldIdLst>
  <p:sldSz cx="9144000" cy="5143500" type="screen16x9"/>
  <p:notesSz cx="6858000" cy="9144000"/>
  <p:embeddedFontLst>
    <p:embeddedFont>
      <p:font typeface="Nanum Gothic" panose="020B0600000101010101" charset="-127"/>
      <p:regular r:id="rId11"/>
      <p:bold r:id="rId12"/>
    </p:embeddedFont>
    <p:embeddedFont>
      <p:font typeface="NanumGothicExtraBold" pitchFamily="2" charset="-127"/>
      <p:bold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2973" autoAdjust="0"/>
  </p:normalViewPr>
  <p:slideViewPr>
    <p:cSldViewPr snapToGrid="0">
      <p:cViewPr varScale="1">
        <p:scale>
          <a:sx n="58" d="100"/>
          <a:sy n="58" d="100"/>
        </p:scale>
        <p:origin x="72" y="3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10.xml"/><Relationship Id="rId10" Type="http://schemas.openxmlformats.org/officeDocument/2006/relationships/notesMaster" Target="notesMasters/notesMaster1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9.xml"/><Relationship Id="rId100" Type="http://schemas.openxmlformats.org/officeDocument/2006/relationships/slide" Target="slides/slide3.xml"/><Relationship Id="rId101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9264B"/>
                </a:solidFill>
              </a:rPr>
              <a:t>불량 패턴별 개수 (정상 제외)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장수</c:v>
                </c:pt>
              </c:strCache>
            </c:strRef>
          </c:tx>
          <c:spPr>
            <a:solidFill>
              <a:srgbClr val="9AA4BC"/>
            </a:solidFill>
          </c:spPr>
          <c:dPt>
            <c:idx val="0"/>
            <c:spPr>
              <a:solidFill>
                <a:srgbClr val="D94F4F"/>
              </a:solidFill>
            </c:spPr>
          </c:dPt>
          <c:cat>
            <c:strRef>
              <c:f>Sheet1!$A$2:$A$9</c:f>
              <c:strCache>
                <c:ptCount val="8"/>
                <c:pt idx="0">
                  <c:v>Near-full</c:v>
                </c:pt>
                <c:pt idx="1">
                  <c:v>Donut</c:v>
                </c:pt>
                <c:pt idx="2">
                  <c:v>Random</c:v>
                </c:pt>
                <c:pt idx="3">
                  <c:v>Scratch</c:v>
                </c:pt>
                <c:pt idx="4">
                  <c:v>Loc</c:v>
                </c:pt>
                <c:pt idx="5">
                  <c:v>Center</c:v>
                </c:pt>
                <c:pt idx="6">
                  <c:v>Edge-Loc</c:v>
                </c:pt>
                <c:pt idx="7">
                  <c:v>Edge-Ring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149</c:v>
                </c:pt>
                <c:pt idx="1">
                  <c:v>555</c:v>
                </c:pt>
                <c:pt idx="2">
                  <c:v>866</c:v>
                </c:pt>
                <c:pt idx="3">
                  <c:v>1193</c:v>
                </c:pt>
                <c:pt idx="4">
                  <c:v>3593</c:v>
                </c:pt>
                <c:pt idx="5">
                  <c:v>4294</c:v>
                </c:pt>
                <c:pt idx="6">
                  <c:v>5189</c:v>
                </c:pt>
                <c:pt idx="7">
                  <c:v>9680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>
                  <a:solidFill>
                    <a:srgbClr val="19264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CD6"/>
            </a:solidFill>
          </a:ln>
        </c:spPr>
        <c:txPr>
          <a:bodyPr/>
          <a:lstStyle/>
          <a:p>
            <a:pPr>
              <a:defRPr sz="1100">
                <a:solidFill>
                  <a:srgbClr val="19264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50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6accca8d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6accca8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4조 발표를 맡은 박상현입니다. 저희 조 프로젝트 주제는 웨이퍼 맵 불량 패턴 분류입니다.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목표는 세 가지입니다. 스터디에서 배우는 신경망과 CNN을 실제 데이터에 써보고, 불균형 데이터를 제대로 평가하는 법을 익히고, 3주 안에 분석까지 끝내는 것입니다. 진행하다 막히면 같은 구조의 더 쉬운 강판 결함 데이터로 바꾸는 플랜 B도 준비해 두었습니다.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6accca8d1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6accca8d1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07956EEF-788B-84D0-5002-91945666B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6accca8d11_0_16:notes">
            <a:extLst>
              <a:ext uri="{FF2B5EF4-FFF2-40B4-BE49-F238E27FC236}">
                <a16:creationId xmlns:a16="http://schemas.microsoft.com/office/drawing/2014/main" id="{81346C5A-0E40-968C-22D6-F0B025449E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6accca8d11_0_16:notes">
            <a:extLst>
              <a:ext uri="{FF2B5EF4-FFF2-40B4-BE49-F238E27FC236}">
                <a16:creationId xmlns:a16="http://schemas.microsoft.com/office/drawing/2014/main" id="{BCFA90D1-6B2D-FB55-9AF4-3A03C8D92A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웨이퍼 맵은 웨이퍼 위 칩마다 양품인지 불량인지를 표시한 격자 이미지입니다. 불량 칩이 가운데 몰렸는지, 가장자리에 링으로 생겼는지, 긁힌 선 모양인지를 보면 어느 공정에 문제가 있는지 추정할 수 있습니다. 그래서 맵 한 장을 보고 8가지 불량 패턴과 정상 중 하나로 맞히는 분류 문제를 하려고 합니다. 오른쪽 그림은 이해를 돕기 위한 모식도입니다.</a:t>
            </a:r>
          </a:p>
        </p:txBody>
      </p:sp>
    </p:spTree>
    <p:extLst>
      <p:ext uri="{BB962C8B-B14F-4D97-AF65-F5344CB8AC3E}">
        <p14:creationId xmlns:p14="http://schemas.microsoft.com/office/powerpoint/2010/main" val="391490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4886474-70D4-A220-0C31-398AA3B17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6accca8d11_0_23:notes">
            <a:extLst>
              <a:ext uri="{FF2B5EF4-FFF2-40B4-BE49-F238E27FC236}">
                <a16:creationId xmlns:a16="http://schemas.microsoft.com/office/drawing/2014/main" id="{6DF14C2D-D848-30F2-7B80-7F194E67A4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6accca8d11_0_23:notes">
            <a:extLst>
              <a:ext uri="{FF2B5EF4-FFF2-40B4-BE49-F238E27FC236}">
                <a16:creationId xmlns:a16="http://schemas.microsoft.com/office/drawing/2014/main" id="{A52918AE-0445-49BF-F6B3-48021256FF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데이터는 Kaggle의 WM-811K입니다. 실제 반도체 생산 라인에서 모은 웨이퍼 맵 81만 장이고, 그중 라벨이 붙은 약 17만 장을 씁니다. 문제는 정상 맵이 85%라서 전부 정상이라고 찍어도 정확도가 85%가 나온다는 점입니다. 불량 패턴끼리도 차이가 커서 Near-full은 149장뿐입니다. 그래서 정확도 대신 클래스마다 점수를 평균 내는 macro-F1로 평가합니다.</a:t>
            </a:r>
          </a:p>
        </p:txBody>
      </p:sp>
    </p:spTree>
    <p:extLst>
      <p:ext uri="{BB962C8B-B14F-4D97-AF65-F5344CB8AC3E}">
        <p14:creationId xmlns:p14="http://schemas.microsoft.com/office/powerpoint/2010/main" val="32452184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43C48503-FCE6-35DB-0647-2C464C29F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6accca8d11_0_23:notes">
            <a:extLst>
              <a:ext uri="{FF2B5EF4-FFF2-40B4-BE49-F238E27FC236}">
                <a16:creationId xmlns:a16="http://schemas.microsoft.com/office/drawing/2014/main" id="{27E6C7D2-915A-0993-1DDA-94DAFFEBE8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6accca8d11_0_23:notes">
            <a:extLst>
              <a:ext uri="{FF2B5EF4-FFF2-40B4-BE49-F238E27FC236}">
                <a16:creationId xmlns:a16="http://schemas.microsoft.com/office/drawing/2014/main" id="{67012497-AEDE-2975-7E64-F15B8187E0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진행은 네 단계입니다. 먼저 데이터를 정리하고, 책에서 만든 신경망인 MLP로 기준 성능을 냅니다. MLP는 맵을 한 줄로 펼쳐서 넣기 때문에 칸끼리의 위치 관계를 못 봅니다. 그다음 맵을 이미지 그대로 보는 CNN으로 바꿔서 어떤 패턴에서 얼마나 좋아지는지 비교합니다. CNN이 나오면 다음 장의 실험 두 개를 나눠서 동시에 진행할 수 있어서 3주 안에 끝낼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25535167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24E99CF-2D6E-00C9-C9AF-F5E1100C1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6accca8d11_0_23:notes">
            <a:extLst>
              <a:ext uri="{FF2B5EF4-FFF2-40B4-BE49-F238E27FC236}">
                <a16:creationId xmlns:a16="http://schemas.microsoft.com/office/drawing/2014/main" id="{0C360333-1623-7F4F-BFE8-B9561A666B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6accca8d11_0_23:notes">
            <a:extLst>
              <a:ext uri="{FF2B5EF4-FFF2-40B4-BE49-F238E27FC236}">
                <a16:creationId xmlns:a16="http://schemas.microsoft.com/office/drawing/2014/main" id="{F28EF8DA-EDB8-3B64-A74F-329D1A1339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실험은 두 개입니다. 실험 1은 6장에서 배울 Adam, 드롭아웃, 배치 정규화를 하나씩 켜고 끄면서 성능이 얼마나 바뀌는지 봅니다. 실험 2는 불균형 대응입니다. 149장밖에 없는 패턴도 있어서, 적은 클래스에 가중치를 더 주거나 이미지를 돌리고 뒤집어서 데이터를 늘립니다. 그래서 소수 패턴을 얼마나 더 잘 잡는지 봅니다. 두 실험 모두 CNN 구조는 고정하고 한 번에 하나만 바꿉니다.</a:t>
            </a:r>
          </a:p>
        </p:txBody>
      </p:sp>
    </p:spTree>
    <p:extLst>
      <p:ext uri="{BB962C8B-B14F-4D97-AF65-F5344CB8AC3E}">
        <p14:creationId xmlns:p14="http://schemas.microsoft.com/office/powerpoint/2010/main" val="12706407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176d744966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176d744966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주제를 고른 이유는 두 가지입니다. 첫째, 웨이퍼 맵은 작은 이미지라서 스터디에서 만든 신경망과 앞으로 배울 CNN을 바로 적용해 볼 수 있습니다. 둘째, 실제 공장 데이터라 정상 맵이 대부분이어서, 모델이 전부 정상이라고 찍어도 정확도가 높게 나옵니다. 그래서 정확도를 높이는 게 아니라, 수가 적은 불량을 얼마나 잡아내는지가 진짜 과제입니다. 덧붙이면, 불량 패턴은 어느 공정에서 문제가 생겼는지와 연결해 해석할 수 있어서, 결과를 공정 관점으로 해석하는 것까지 해볼 계획입니다.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현재 진행 상황입니다. 지금까지는 주제와 데이터셋을 정한 단계이고, 본격적인 진행은 다음 주부터 시작합니다. 먼저 데이터를 내려받아 정리하는 것부터 하고, 그다음 MLP 기준 모델, CNN, 실험 순서로 진행할 예정입니다.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-8275" y="-84750"/>
            <a:ext cx="9254700" cy="5231400"/>
          </a:xfrm>
          <a:prstGeom prst="rect">
            <a:avLst/>
          </a:prstGeom>
          <a:solidFill>
            <a:srgbClr val="19264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" name="Google Shape;45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1049750" y="3137425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0"/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0"/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0"/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9" name="Google Shape;49;p10"/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" name="Google Shape;50;p10"/>
          <p:cNvSpPr/>
          <p:nvPr/>
        </p:nvSpPr>
        <p:spPr>
          <a:xfrm>
            <a:off x="1060050" y="211800"/>
            <a:ext cx="7420500" cy="471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10"/>
          <p:cNvSpPr txBox="1"/>
          <p:nvPr/>
        </p:nvSpPr>
        <p:spPr>
          <a:xfrm>
            <a:off x="1469575" y="510025"/>
            <a:ext cx="14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0"/>
          <p:cNvSpPr txBox="1"/>
          <p:nvPr/>
        </p:nvSpPr>
        <p:spPr>
          <a:xfrm>
            <a:off x="146888" y="59400"/>
            <a:ext cx="1129500" cy="17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8기 활동 소개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 b="1">
                <a:solidFill>
                  <a:srgbClr val="777777"/>
                </a:solidFill>
                <a:latin typeface="Nanum Gothic"/>
                <a:ea typeface="Nanum Gothic"/>
                <a:cs typeface="Nanum Gothic"/>
                <a:sym typeface="Nanum Gothic"/>
              </a:rPr>
              <a:t>9기 활동 안내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정기세션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99999"/>
                </a:solidFill>
                <a:latin typeface="Nanum Gothic"/>
                <a:ea typeface="Nanum Gothic"/>
                <a:cs typeface="Nanum Gothic"/>
                <a:sym typeface="Nanum Gothic"/>
              </a:rPr>
              <a:t>CUAI Github</a:t>
            </a:r>
            <a:endParaRPr sz="800">
              <a:solidFill>
                <a:srgbClr val="999999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Basic Track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Advanced Track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스터디 소개</a:t>
            </a:r>
            <a:endParaRPr sz="800" b="1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AI 세미나 소개</a:t>
            </a:r>
            <a:endParaRPr sz="800">
              <a:solidFill>
                <a:srgbClr val="999999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99999"/>
                </a:solidFill>
                <a:latin typeface="Nanum Gothic"/>
                <a:ea typeface="Nanum Gothic"/>
                <a:cs typeface="Nanum Gothic"/>
                <a:sym typeface="Nanum Gothic"/>
              </a:rPr>
              <a:t>CUAI 장학금</a:t>
            </a:r>
            <a:endParaRPr sz="800">
              <a:solidFill>
                <a:srgbClr val="999999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3"/>
          <p:cNvSpPr txBox="1"/>
          <p:nvPr/>
        </p:nvSpPr>
        <p:spPr>
          <a:xfrm>
            <a:off x="1339750" y="2710050"/>
            <a:ext cx="4979400" cy="1565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19264B"/>
                </a:solidFill>
              </a:rPr>
              <a:t>CUAI </a:t>
            </a:r>
            <a:r>
              <a:rPr lang="en-US" altLang="ko" sz="2500" b="1" dirty="0">
                <a:solidFill>
                  <a:srgbClr val="19264B"/>
                </a:solidFill>
              </a:rPr>
              <a:t>4</a:t>
            </a:r>
            <a:r>
              <a:rPr lang="ko" sz="2500" b="1" dirty="0">
                <a:solidFill>
                  <a:srgbClr val="19264B"/>
                </a:solidFill>
              </a:rPr>
              <a:t>조</a:t>
            </a:r>
            <a:endParaRPr sz="2500" b="1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rgbClr val="19264B"/>
                </a:solidFill>
              </a:rPr>
              <a:t>2026.10.27</a:t>
            </a: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19264B"/>
                </a:solidFill>
              </a:rPr>
              <a:t>프로젝트 주제 : 웨이퍼 맵 불량 패턴 분류</a:t>
            </a: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dirty="0">
                <a:solidFill>
                  <a:srgbClr val="19264B"/>
                </a:solidFill>
              </a:rPr>
              <a:t>발표자 : </a:t>
            </a:r>
            <a:r>
              <a:rPr lang="ko-KR" altLang="en-US" sz="1100" dirty="0">
                <a:solidFill>
                  <a:srgbClr val="19264B"/>
                </a:solidFill>
              </a:rPr>
              <a:t>박상현</a:t>
            </a:r>
            <a:endParaRPr sz="1100" dirty="0">
              <a:solidFill>
                <a:srgbClr val="19264B"/>
              </a:solidFill>
            </a:endParaRPr>
          </a:p>
        </p:txBody>
      </p:sp>
      <p:cxnSp>
        <p:nvCxnSpPr>
          <p:cNvPr id="65" name="Google Shape;65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6" name="Google Shape;6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2" name="Google Shape;82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목차</a:t>
            </a:r>
            <a:endParaRPr sz="2000" dirty="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2" name="Google Shape;84;p15">
            <a:extLst>
              <a:ext uri="{FF2B5EF4-FFF2-40B4-BE49-F238E27FC236}">
                <a16:creationId xmlns:a16="http://schemas.microsoft.com/office/drawing/2014/main" id="{702CB7B8-0960-FC18-D670-FB302FF83877}"/>
              </a:ext>
            </a:extLst>
          </p:cNvPr>
          <p:cNvSpPr txBox="1"/>
          <p:nvPr/>
        </p:nvSpPr>
        <p:spPr>
          <a:xfrm>
            <a:off x="2082300" y="1250440"/>
            <a:ext cx="4979400" cy="2662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ko-KR" altLang="en-US" sz="2000" dirty="0">
                <a:solidFill>
                  <a:srgbClr val="19264B"/>
                </a:solidFill>
              </a:rPr>
              <a:t>01. </a:t>
            </a:r>
            <a:r>
              <a:rPr lang="ko-KR" altLang="en-US" sz="2000" dirty="0"/>
              <a:t>주제 선정 이유</a:t>
            </a:r>
          </a:p>
          <a:p>
            <a:pPr marL="0" lvl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ko-KR" altLang="en-US" sz="2000" dirty="0">
                <a:solidFill>
                  <a:srgbClr val="19264B"/>
                </a:solidFill>
              </a:rPr>
              <a:t>02. </a:t>
            </a:r>
            <a:r>
              <a:rPr lang="ko-KR" altLang="en-US" sz="2000" dirty="0"/>
              <a:t>주제 소개</a:t>
            </a:r>
          </a:p>
          <a:p>
            <a:pPr marL="0" lvl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ko-KR" altLang="en-US" sz="2000" dirty="0">
                <a:solidFill>
                  <a:srgbClr val="19264B"/>
                </a:solidFill>
              </a:rPr>
              <a:t>03. </a:t>
            </a:r>
            <a:r>
              <a:rPr lang="ko-KR" altLang="en-US" sz="2000" dirty="0"/>
              <a:t>데이터셋 소개</a:t>
            </a:r>
          </a:p>
          <a:p>
            <a:pPr marL="0" lvl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ko-KR" altLang="en-US" sz="2000" dirty="0">
                <a:solidFill>
                  <a:srgbClr val="19264B"/>
                </a:solidFill>
              </a:rPr>
              <a:t>04. </a:t>
            </a:r>
            <a:r>
              <a:rPr lang="ko-KR" altLang="en-US" sz="2000" dirty="0"/>
              <a:t>로드맵</a:t>
            </a:r>
          </a:p>
          <a:p>
            <a:pPr marL="0" lvl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ko-KR" altLang="en-US" sz="2000" dirty="0">
                <a:solidFill>
                  <a:srgbClr val="19264B"/>
                </a:solidFill>
              </a:rPr>
              <a:t>05. </a:t>
            </a:r>
            <a:r>
              <a:rPr lang="ko-KR" altLang="en-US" sz="2000" dirty="0"/>
              <a:t>실험 계획</a:t>
            </a:r>
          </a:p>
          <a:p>
            <a:pPr marL="0" lvl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ko-KR" altLang="en-US" sz="2000" dirty="0">
                <a:solidFill>
                  <a:srgbClr val="19264B"/>
                </a:solidFill>
              </a:rPr>
              <a:t>06. </a:t>
            </a:r>
            <a:r>
              <a:rPr lang="ko-KR" altLang="en-US" sz="2000" dirty="0"/>
              <a:t>진행 상황</a:t>
            </a:r>
          </a:p>
          <a:p>
            <a:pPr marL="0" lvl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ko-KR" altLang="en-US" sz="2000" dirty="0">
                <a:solidFill>
                  <a:srgbClr val="19264B"/>
                </a:solidFill>
              </a:rPr>
              <a:t>07. </a:t>
            </a:r>
            <a:r>
              <a:rPr lang="ko-KR" altLang="en-US" sz="2000" dirty="0"/>
              <a:t>프로젝트 목표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83A98A49-181B-DB42-39F3-B446D4528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691B040C-0E00-FB2B-D9C4-4107B0E0AD16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>
            <a:extLst>
              <a:ext uri="{FF2B5EF4-FFF2-40B4-BE49-F238E27FC236}">
                <a16:creationId xmlns:a16="http://schemas.microsoft.com/office/drawing/2014/main" id="{D9D73189-E530-159E-A0E4-18D7C05EFF0B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>
              <a:ext uri="{FF2B5EF4-FFF2-40B4-BE49-F238E27FC236}">
                <a16:creationId xmlns:a16="http://schemas.microsoft.com/office/drawing/2014/main" id="{9937BBC1-AD9F-7DC1-3B41-8F1F9483F39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F872CA55-94EB-22C9-BA51-B6A5C3B37682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ko-KR" altLang="en-US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주제 선정 이유</a:t>
            </a:r>
          </a:p>
        </p:txBody>
      </p:sp>
      <p:sp>
        <p:nvSpPr>
          <p:cNvPr id="93" name="reason-01"/>
          <p:cNvSpPr/>
          <p:nvPr/>
        </p:nvSpPr>
        <p:spPr>
          <a:xfrm>
            <a:off x="1828800" y="1143000"/>
            <a:ext cx="6949440" cy="1325880"/>
          </a:xfrm>
          <a:prstGeom prst="roundRect">
            <a:avLst>
              <a:gd name="adj" fmla="val 6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ason-01-num"/>
          <p:cNvSpPr txBox="1"/>
          <p:nvPr/>
        </p:nvSpPr>
        <p:spPr>
          <a:xfrm>
            <a:off x="2057400" y="1143000"/>
            <a:ext cx="86868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b="1" dirty="0">
                <a:solidFill>
                  <a:srgbClr val="19264B"/>
                </a:solidFill>
              </a:rPr>
              <a:t>01</a:t>
            </a:r>
          </a:p>
        </p:txBody>
      </p:sp>
      <p:sp>
        <p:nvSpPr>
          <p:cNvPr id="95" name="reason-01-text"/>
          <p:cNvSpPr txBox="1"/>
          <p:nvPr/>
        </p:nvSpPr>
        <p:spPr>
          <a:xfrm>
            <a:off x="2971800" y="1143000"/>
            <a:ext cx="5577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lvl="0" indent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ko-KR" altLang="en-US" sz="2000" b="1" dirty="0">
                <a:solidFill>
                  <a:srgbClr val="19264B"/>
                </a:solidFill>
              </a:rPr>
              <a:t>배운 걸 바로 쓸 수 있다</a:t>
            </a:r>
          </a:p>
          <a:p>
            <a:pPr marL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374151"/>
                </a:solidFill>
              </a:rPr>
              <a:t>웨이퍼 맵은 작은 이미지라, 스터디에서 만든 신경망과 앞으로 배울 CNN을 바로 적용해 볼 수 있음</a:t>
            </a:r>
          </a:p>
        </p:txBody>
      </p:sp>
      <p:sp>
        <p:nvSpPr>
          <p:cNvPr id="96" name="reason-02"/>
          <p:cNvSpPr/>
          <p:nvPr/>
        </p:nvSpPr>
        <p:spPr>
          <a:xfrm>
            <a:off x="1828800" y="2697480"/>
            <a:ext cx="6949440" cy="1325880"/>
          </a:xfrm>
          <a:prstGeom prst="roundRect">
            <a:avLst>
              <a:gd name="adj" fmla="val 6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ason-02-num"/>
          <p:cNvSpPr txBox="1"/>
          <p:nvPr/>
        </p:nvSpPr>
        <p:spPr>
          <a:xfrm>
            <a:off x="2057400" y="2697480"/>
            <a:ext cx="86868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b="1" dirty="0">
                <a:solidFill>
                  <a:srgbClr val="19264B"/>
                </a:solidFill>
              </a:rPr>
              <a:t>02</a:t>
            </a:r>
          </a:p>
        </p:txBody>
      </p:sp>
      <p:sp>
        <p:nvSpPr>
          <p:cNvPr id="98" name="reason-02-text"/>
          <p:cNvSpPr txBox="1"/>
          <p:nvPr/>
        </p:nvSpPr>
        <p:spPr>
          <a:xfrm>
            <a:off x="2971800" y="2697480"/>
            <a:ext cx="5577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lvl="0" indent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ko-KR" altLang="en-US" sz="2000" b="1" dirty="0">
                <a:solidFill>
                  <a:srgbClr val="19264B"/>
                </a:solidFill>
              </a:rPr>
              <a:t>진짜 풀 거리가 있다</a:t>
            </a:r>
          </a:p>
          <a:p>
            <a:pPr marL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374151"/>
                </a:solidFill>
              </a:rPr>
              <a:t>정상 맵이 대부분이라 전부 ‘정상’으로 찍어도 정확도가 높게 나옴 → 진짜 과제는 ‘적은 불량을 어떻게 잡을까’</a:t>
            </a:r>
          </a:p>
        </p:txBody>
      </p:sp>
      <p:sp>
        <p:nvSpPr>
          <p:cNvPr id="99" name="reason-takeaway"/>
          <p:cNvSpPr txBox="1"/>
          <p:nvPr/>
        </p:nvSpPr>
        <p:spPr>
          <a:xfrm>
            <a:off x="1828800" y="4251960"/>
            <a:ext cx="69494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marL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19264B"/>
                </a:solidFill>
              </a:rPr>
              <a:t>→ 배운 내용을 실제 문제에 써보면서, 데이터의 어려움까지 다뤄볼 수 있는 주제</a:t>
            </a:r>
          </a:p>
        </p:txBody>
      </p:sp>
    </p:spTree>
    <p:extLst>
      <p:ext uri="{BB962C8B-B14F-4D97-AF65-F5344CB8AC3E}">
        <p14:creationId xmlns:p14="http://schemas.microsoft.com/office/powerpoint/2010/main" val="1234567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DA523F81-9835-87ED-7956-2ABC00E4A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>
            <a:extLst>
              <a:ext uri="{FF2B5EF4-FFF2-40B4-BE49-F238E27FC236}">
                <a16:creationId xmlns:a16="http://schemas.microsoft.com/office/drawing/2014/main" id="{C70A026F-885C-9C63-E439-D99252DE246F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2" name="Google Shape;82;p15">
            <a:extLst>
              <a:ext uri="{FF2B5EF4-FFF2-40B4-BE49-F238E27FC236}">
                <a16:creationId xmlns:a16="http://schemas.microsoft.com/office/drawing/2014/main" id="{B705BD62-7462-84D7-B3EC-19E82AE19330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3" name="Google Shape;83;p15">
            <a:extLst>
              <a:ext uri="{FF2B5EF4-FFF2-40B4-BE49-F238E27FC236}">
                <a16:creationId xmlns:a16="http://schemas.microsoft.com/office/drawing/2014/main" id="{AD19D14C-6F44-0B2E-CD17-D091AF96034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>
            <a:extLst>
              <a:ext uri="{FF2B5EF4-FFF2-40B4-BE49-F238E27FC236}">
                <a16:creationId xmlns:a16="http://schemas.microsoft.com/office/drawing/2014/main" id="{85503F4C-E467-15F0-A415-01891F02F61D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주제 소개</a:t>
            </a:r>
            <a:endParaRPr lang="en-US" altLang="ko-KR" sz="2000" dirty="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85" name="topic-chip-1"/>
          <p:cNvSpPr/>
          <p:nvPr/>
        </p:nvSpPr>
        <p:spPr>
          <a:xfrm>
            <a:off x="1874519" y="1289304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</a:rPr>
              <a:t>웨이퍼 맵</a:t>
            </a:r>
          </a:p>
        </p:txBody>
      </p:sp>
      <p:sp>
        <p:nvSpPr>
          <p:cNvPr id="86" name="topic-text-1"/>
          <p:cNvSpPr txBox="1"/>
          <p:nvPr/>
        </p:nvSpPr>
        <p:spPr>
          <a:xfrm>
            <a:off x="3063240" y="1234440"/>
            <a:ext cx="274320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marL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dirty="0"/>
              <a:t>칩마다 양품·불량을 표시한 </a:t>
            </a:r>
            <a:r>
              <a:rPr lang="ko-KR" altLang="en-US" sz="1700" b="1" dirty="0"/>
              <a:t>격자 이미지</a:t>
            </a:r>
          </a:p>
        </p:txBody>
      </p:sp>
      <p:sp>
        <p:nvSpPr>
          <p:cNvPr id="87" name="topic-chip-2"/>
          <p:cNvSpPr/>
          <p:nvPr/>
        </p:nvSpPr>
        <p:spPr>
          <a:xfrm>
            <a:off x="1874519" y="2249424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</a:rPr>
              <a:t>핵심</a:t>
            </a:r>
          </a:p>
        </p:txBody>
      </p:sp>
      <p:sp>
        <p:nvSpPr>
          <p:cNvPr id="88" name="topic-text-2"/>
          <p:cNvSpPr txBox="1"/>
          <p:nvPr/>
        </p:nvSpPr>
        <p:spPr>
          <a:xfrm>
            <a:off x="3063240" y="2194560"/>
            <a:ext cx="274320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marL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dirty="0"/>
              <a:t>불량이 모인 </a:t>
            </a:r>
            <a:r>
              <a:rPr lang="ko-KR" altLang="en-US" sz="1700" b="1" dirty="0"/>
              <a:t>모양</a:t>
            </a:r>
            <a:r>
              <a:rPr lang="ko-KR" altLang="en-US" sz="1700" dirty="0"/>
              <a:t>을 보면 문제 공정을 추정</a:t>
            </a:r>
          </a:p>
        </p:txBody>
      </p:sp>
      <p:sp>
        <p:nvSpPr>
          <p:cNvPr id="89" name="topic-chip-3"/>
          <p:cNvSpPr/>
          <p:nvPr/>
        </p:nvSpPr>
        <p:spPr>
          <a:xfrm>
            <a:off x="1874519" y="3209544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90" name="topic-text-3"/>
          <p:cNvSpPr txBox="1"/>
          <p:nvPr/>
        </p:nvSpPr>
        <p:spPr>
          <a:xfrm>
            <a:off x="3063240" y="3154680"/>
            <a:ext cx="274320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marL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dirty="0"/>
              <a:t>맵 한 장 → </a:t>
            </a:r>
            <a:r>
              <a:rPr lang="ko-KR" altLang="en-US" sz="1700" b="1" dirty="0"/>
              <a:t>불량 8종 + 정상</a:t>
            </a:r>
            <a:r>
              <a:rPr lang="ko-KR" altLang="en-US" sz="1700" dirty="0"/>
              <a:t> 중 하나로 분류</a:t>
            </a:r>
          </a:p>
        </p:txBody>
      </p:sp>
      <p:pic>
        <p:nvPicPr>
          <p:cNvPr id="91" name="Picture 90" descr="wafer_patter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777240"/>
            <a:ext cx="2880360" cy="312039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5943600" y="393192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dirty="0">
                <a:solidFill>
                  <a:srgbClr val="6B7280"/>
                </a:solidFill>
              </a:rPr>
              <a:t>패턴 모식도 (이해를 돕기 위한 예시 그림)</a:t>
            </a:r>
          </a:p>
        </p:txBody>
      </p:sp>
    </p:spTree>
    <p:extLst>
      <p:ext uri="{BB962C8B-B14F-4D97-AF65-F5344CB8AC3E}">
        <p14:creationId xmlns:p14="http://schemas.microsoft.com/office/powerpoint/2010/main" val="4273295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41AAEF58-7D5A-3CC5-7185-977476377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B2DC2D31-A076-D80A-2A23-73D607029470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>
            <a:extLst>
              <a:ext uri="{FF2B5EF4-FFF2-40B4-BE49-F238E27FC236}">
                <a16:creationId xmlns:a16="http://schemas.microsoft.com/office/drawing/2014/main" id="{6E0E6408-6117-2474-6C13-D1DF1EC68815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>
              <a:ext uri="{FF2B5EF4-FFF2-40B4-BE49-F238E27FC236}">
                <a16:creationId xmlns:a16="http://schemas.microsoft.com/office/drawing/2014/main" id="{49FD2B7D-6025-ED21-B34C-FE52694816E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2B856D6C-0CE6-1C6B-787B-44B26E10C718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ko-KR" altLang="en-US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데이터셋 소개</a:t>
            </a:r>
            <a:endParaRPr lang="en-US" altLang="ko-KR" sz="2000" dirty="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93" name="stat-1"/>
          <p:cNvSpPr txBox="1"/>
          <p:nvPr/>
        </p:nvSpPr>
        <p:spPr>
          <a:xfrm>
            <a:off x="1874519" y="1051560"/>
            <a:ext cx="3383280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marL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b="1" dirty="0">
                <a:solidFill>
                  <a:srgbClr val="19264B"/>
                </a:solidFill>
              </a:rPr>
              <a:t>81만 장</a:t>
            </a:r>
          </a:p>
          <a:p>
            <a:pPr marL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Kaggle WM-811K 웨이퍼 맵 전체</a:t>
            </a:r>
          </a:p>
        </p:txBody>
      </p:sp>
      <p:sp>
        <p:nvSpPr>
          <p:cNvPr id="94" name="stat-2"/>
          <p:cNvSpPr txBox="1"/>
          <p:nvPr/>
        </p:nvSpPr>
        <p:spPr>
          <a:xfrm>
            <a:off x="1874519" y="2148839"/>
            <a:ext cx="3383280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marL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b="1" dirty="0">
                <a:solidFill>
                  <a:srgbClr val="19264B"/>
                </a:solidFill>
              </a:rPr>
              <a:t>17만 장</a:t>
            </a:r>
          </a:p>
          <a:p>
            <a:pPr marL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그중 라벨이 붙은 맵만 사용</a:t>
            </a:r>
          </a:p>
        </p:txBody>
      </p:sp>
      <p:sp>
        <p:nvSpPr>
          <p:cNvPr id="95" name="stat-3"/>
          <p:cNvSpPr txBox="1"/>
          <p:nvPr/>
        </p:nvSpPr>
        <p:spPr>
          <a:xfrm>
            <a:off x="1874519" y="3246120"/>
            <a:ext cx="3383280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marL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b="1" dirty="0">
                <a:solidFill>
                  <a:srgbClr val="19264B"/>
                </a:solidFill>
              </a:rPr>
              <a:t>85%</a:t>
            </a:r>
          </a:p>
          <a:p>
            <a:pPr marL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정상 비율 → 정확도 대신 macro-F1로 평가</a:t>
            </a:r>
          </a:p>
        </p:txBody>
      </p:sp>
      <p:graphicFrame>
        <p:nvGraphicFramePr>
          <p:cNvPr id="96" name="class-count-chart"/>
          <p:cNvGraphicFramePr>
            <a:graphicFrameLocks noGrp="1"/>
          </p:cNvGraphicFramePr>
          <p:nvPr/>
        </p:nvGraphicFramePr>
        <p:xfrm>
          <a:off x="5394960" y="868680"/>
          <a:ext cx="3474720" cy="36118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97" name="TextBox 96"/>
          <p:cNvSpPr txBox="1"/>
          <p:nvPr/>
        </p:nvSpPr>
        <p:spPr>
          <a:xfrm>
            <a:off x="5394960" y="4498848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D94F4F"/>
                </a:solidFill>
              </a:rPr>
              <a:t>Near-full은 149장</a:t>
            </a:r>
            <a:r>
              <a:rPr lang="ko-KR" altLang="en-US" sz="1100" dirty="0">
                <a:solidFill>
                  <a:srgbClr val="D94F4F"/>
                </a:solidFill>
              </a:rPr>
              <a:t> · 가장 많은 Edge-Ring의 1/65</a:t>
            </a:r>
          </a:p>
        </p:txBody>
      </p:sp>
    </p:spTree>
    <p:extLst>
      <p:ext uri="{BB962C8B-B14F-4D97-AF65-F5344CB8AC3E}">
        <p14:creationId xmlns:p14="http://schemas.microsoft.com/office/powerpoint/2010/main" val="2667579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85FE46C4-A360-0AD2-2C68-6438F0C74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B8C98EA6-21BA-F248-FFDC-CE285FC1FA66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>
            <a:extLst>
              <a:ext uri="{FF2B5EF4-FFF2-40B4-BE49-F238E27FC236}">
                <a16:creationId xmlns:a16="http://schemas.microsoft.com/office/drawing/2014/main" id="{C8632BDB-C0B7-8257-52BE-4CFA654F7E24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>
              <a:ext uri="{FF2B5EF4-FFF2-40B4-BE49-F238E27FC236}">
                <a16:creationId xmlns:a16="http://schemas.microsoft.com/office/drawing/2014/main" id="{762D8CFF-92C4-B238-D3E6-3022A58556D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77162A68-93EF-10AB-5B5A-EE634EA21CE4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ko-KR" altLang="en-US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로드맵</a:t>
            </a:r>
          </a:p>
        </p:txBody>
      </p:sp>
      <p:sp>
        <p:nvSpPr>
          <p:cNvPr id="93" name="step-1"/>
          <p:cNvSpPr/>
          <p:nvPr/>
        </p:nvSpPr>
        <p:spPr>
          <a:xfrm>
            <a:off x="1828800" y="1234440"/>
            <a:ext cx="1536192" cy="1554480"/>
          </a:xfrm>
          <a:prstGeom prst="roundRect">
            <a:avLst>
              <a:gd name="adj" fmla="val 6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step-1-badge"/>
          <p:cNvSpPr/>
          <p:nvPr/>
        </p:nvSpPr>
        <p:spPr>
          <a:xfrm>
            <a:off x="2414015" y="1399032"/>
            <a:ext cx="365760" cy="365760"/>
          </a:xfrm>
          <a:prstGeom prst="ellipse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5" name="step-1-text"/>
          <p:cNvSpPr txBox="1"/>
          <p:nvPr/>
        </p:nvSpPr>
        <p:spPr>
          <a:xfrm>
            <a:off x="1828800" y="1828800"/>
            <a:ext cx="1536192" cy="9144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ko-KR" altLang="en-US" sz="1600" b="1" dirty="0">
                <a:solidFill>
                  <a:srgbClr val="19264B"/>
                </a:solidFill>
              </a:rPr>
              <a:t>데이터 준비</a:t>
            </a:r>
          </a:p>
          <a:p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rgbClr val="4B5563"/>
                </a:solidFill>
              </a:rPr>
              <a:t>32×32로</a:t>
            </a:r>
          </a:p>
          <a:p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rgbClr val="4B5563"/>
                </a:solidFill>
              </a:rPr>
              <a:t>크기 통일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3401568" y="2011680"/>
            <a:ext cx="182880" cy="0"/>
          </a:xfrm>
          <a:prstGeom prst="line">
            <a:avLst/>
          </a:prstGeom>
          <a:ln w="19050">
            <a:solidFill>
              <a:srgbClr val="1926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step-2"/>
          <p:cNvSpPr/>
          <p:nvPr/>
        </p:nvSpPr>
        <p:spPr>
          <a:xfrm>
            <a:off x="3621024" y="1234440"/>
            <a:ext cx="1536192" cy="1554480"/>
          </a:xfrm>
          <a:prstGeom prst="roundRect">
            <a:avLst>
              <a:gd name="adj" fmla="val 6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step-2-badge"/>
          <p:cNvSpPr/>
          <p:nvPr/>
        </p:nvSpPr>
        <p:spPr>
          <a:xfrm>
            <a:off x="4206240" y="1399032"/>
            <a:ext cx="365760" cy="365760"/>
          </a:xfrm>
          <a:prstGeom prst="ellipse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9" name="step-2-text"/>
          <p:cNvSpPr txBox="1"/>
          <p:nvPr/>
        </p:nvSpPr>
        <p:spPr>
          <a:xfrm>
            <a:off x="3621024" y="1828800"/>
            <a:ext cx="1536192" cy="9144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ko-KR" altLang="en-US" sz="1600" b="1" dirty="0">
                <a:solidFill>
                  <a:srgbClr val="19264B"/>
                </a:solidFill>
              </a:rPr>
              <a:t>MLP</a:t>
            </a:r>
          </a:p>
          <a:p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rgbClr val="4B5563"/>
                </a:solidFill>
              </a:rPr>
              <a:t>책에서 만든 신경망</a:t>
            </a:r>
          </a:p>
          <a:p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rgbClr val="4B5563"/>
                </a:solidFill>
              </a:rPr>
              <a:t>(기준 성능)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5193792" y="2011680"/>
            <a:ext cx="182880" cy="0"/>
          </a:xfrm>
          <a:prstGeom prst="line">
            <a:avLst/>
          </a:prstGeom>
          <a:ln w="19050">
            <a:solidFill>
              <a:srgbClr val="1926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step-3"/>
          <p:cNvSpPr/>
          <p:nvPr/>
        </p:nvSpPr>
        <p:spPr>
          <a:xfrm>
            <a:off x="5413248" y="1234440"/>
            <a:ext cx="1536192" cy="1554480"/>
          </a:xfrm>
          <a:prstGeom prst="roundRect">
            <a:avLst>
              <a:gd name="adj" fmla="val 6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step-3-badge"/>
          <p:cNvSpPr/>
          <p:nvPr/>
        </p:nvSpPr>
        <p:spPr>
          <a:xfrm>
            <a:off x="5998464" y="1399032"/>
            <a:ext cx="365760" cy="365760"/>
          </a:xfrm>
          <a:prstGeom prst="ellipse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3" name="step-3-text"/>
          <p:cNvSpPr txBox="1"/>
          <p:nvPr/>
        </p:nvSpPr>
        <p:spPr>
          <a:xfrm>
            <a:off x="5413248" y="1828800"/>
            <a:ext cx="1536192" cy="9144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ko-KR" altLang="en-US" sz="1600" b="1" dirty="0">
                <a:solidFill>
                  <a:srgbClr val="19264B"/>
                </a:solidFill>
              </a:rPr>
              <a:t>CNN</a:t>
            </a:r>
          </a:p>
          <a:p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rgbClr val="4B5563"/>
                </a:solidFill>
              </a:rPr>
              <a:t>맵의 모양을</a:t>
            </a:r>
          </a:p>
          <a:p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rgbClr val="4B5563"/>
                </a:solidFill>
              </a:rPr>
              <a:t>보는 모델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6986016" y="2011680"/>
            <a:ext cx="182880" cy="0"/>
          </a:xfrm>
          <a:prstGeom prst="line">
            <a:avLst/>
          </a:prstGeom>
          <a:ln w="19050">
            <a:solidFill>
              <a:srgbClr val="1926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step-4"/>
          <p:cNvSpPr/>
          <p:nvPr/>
        </p:nvSpPr>
        <p:spPr>
          <a:xfrm>
            <a:off x="7205472" y="1234440"/>
            <a:ext cx="1536192" cy="1554480"/>
          </a:xfrm>
          <a:prstGeom prst="roundRect">
            <a:avLst>
              <a:gd name="adj" fmla="val 6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step-4-badge"/>
          <p:cNvSpPr/>
          <p:nvPr/>
        </p:nvSpPr>
        <p:spPr>
          <a:xfrm>
            <a:off x="7790688" y="1399032"/>
            <a:ext cx="365760" cy="365760"/>
          </a:xfrm>
          <a:prstGeom prst="ellipse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7" name="step-4-text"/>
          <p:cNvSpPr txBox="1"/>
          <p:nvPr/>
        </p:nvSpPr>
        <p:spPr>
          <a:xfrm>
            <a:off x="7205472" y="1828800"/>
            <a:ext cx="1536192" cy="9144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ko-KR" altLang="en-US" sz="1600" b="1" dirty="0">
                <a:solidFill>
                  <a:srgbClr val="19264B"/>
                </a:solidFill>
              </a:rPr>
              <a:t>실험 · 분석</a:t>
            </a:r>
          </a:p>
          <a:p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rgbClr val="4B5563"/>
                </a:solidFill>
              </a:rPr>
              <a:t>실험 1·2,</a:t>
            </a:r>
          </a:p>
          <a:p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rgbClr val="4B5563"/>
                </a:solidFill>
              </a:rPr>
              <a:t>틀린 맵 분석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3712463" y="3063239"/>
            <a:ext cx="3145537" cy="0"/>
          </a:xfrm>
          <a:prstGeom prst="line">
            <a:avLst/>
          </a:prstGeom>
          <a:ln w="15875">
            <a:solidFill>
              <a:srgbClr val="19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3712463" y="2971799"/>
            <a:ext cx="0" cy="91440"/>
          </a:xfrm>
          <a:prstGeom prst="line">
            <a:avLst/>
          </a:prstGeom>
          <a:ln w="15875">
            <a:solidFill>
              <a:srgbClr val="19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6858000" y="2971799"/>
            <a:ext cx="0" cy="91440"/>
          </a:xfrm>
          <a:prstGeom prst="line">
            <a:avLst/>
          </a:prstGeom>
          <a:ln w="15875">
            <a:solidFill>
              <a:srgbClr val="19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compare-label"/>
          <p:cNvSpPr txBox="1"/>
          <p:nvPr/>
        </p:nvSpPr>
        <p:spPr>
          <a:xfrm>
            <a:off x="3621024" y="3154679"/>
            <a:ext cx="3328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19264B"/>
                </a:solidFill>
              </a:rPr>
              <a:t>MLP vs CNN 비교</a:t>
            </a:r>
          </a:p>
          <a:p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rgbClr val="4B5563"/>
                </a:solidFill>
              </a:rPr>
              <a:t>어떤 패턴에서 CNN이 더 잘 잡을까?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7296912" y="3063239"/>
            <a:ext cx="1353312" cy="0"/>
          </a:xfrm>
          <a:prstGeom prst="line">
            <a:avLst/>
          </a:prstGeom>
          <a:ln w="15875">
            <a:solidFill>
              <a:srgbClr val="19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296912" y="2971799"/>
            <a:ext cx="0" cy="91440"/>
          </a:xfrm>
          <a:prstGeom prst="line">
            <a:avLst/>
          </a:prstGeom>
          <a:ln w="15875">
            <a:solidFill>
              <a:srgbClr val="19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8650224" y="2971799"/>
            <a:ext cx="0" cy="91440"/>
          </a:xfrm>
          <a:prstGeom prst="line">
            <a:avLst/>
          </a:prstGeom>
          <a:ln w="15875">
            <a:solidFill>
              <a:srgbClr val="19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parallel-label"/>
          <p:cNvSpPr txBox="1"/>
          <p:nvPr/>
        </p:nvSpPr>
        <p:spPr>
          <a:xfrm>
            <a:off x="7205472" y="3154679"/>
            <a:ext cx="15361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19264B"/>
                </a:solidFill>
              </a:rPr>
              <a:t>동시 진행</a:t>
            </a:r>
          </a:p>
          <a:p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rgbClr val="4B5563"/>
                </a:solidFill>
              </a:rPr>
              <a:t>실험 1·2를 나눠서</a:t>
            </a:r>
          </a:p>
        </p:txBody>
      </p:sp>
    </p:spTree>
    <p:extLst>
      <p:ext uri="{BB962C8B-B14F-4D97-AF65-F5344CB8AC3E}">
        <p14:creationId xmlns:p14="http://schemas.microsoft.com/office/powerpoint/2010/main" val="2156878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83A98A49-181B-DB42-39F3-B446D4528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691B040C-0E00-FB2B-D9C4-4107B0E0AD16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>
            <a:extLst>
              <a:ext uri="{FF2B5EF4-FFF2-40B4-BE49-F238E27FC236}">
                <a16:creationId xmlns:a16="http://schemas.microsoft.com/office/drawing/2014/main" id="{D9D73189-E530-159E-A0E4-18D7C05EFF0B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>
              <a:ext uri="{FF2B5EF4-FFF2-40B4-BE49-F238E27FC236}">
                <a16:creationId xmlns:a16="http://schemas.microsoft.com/office/drawing/2014/main" id="{9937BBC1-AD9F-7DC1-3B41-8F1F9483F39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F872CA55-94EB-22C9-BA51-B6A5C3B37682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ko-KR" altLang="en-US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실험 계획</a:t>
            </a:r>
          </a:p>
        </p:txBody>
      </p:sp>
      <p:sp>
        <p:nvSpPr>
          <p:cNvPr id="93" name="exp-1"/>
          <p:cNvSpPr/>
          <p:nvPr/>
        </p:nvSpPr>
        <p:spPr>
          <a:xfrm>
            <a:off x="1828800" y="1005840"/>
            <a:ext cx="3310128" cy="3383280"/>
          </a:xfrm>
          <a:prstGeom prst="roundRect">
            <a:avLst>
              <a:gd name="adj" fmla="val 6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exp-1-badge"/>
          <p:cNvSpPr/>
          <p:nvPr/>
        </p:nvSpPr>
        <p:spPr>
          <a:xfrm>
            <a:off x="2057400" y="1234440"/>
            <a:ext cx="411480" cy="411480"/>
          </a:xfrm>
          <a:prstGeom prst="ellipse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5" name="exp-1-title"/>
          <p:cNvSpPr txBox="1"/>
          <p:nvPr/>
        </p:nvSpPr>
        <p:spPr>
          <a:xfrm>
            <a:off x="2578608" y="1207008"/>
            <a:ext cx="23957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1" dirty="0">
                <a:solidFill>
                  <a:srgbClr val="19264B"/>
                </a:solidFill>
              </a:rPr>
              <a:t>학습 기법 비교</a:t>
            </a:r>
          </a:p>
        </p:txBody>
      </p:sp>
      <p:sp>
        <p:nvSpPr>
          <p:cNvPr id="96" name="exp-1-body"/>
          <p:cNvSpPr txBox="1"/>
          <p:nvPr/>
        </p:nvSpPr>
        <p:spPr>
          <a:xfrm>
            <a:off x="2057400" y="1874519"/>
            <a:ext cx="289864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lvl="0" indent="0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6B7280"/>
                </a:solidFill>
              </a:rPr>
              <a:t>바꾸는 것</a:t>
            </a:r>
          </a:p>
          <a:p>
            <a:pPr marL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/>
              <a:t>SGD vs Adam</a:t>
            </a:r>
          </a:p>
          <a:p>
            <a:pPr marL="0" lvl="0" indent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-KR" altLang="en-US" sz="1500" dirty="0"/>
              <a:t>드롭아웃 · 배치 정규화</a:t>
            </a:r>
          </a:p>
          <a:p>
            <a:pPr marL="0" lvl="0" indent="0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6B7280"/>
                </a:solidFill>
              </a:rPr>
              <a:t>보는 것</a:t>
            </a:r>
          </a:p>
          <a:p>
            <a:pPr marL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/>
              <a:t>어떤 기법이 성능을</a:t>
            </a:r>
          </a:p>
          <a:p>
            <a:pPr marL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/>
              <a:t>가장 많이 올리나</a:t>
            </a:r>
          </a:p>
        </p:txBody>
      </p:sp>
      <p:sp>
        <p:nvSpPr>
          <p:cNvPr id="97" name="exp-1-link"/>
          <p:cNvSpPr/>
          <p:nvPr/>
        </p:nvSpPr>
        <p:spPr>
          <a:xfrm>
            <a:off x="2057400" y="393192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</a:rPr>
              <a:t>스터디 6장</a:t>
            </a:r>
          </a:p>
        </p:txBody>
      </p:sp>
      <p:sp>
        <p:nvSpPr>
          <p:cNvPr id="98" name="exp-2"/>
          <p:cNvSpPr/>
          <p:nvPr/>
        </p:nvSpPr>
        <p:spPr>
          <a:xfrm>
            <a:off x="5413248" y="1005840"/>
            <a:ext cx="3310128" cy="3383280"/>
          </a:xfrm>
          <a:prstGeom prst="roundRect">
            <a:avLst>
              <a:gd name="adj" fmla="val 6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exp-2-badge"/>
          <p:cNvSpPr/>
          <p:nvPr/>
        </p:nvSpPr>
        <p:spPr>
          <a:xfrm>
            <a:off x="5641848" y="1234440"/>
            <a:ext cx="411480" cy="411480"/>
          </a:xfrm>
          <a:prstGeom prst="ellipse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0" name="exp-2-title"/>
          <p:cNvSpPr txBox="1"/>
          <p:nvPr/>
        </p:nvSpPr>
        <p:spPr>
          <a:xfrm>
            <a:off x="6163056" y="1207008"/>
            <a:ext cx="23957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1" dirty="0">
                <a:solidFill>
                  <a:srgbClr val="19264B"/>
                </a:solidFill>
              </a:rPr>
              <a:t>불균형 대응</a:t>
            </a:r>
          </a:p>
        </p:txBody>
      </p:sp>
      <p:sp>
        <p:nvSpPr>
          <p:cNvPr id="101" name="exp-2-body"/>
          <p:cNvSpPr txBox="1"/>
          <p:nvPr/>
        </p:nvSpPr>
        <p:spPr>
          <a:xfrm>
            <a:off x="5641848" y="1874519"/>
            <a:ext cx="289864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lvl="0" indent="0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6B7280"/>
                </a:solidFill>
              </a:rPr>
              <a:t>바꾸는 것</a:t>
            </a:r>
          </a:p>
          <a:p>
            <a:pPr marL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/>
              <a:t>가중 손실</a:t>
            </a:r>
          </a:p>
          <a:p>
            <a:pPr marL="0" lvl="0" indent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-KR" altLang="en-US" sz="1500" dirty="0"/>
              <a:t>회전 · 뒤집기 증강</a:t>
            </a:r>
          </a:p>
          <a:p>
            <a:pPr marL="0" lvl="0" indent="0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6B7280"/>
                </a:solidFill>
              </a:rPr>
              <a:t>보는 것</a:t>
            </a:r>
          </a:p>
          <a:p>
            <a:pPr marL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/>
              <a:t>소수 패턴(Near-full 등)을</a:t>
            </a:r>
          </a:p>
          <a:p>
            <a:pPr marL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/>
              <a:t>얼마나 더 잡나</a:t>
            </a:r>
          </a:p>
        </p:txBody>
      </p:sp>
      <p:sp>
        <p:nvSpPr>
          <p:cNvPr id="102" name="exp-2-link"/>
          <p:cNvSpPr/>
          <p:nvPr/>
        </p:nvSpPr>
        <p:spPr>
          <a:xfrm>
            <a:off x="5641848" y="393192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</a:rPr>
              <a:t>스터디 4장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0" y="4462272"/>
            <a:ext cx="69037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marL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rgbClr val="6B7280"/>
                </a:solidFill>
              </a:rPr>
              <a:t>두 실험 모두 CNN 구조는 고정하고, 한 번에 한 가지만 바꿔서 비교</a:t>
            </a:r>
          </a:p>
        </p:txBody>
      </p:sp>
    </p:spTree>
    <p:extLst>
      <p:ext uri="{BB962C8B-B14F-4D97-AF65-F5344CB8AC3E}">
        <p14:creationId xmlns:p14="http://schemas.microsoft.com/office/powerpoint/2010/main" val="3399684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83A98A49-181B-DB42-39F3-B446D4528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691B040C-0E00-FB2B-D9C4-4107B0E0AD16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>
            <a:extLst>
              <a:ext uri="{FF2B5EF4-FFF2-40B4-BE49-F238E27FC236}">
                <a16:creationId xmlns:a16="http://schemas.microsoft.com/office/drawing/2014/main" id="{D9D73189-E530-159E-A0E4-18D7C05EFF0B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>
              <a:ext uri="{FF2B5EF4-FFF2-40B4-BE49-F238E27FC236}">
                <a16:creationId xmlns:a16="http://schemas.microsoft.com/office/drawing/2014/main" id="{9937BBC1-AD9F-7DC1-3B41-8F1F9483F39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F872CA55-94EB-22C9-BA51-B6A5C3B37682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ko-KR" altLang="en-US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진행 상황</a:t>
            </a:r>
          </a:p>
        </p:txBody>
      </p:sp>
      <p:sp>
        <p:nvSpPr>
          <p:cNvPr id="93" name="progress-headline"/>
          <p:cNvSpPr txBox="1"/>
          <p:nvPr/>
        </p:nvSpPr>
        <p:spPr>
          <a:xfrm>
            <a:off x="1828800" y="1051560"/>
            <a:ext cx="6949440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marL="0" lvl="0" indent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ko-KR" altLang="en-US" sz="2200" dirty="0">
                <a:solidFill>
                  <a:srgbClr val="19264B"/>
                </a:solidFill>
              </a:rPr>
              <a:t>현재는 </a:t>
            </a:r>
            <a:r>
              <a:rPr lang="ko-KR" altLang="en-US" sz="2200" b="1" dirty="0">
                <a:solidFill>
                  <a:srgbClr val="19264B"/>
                </a:solidFill>
              </a:rPr>
              <a:t>주제와 데이터셋 선정</a:t>
            </a:r>
            <a:r>
              <a:rPr lang="ko-KR" altLang="en-US" sz="2200" dirty="0">
                <a:solidFill>
                  <a:srgbClr val="19264B"/>
                </a:solidFill>
              </a:rPr>
              <a:t>까지 완료</a:t>
            </a:r>
          </a:p>
          <a:p>
            <a:pPr marL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4B5563"/>
                </a:solidFill>
              </a:rPr>
              <a:t>본격적인 진행은 다음 주부터 시작합니다</a:t>
            </a:r>
          </a:p>
        </p:txBody>
      </p:sp>
      <p:cxnSp>
        <p:nvCxnSpPr>
          <p:cNvPr id="94" name="progress-line"/>
          <p:cNvCxnSpPr/>
          <p:nvPr/>
        </p:nvCxnSpPr>
        <p:spPr>
          <a:xfrm>
            <a:off x="2926080" y="2788920"/>
            <a:ext cx="4754880" cy="0"/>
          </a:xfrm>
          <a:prstGeom prst="line">
            <a:avLst/>
          </a:prstGeom>
          <a:ln w="25400">
            <a:solidFill>
              <a:srgbClr val="C8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progress-dot-1"/>
          <p:cNvSpPr/>
          <p:nvPr/>
        </p:nvSpPr>
        <p:spPr>
          <a:xfrm>
            <a:off x="2761488" y="2624327"/>
            <a:ext cx="329184" cy="329184"/>
          </a:xfrm>
          <a:prstGeom prst="ellipse">
            <a:avLst/>
          </a:prstGeom>
          <a:solidFill>
            <a:srgbClr val="19264B"/>
          </a:solidFill>
          <a:ln w="25400">
            <a:solidFill>
              <a:srgbClr val="192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progress-name-1"/>
          <p:cNvSpPr txBox="1"/>
          <p:nvPr/>
        </p:nvSpPr>
        <p:spPr>
          <a:xfrm>
            <a:off x="1874520" y="310896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19264B"/>
                </a:solidFill>
              </a:rPr>
              <a:t>주제·데이터셋 선정</a:t>
            </a:r>
          </a:p>
        </p:txBody>
      </p:sp>
      <p:sp>
        <p:nvSpPr>
          <p:cNvPr id="97" name="progress-status-1"/>
          <p:cNvSpPr/>
          <p:nvPr/>
        </p:nvSpPr>
        <p:spPr>
          <a:xfrm>
            <a:off x="2514600" y="356616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</a:rPr>
              <a:t>완료</a:t>
            </a:r>
          </a:p>
        </p:txBody>
      </p:sp>
      <p:sp>
        <p:nvSpPr>
          <p:cNvPr id="98" name="progress-dot-2"/>
          <p:cNvSpPr/>
          <p:nvPr/>
        </p:nvSpPr>
        <p:spPr>
          <a:xfrm>
            <a:off x="5138928" y="2624327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92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progress-name-2"/>
          <p:cNvSpPr txBox="1"/>
          <p:nvPr/>
        </p:nvSpPr>
        <p:spPr>
          <a:xfrm>
            <a:off x="4251960" y="310896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19264B"/>
                </a:solidFill>
              </a:rPr>
              <a:t>데이터 준비</a:t>
            </a:r>
          </a:p>
        </p:txBody>
      </p:sp>
      <p:sp>
        <p:nvSpPr>
          <p:cNvPr id="100" name="progress-status-2"/>
          <p:cNvSpPr/>
          <p:nvPr/>
        </p:nvSpPr>
        <p:spPr>
          <a:xfrm>
            <a:off x="4754880" y="356616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92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19264B"/>
                </a:solidFill>
              </a:rPr>
              <a:t>다음 주 시작</a:t>
            </a:r>
          </a:p>
        </p:txBody>
      </p:sp>
      <p:sp>
        <p:nvSpPr>
          <p:cNvPr id="101" name="progress-dot-3"/>
          <p:cNvSpPr/>
          <p:nvPr/>
        </p:nvSpPr>
        <p:spPr>
          <a:xfrm>
            <a:off x="7516368" y="2624327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92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progress-name-3"/>
          <p:cNvSpPr txBox="1"/>
          <p:nvPr/>
        </p:nvSpPr>
        <p:spPr>
          <a:xfrm>
            <a:off x="6629400" y="310896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6B7280"/>
                </a:solidFill>
              </a:rPr>
              <a:t>MLP → CNN → 실험</a:t>
            </a:r>
          </a:p>
        </p:txBody>
      </p:sp>
      <p:sp>
        <p:nvSpPr>
          <p:cNvPr id="103" name="progress-status-3"/>
          <p:cNvSpPr/>
          <p:nvPr/>
        </p:nvSpPr>
        <p:spPr>
          <a:xfrm>
            <a:off x="7132320" y="356616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AA4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6B7280"/>
                </a:solidFill>
              </a:rPr>
              <a:t>이후</a:t>
            </a:r>
          </a:p>
        </p:txBody>
      </p:sp>
    </p:spTree>
    <p:extLst>
      <p:ext uri="{BB962C8B-B14F-4D97-AF65-F5344CB8AC3E}">
        <p14:creationId xmlns:p14="http://schemas.microsoft.com/office/powerpoint/2010/main" val="1234567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83A98A49-181B-DB42-39F3-B446D4528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691B040C-0E00-FB2B-D9C4-4107B0E0AD16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>
            <a:extLst>
              <a:ext uri="{FF2B5EF4-FFF2-40B4-BE49-F238E27FC236}">
                <a16:creationId xmlns:a16="http://schemas.microsoft.com/office/drawing/2014/main" id="{D9D73189-E530-159E-A0E4-18D7C05EFF0B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>
              <a:ext uri="{FF2B5EF4-FFF2-40B4-BE49-F238E27FC236}">
                <a16:creationId xmlns:a16="http://schemas.microsoft.com/office/drawing/2014/main" id="{9937BBC1-AD9F-7DC1-3B41-8F1F9483F39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F872CA55-94EB-22C9-BA51-B6A5C3B37682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ko-KR" altLang="en-US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프로젝트 목표</a:t>
            </a:r>
          </a:p>
        </p:txBody>
      </p:sp>
      <p:sp>
        <p:nvSpPr>
          <p:cNvPr id="93" name="goal-1-badge"/>
          <p:cNvSpPr/>
          <p:nvPr/>
        </p:nvSpPr>
        <p:spPr>
          <a:xfrm>
            <a:off x="1920240" y="1188720"/>
            <a:ext cx="457200" cy="457200"/>
          </a:xfrm>
          <a:prstGeom prst="ellipse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4" name="goal-1"/>
          <p:cNvSpPr txBox="1"/>
          <p:nvPr/>
        </p:nvSpPr>
        <p:spPr>
          <a:xfrm>
            <a:off x="2606040" y="1143000"/>
            <a:ext cx="6217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/>
              <a:t>스터디에서 배우는 </a:t>
            </a:r>
            <a:r>
              <a:rPr lang="ko-KR" altLang="en-US" sz="1800" b="1" dirty="0"/>
              <a:t>신경망 · CNN</a:t>
            </a:r>
            <a:r>
              <a:rPr lang="ko-KR" altLang="en-US" sz="1800" dirty="0"/>
              <a:t>을 실제 공장 데이터에 적용</a:t>
            </a:r>
          </a:p>
        </p:txBody>
      </p:sp>
      <p:sp>
        <p:nvSpPr>
          <p:cNvPr id="95" name="goal-2-badge"/>
          <p:cNvSpPr/>
          <p:nvPr/>
        </p:nvSpPr>
        <p:spPr>
          <a:xfrm>
            <a:off x="1920240" y="2057400"/>
            <a:ext cx="457200" cy="457200"/>
          </a:xfrm>
          <a:prstGeom prst="ellipse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6" name="goal-2"/>
          <p:cNvSpPr txBox="1"/>
          <p:nvPr/>
        </p:nvSpPr>
        <p:spPr>
          <a:xfrm>
            <a:off x="2606040" y="2011680"/>
            <a:ext cx="6217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/>
              <a:t>불균형 데이터를 </a:t>
            </a:r>
            <a:r>
              <a:rPr lang="ko-KR" altLang="en-US" sz="1800" b="1" dirty="0"/>
              <a:t>macro-F1</a:t>
            </a:r>
            <a:r>
              <a:rPr lang="ko-KR" altLang="en-US" sz="1800" dirty="0"/>
              <a:t>로 제대로 평가</a:t>
            </a:r>
          </a:p>
        </p:txBody>
      </p:sp>
      <p:sp>
        <p:nvSpPr>
          <p:cNvPr id="97" name="goal-3-badge"/>
          <p:cNvSpPr/>
          <p:nvPr/>
        </p:nvSpPr>
        <p:spPr>
          <a:xfrm>
            <a:off x="1920240" y="2926080"/>
            <a:ext cx="457200" cy="457200"/>
          </a:xfrm>
          <a:prstGeom prst="ellipse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8" name="goal-3"/>
          <p:cNvSpPr txBox="1"/>
          <p:nvPr/>
        </p:nvSpPr>
        <p:spPr>
          <a:xfrm>
            <a:off x="2606040" y="2880360"/>
            <a:ext cx="6217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/>
              <a:t>3주</a:t>
            </a:r>
            <a:r>
              <a:rPr lang="ko-KR" altLang="en-US" sz="1800" dirty="0"/>
              <a:t> 안에 틀린 맵 분석까지 마무리</a:t>
            </a:r>
          </a:p>
        </p:txBody>
      </p:sp>
      <p:sp>
        <p:nvSpPr>
          <p:cNvPr id="99" name="plan-b"/>
          <p:cNvSpPr/>
          <p:nvPr/>
        </p:nvSpPr>
        <p:spPr>
          <a:xfrm>
            <a:off x="1828800" y="3931920"/>
            <a:ext cx="6949440" cy="548640"/>
          </a:xfrm>
          <a:prstGeom prst="roundRect">
            <a:avLst>
              <a:gd name="adj" fmla="val 6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plan-b-chip"/>
          <p:cNvSpPr/>
          <p:nvPr/>
        </p:nvSpPr>
        <p:spPr>
          <a:xfrm>
            <a:off x="2011680" y="4059936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</a:rPr>
              <a:t>플랜 B</a:t>
            </a:r>
          </a:p>
        </p:txBody>
      </p:sp>
      <p:sp>
        <p:nvSpPr>
          <p:cNvPr id="101" name="plan-b-text"/>
          <p:cNvSpPr txBox="1"/>
          <p:nvPr/>
        </p:nvSpPr>
        <p:spPr>
          <a:xfrm>
            <a:off x="2971800" y="3931920"/>
            <a:ext cx="5669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dirty="0">
                <a:solidFill>
                  <a:srgbClr val="374151"/>
                </a:solidFill>
              </a:rPr>
              <a:t>막히면 같은 구조의 NEU 강판 표면 결함 데이터(1,800장)로 전환</a:t>
            </a:r>
          </a:p>
        </p:txBody>
      </p:sp>
    </p:spTree>
    <p:extLst>
      <p:ext uri="{BB962C8B-B14F-4D97-AF65-F5344CB8AC3E}">
        <p14:creationId xmlns:p14="http://schemas.microsoft.com/office/powerpoint/2010/main" val="3399684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64B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049750" y="3137425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7"/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1" name="Google Shape;101;p17"/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2" name="Google Shape;102;p17"/>
          <p:cNvSpPr txBox="1"/>
          <p:nvPr/>
        </p:nvSpPr>
        <p:spPr>
          <a:xfrm>
            <a:off x="1469575" y="510025"/>
            <a:ext cx="14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7"/>
          <p:cNvSpPr txBox="1"/>
          <p:nvPr/>
        </p:nvSpPr>
        <p:spPr>
          <a:xfrm>
            <a:off x="2082300" y="2110050"/>
            <a:ext cx="4979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800" dirty="0">
                <a:solidFill>
                  <a:schemeClr val="lt1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감사합니다</a:t>
            </a:r>
            <a:endParaRPr sz="4800" dirty="0">
              <a:solidFill>
                <a:schemeClr val="lt1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240</Words>
  <Application>Microsoft Office PowerPoint</Application>
  <PresentationFormat>화면 슬라이드 쇼(16:9)</PresentationFormat>
  <Paragraphs>53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NanumGothicExtraBold</vt:lpstr>
      <vt:lpstr>Arial</vt:lpstr>
      <vt:lpstr>Nanum Gothic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YOON</dc:creator>
  <cp:lastModifiedBy>최윤서</cp:lastModifiedBy>
  <cp:revision>4</cp:revision>
  <dcterms:modified xsi:type="dcterms:W3CDTF">2026-04-28T08:32:28Z</dcterms:modified>
</cp:coreProperties>
</file>
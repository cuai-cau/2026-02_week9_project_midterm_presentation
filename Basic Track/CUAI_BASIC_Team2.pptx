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2" r:id="rId8"/>
    <p:sldId id="261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59" d="100"/>
          <a:sy n="159" d="100"/>
        </p:scale>
        <p:origin x="30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41359e952d43cb9_3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h41359e952d43cb9_3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/>
              <a:t>여기부터는 스터디 발표에 쓰이는 PPT 슬라이드입니다!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41359e952d43cb9_3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h41359e952d43cb9_3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/>
              <a:t>이렇게 스터디원들을 만나 공부하신 사진을 넣어주시고 만남 인증을 해주세요!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/>
              <a:t>비대면일 경우 화면 캡처를 이용해주시면 됩니다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/>
              <a:t>지난 기수에서는 이걸 많이 까먹고 안올리셔서 전반적으로 스터디 참여가 저조했던 면이 있었는데, 스터디의 원활한 유지를 위해 꼭 잊지말고 첨부해주시면 감사하겠습니다!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41359e952d43cb9_3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h41359e952d43cb9_3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41359e952d43cb9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h41359e952d43cb9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41359e952d43cb9_3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h41359e952d43cb9_3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09380DCF-2CC3-978B-6901-25DD6D46B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41359e952d43cb9_3_78:notes">
            <a:extLst>
              <a:ext uri="{FF2B5EF4-FFF2-40B4-BE49-F238E27FC236}">
                <a16:creationId xmlns:a16="http://schemas.microsoft.com/office/drawing/2014/main" id="{886E8C00-EB2A-DEB7-508B-37A2A574A4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h41359e952d43cb9_3_78:notes">
            <a:extLst>
              <a:ext uri="{FF2B5EF4-FFF2-40B4-BE49-F238E27FC236}">
                <a16:creationId xmlns:a16="http://schemas.microsoft.com/office/drawing/2014/main" id="{D99D70D4-7E90-3B74-C939-F1DDD72902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5199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h41359e952d43cb9_3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h41359e952d43cb9_3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7" name="Google Shape;87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91" name="Google Shape;91;p23"/>
          <p:cNvSpPr/>
          <p:nvPr/>
        </p:nvSpPr>
        <p:spPr>
          <a:xfrm>
            <a:off x="-8275" y="-84750"/>
            <a:ext cx="9254700" cy="5231400"/>
          </a:xfrm>
          <a:prstGeom prst="rect">
            <a:avLst/>
          </a:prstGeom>
          <a:solidFill>
            <a:srgbClr val="19264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3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3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3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" name="Google Shape;96;p23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7" name="Google Shape;97;p23"/>
          <p:cNvSpPr/>
          <p:nvPr/>
        </p:nvSpPr>
        <p:spPr>
          <a:xfrm>
            <a:off x="1060050" y="211800"/>
            <a:ext cx="7420500" cy="471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3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3"/>
          <p:cNvSpPr txBox="1"/>
          <p:nvPr/>
        </p:nvSpPr>
        <p:spPr>
          <a:xfrm>
            <a:off x="146888" y="59400"/>
            <a:ext cx="11295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 b="0" i="0" u="none" strike="noStrike" cap="none">
                <a:solidFill>
                  <a:srgbClr val="9E9E9E"/>
                </a:solidFill>
                <a:latin typeface="NanumGothic"/>
                <a:ea typeface="NanumGothic"/>
                <a:cs typeface="NanumGothic"/>
                <a:sym typeface="Nanum Gothic"/>
              </a:rPr>
              <a:t>8기 활동 소개</a:t>
            </a:r>
            <a:endParaRPr sz="800" b="0" i="0" u="none" strike="noStrike" cap="none">
              <a:solidFill>
                <a:srgbClr val="9E9E9E"/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 b="1" i="0" u="none" strike="noStrike" cap="none">
                <a:solidFill>
                  <a:srgbClr val="777777"/>
                </a:solidFill>
                <a:latin typeface="NanumGothic"/>
                <a:ea typeface="NanumGothic"/>
                <a:cs typeface="NanumGothic"/>
                <a:sym typeface="Nanum Gothic"/>
              </a:rPr>
              <a:t>9기 활동 안내</a:t>
            </a:r>
            <a:endParaRPr sz="800" b="0" i="0" u="none" strike="noStrike" cap="none">
              <a:solidFill>
                <a:srgbClr val="9E9E9E"/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 b="0" i="0" u="none" strike="noStrike" cap="none">
                <a:solidFill>
                  <a:srgbClr val="9E9E9E"/>
                </a:solidFill>
                <a:latin typeface="NanumGothic"/>
                <a:ea typeface="NanumGothic"/>
                <a:cs typeface="NanumGothic"/>
                <a:sym typeface="Nanum Gothic"/>
              </a:rPr>
              <a:t>정기세션</a:t>
            </a:r>
            <a:endParaRPr sz="800" b="0" i="0" u="none" strike="noStrike" cap="none">
              <a:solidFill>
                <a:srgbClr val="9E9E9E"/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ko" sz="800" b="0" i="0" u="none" strike="noStrike" cap="none">
                <a:solidFill>
                  <a:srgbClr val="999999"/>
                </a:solidFill>
                <a:latin typeface="NanumGothic"/>
                <a:ea typeface="NanumGothic"/>
                <a:cs typeface="NanumGothic"/>
                <a:sym typeface="Nanum Gothic"/>
              </a:rPr>
              <a:t>CUAI Github</a:t>
            </a:r>
            <a:endParaRPr sz="800" b="0" i="0" u="none" strike="noStrike" cap="none">
              <a:solidFill>
                <a:srgbClr val="999999"/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ko" sz="800" b="0" i="0" u="none" strike="noStrike" cap="none">
                <a:solidFill>
                  <a:srgbClr val="9E9E9E"/>
                </a:solidFill>
                <a:latin typeface="NanumGothic"/>
                <a:ea typeface="NanumGothic"/>
                <a:cs typeface="NanumGothic"/>
                <a:sym typeface="Nanum Gothic"/>
              </a:rPr>
              <a:t>Basic Track</a:t>
            </a:r>
            <a:endParaRPr sz="800" b="0" i="0" u="none" strike="noStrike" cap="none">
              <a:solidFill>
                <a:srgbClr val="9E9E9E"/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ko" sz="800" b="0" i="0" u="none" strike="noStrike" cap="none">
                <a:solidFill>
                  <a:srgbClr val="9E9E9E"/>
                </a:solidFill>
                <a:latin typeface="NanumGothic"/>
                <a:ea typeface="NanumGothic"/>
                <a:cs typeface="NanumGothic"/>
                <a:sym typeface="Nanum Gothic"/>
              </a:rPr>
              <a:t>Advanced Track</a:t>
            </a:r>
            <a:endParaRPr sz="800" b="0" i="0" u="none" strike="noStrike" cap="none">
              <a:solidFill>
                <a:srgbClr val="9E9E9E"/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ko" sz="800" b="1" i="0" u="none" strike="noStrike" cap="none">
                <a:solidFill>
                  <a:srgbClr val="9E9E9E"/>
                </a:solidFill>
                <a:latin typeface="NanumGothic"/>
                <a:ea typeface="NanumGothic"/>
                <a:cs typeface="NanumGothic"/>
                <a:sym typeface="Nanum Gothic"/>
              </a:rPr>
              <a:t>스터디 소개</a:t>
            </a:r>
            <a:endParaRPr sz="800" b="1" i="0" u="none" strike="noStrike" cap="none">
              <a:solidFill>
                <a:srgbClr val="9E9E9E"/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ko" sz="800" b="1" i="0" u="none" strike="noStrike" cap="none">
                <a:solidFill>
                  <a:srgbClr val="9E9E9E"/>
                </a:solidFill>
                <a:latin typeface="NanumGothic"/>
                <a:ea typeface="NanumGothic"/>
                <a:cs typeface="NanumGothic"/>
                <a:sym typeface="Nanum Gothic"/>
              </a:rPr>
              <a:t>AI 세미나 소개</a:t>
            </a:r>
            <a:endParaRPr sz="800" b="0" i="0" u="none" strike="noStrike" cap="none">
              <a:solidFill>
                <a:srgbClr val="999999"/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ko" sz="800" b="0" i="0" u="none" strike="noStrike" cap="none">
                <a:solidFill>
                  <a:srgbClr val="999999"/>
                </a:solidFill>
                <a:latin typeface="NanumGothic"/>
                <a:ea typeface="NanumGothic"/>
                <a:cs typeface="NanumGothic"/>
                <a:sym typeface="Nanum Gothic"/>
              </a:rPr>
              <a:t>CUAI 장학금</a:t>
            </a:r>
            <a:endParaRPr sz="800" b="0" i="0" u="none" strike="noStrike" cap="none">
              <a:solidFill>
                <a:srgbClr val="999999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2" name="Google Shape;102;p2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3" name="Google Shape;103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5"/>
          <p:cNvSpPr txBox="1"/>
          <p:nvPr/>
        </p:nvSpPr>
        <p:spPr>
          <a:xfrm>
            <a:off x="1339750" y="2710050"/>
            <a:ext cx="49794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ko" sz="2500" b="1" i="0" u="none" strike="noStrike" cap="none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CUAI B</a:t>
            </a:r>
            <a:r>
              <a:rPr lang="ko" sz="2500" b="1">
                <a:solidFill>
                  <a:srgbClr val="19264B"/>
                </a:solidFill>
              </a:rPr>
              <a:t>asic 2조</a:t>
            </a:r>
            <a:endParaRPr sz="2500" b="1" i="0" u="none" strike="noStrike" cap="none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" sz="1400" b="0" i="0" u="none" strike="noStrike" cap="none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2025.</a:t>
            </a:r>
            <a:r>
              <a:rPr lang="ko">
                <a:solidFill>
                  <a:srgbClr val="19264B"/>
                </a:solidFill>
              </a:rPr>
              <a:t>10</a:t>
            </a:r>
            <a:r>
              <a:rPr lang="ko" sz="1400" b="0" i="0" u="none" strike="noStrike" cap="none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ko">
                <a:solidFill>
                  <a:srgbClr val="19264B"/>
                </a:solidFill>
              </a:rPr>
              <a:t>27</a:t>
            </a:r>
            <a:endParaRPr sz="1400" b="0" i="0" u="none" strike="noStrike" cap="none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" sz="1100">
                <a:solidFill>
                  <a:srgbClr val="19264B"/>
                </a:solidFill>
              </a:rPr>
              <a:t>조원: 박수현, 박영서, 이서현</a:t>
            </a:r>
            <a:endParaRPr sz="1100" b="0" i="0" u="none" strike="noStrike" cap="none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" name="Google Shape;110;p2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11" name="Google Shape;111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" name="Google Shape;117;p2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18" name="Google Shape;118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6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" sz="2000" b="1" i="0" u="none" strike="noStrike" cap="none">
                <a:solidFill>
                  <a:srgbClr val="19264B"/>
                </a:solidFill>
                <a:latin typeface="NanumGothic"/>
                <a:ea typeface="NanumGothic"/>
                <a:cs typeface="NanumGothic"/>
                <a:sym typeface="Nanum Gothic"/>
              </a:rPr>
              <a:t>스터원 소개 및 만남 인증</a:t>
            </a:r>
            <a:endParaRPr sz="2000" b="1" i="0" u="none" strike="noStrike" cap="none">
              <a:solidFill>
                <a:srgbClr val="19264B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120" name="Google Shape;120;p26"/>
          <p:cNvSpPr txBox="1"/>
          <p:nvPr/>
        </p:nvSpPr>
        <p:spPr>
          <a:xfrm>
            <a:off x="5629600" y="2149050"/>
            <a:ext cx="22821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" sz="1400" b="1" i="0" u="none" strike="noStrike" cap="none">
                <a:solidFill>
                  <a:srgbClr val="000000"/>
                </a:solidFill>
              </a:rPr>
              <a:t>스터디원 1 : </a:t>
            </a:r>
            <a:r>
              <a:rPr lang="ko" b="1"/>
              <a:t>박수현</a:t>
            </a:r>
            <a:endParaRPr sz="1400" b="1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" sz="1400" b="1" i="0" u="none" strike="noStrike" cap="none">
                <a:solidFill>
                  <a:srgbClr val="000000"/>
                </a:solidFill>
              </a:rPr>
              <a:t>스터디원 2 : </a:t>
            </a:r>
            <a:r>
              <a:rPr lang="ko" b="1"/>
              <a:t>박영서</a:t>
            </a:r>
            <a:endParaRPr sz="1400" b="1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" sz="1400" b="1" i="0" u="none" strike="noStrike" cap="none">
                <a:solidFill>
                  <a:srgbClr val="000000"/>
                </a:solidFill>
              </a:rPr>
              <a:t>스터디원 3 : </a:t>
            </a:r>
            <a:r>
              <a:rPr lang="ko" b="1"/>
              <a:t>이서현</a:t>
            </a:r>
            <a:endParaRPr sz="1400" b="1" i="0" u="none" strike="noStrike" cap="none">
              <a:solidFill>
                <a:srgbClr val="000000"/>
              </a:solidFill>
            </a:endParaRPr>
          </a:p>
        </p:txBody>
      </p:sp>
      <p:pic>
        <p:nvPicPr>
          <p:cNvPr id="121" name="Google Shape;121;p26" title="IMG_3355.PNG"/>
          <p:cNvPicPr preferRelativeResize="0"/>
          <p:nvPr/>
        </p:nvPicPr>
        <p:blipFill rotWithShape="1">
          <a:blip r:embed="rId4">
            <a:alphaModFix/>
          </a:blip>
          <a:srcRect t="24469" b="19152"/>
          <a:stretch/>
        </p:blipFill>
        <p:spPr>
          <a:xfrm>
            <a:off x="2059913" y="1063350"/>
            <a:ext cx="3114174" cy="3804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7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" name="Google Shape;127;p27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8" name="Google Shape;128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7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" sz="2000" b="1" i="0" u="none" strike="noStrike" cap="none">
                <a:solidFill>
                  <a:srgbClr val="19264B"/>
                </a:solidFill>
                <a:latin typeface="NanumGothic"/>
                <a:ea typeface="NanumGothic"/>
                <a:cs typeface="NanumGothic"/>
                <a:sym typeface="Nanum Gothic"/>
              </a:rPr>
              <a:t>목차</a:t>
            </a:r>
            <a:endParaRPr sz="2000" b="1" i="0" u="none" strike="noStrike" cap="none">
              <a:solidFill>
                <a:srgbClr val="19264B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130" name="Google Shape;130;p27"/>
          <p:cNvSpPr txBox="1"/>
          <p:nvPr/>
        </p:nvSpPr>
        <p:spPr>
          <a:xfrm>
            <a:off x="1408975" y="1867800"/>
            <a:ext cx="24573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ko" sz="1800" b="1">
                <a:solidFill>
                  <a:schemeClr val="dk2"/>
                </a:solidFill>
              </a:rPr>
              <a:t>프로젝트 소개</a:t>
            </a: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ko" sz="1800" b="1">
                <a:solidFill>
                  <a:schemeClr val="dk2"/>
                </a:solidFill>
              </a:rPr>
              <a:t>주제 선정 이유</a:t>
            </a:r>
            <a:endParaRPr sz="18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8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" name="Google Shape;136;p28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7" name="Google Shape;137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8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" sz="2000" b="1">
                <a:solidFill>
                  <a:srgbClr val="19264B"/>
                </a:solidFill>
                <a:latin typeface="NanumGothic"/>
                <a:ea typeface="NanumGothic"/>
                <a:cs typeface="NanumGothic"/>
                <a:sym typeface="Nanum Gothic"/>
              </a:rPr>
              <a:t>프로젝트 소개</a:t>
            </a:r>
            <a:endParaRPr sz="2000" b="1" i="0" u="none" strike="noStrike" cap="none">
              <a:solidFill>
                <a:srgbClr val="19264B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pic>
        <p:nvPicPr>
          <p:cNvPr id="139" name="Google Shape;139;p28" title="Screenshot 2026-10-25 at 22.51.2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8975" y="2333552"/>
            <a:ext cx="6459551" cy="114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8" title="Screenshot 2026-10-25 at 22.52.0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08975" y="1227413"/>
            <a:ext cx="2227375" cy="94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8"/>
          <p:cNvSpPr txBox="1"/>
          <p:nvPr/>
        </p:nvSpPr>
        <p:spPr>
          <a:xfrm>
            <a:off x="1408975" y="3638116"/>
            <a:ext cx="7438246" cy="10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ko" sz="1800" dirty="0">
                <a:solidFill>
                  <a:schemeClr val="dk2"/>
                </a:solidFill>
              </a:rPr>
              <a:t>캐글 데이터셋 활용</a:t>
            </a:r>
            <a:endParaRPr sz="1800" dirty="0">
              <a:solidFill>
                <a:schemeClr val="dk2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ko" sz="1800" dirty="0">
                <a:solidFill>
                  <a:schemeClr val="dk2"/>
                </a:solidFill>
              </a:rPr>
              <a:t>온라인 게시물의 글과 사진 데이터셋을 토대로 레이블별 특징 파악</a:t>
            </a: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142" name="Google Shape;142;p28"/>
          <p:cNvSpPr txBox="1"/>
          <p:nvPr/>
        </p:nvSpPr>
        <p:spPr>
          <a:xfrm>
            <a:off x="3303950" y="322325"/>
            <a:ext cx="4609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 b="1">
                <a:solidFill>
                  <a:schemeClr val="dk2"/>
                </a:solidFill>
              </a:rPr>
              <a:t>텍스트와 이미지 기반 가짜뉴스 특성 분석</a:t>
            </a:r>
            <a:endParaRPr sz="18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" name="Google Shape;148;p29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49" name="Google Shape;149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9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" sz="2000" b="1">
                <a:solidFill>
                  <a:srgbClr val="19264B"/>
                </a:solidFill>
                <a:latin typeface="NanumGothic"/>
                <a:ea typeface="NanumGothic"/>
                <a:cs typeface="NanumGothic"/>
                <a:sym typeface="Nanum Gothic"/>
              </a:rPr>
              <a:t>주제 선정 이유</a:t>
            </a:r>
            <a:endParaRPr sz="2000" b="1" i="0" u="none" strike="noStrike" cap="none">
              <a:solidFill>
                <a:srgbClr val="19264B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pic>
        <p:nvPicPr>
          <p:cNvPr id="151" name="Google Shape;151;p29" title="Screenshot 2026-10-25 at 22.49.5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5350" y="1014675"/>
            <a:ext cx="5916959" cy="188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9"/>
          <p:cNvSpPr txBox="1"/>
          <p:nvPr/>
        </p:nvSpPr>
        <p:spPr>
          <a:xfrm>
            <a:off x="1392875" y="3054025"/>
            <a:ext cx="74619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ko" sz="1800" b="1">
                <a:solidFill>
                  <a:schemeClr val="dk2"/>
                </a:solidFill>
              </a:rPr>
              <a:t>텍스트의 특징</a:t>
            </a:r>
            <a:endParaRPr sz="1800" b="1"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ko">
                <a:solidFill>
                  <a:schemeClr val="dk2"/>
                </a:solidFill>
              </a:rPr>
              <a:t>제목의 길이, 문장부호, 반복되는 표현을 레이블별로 비교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ko" sz="1800" b="1">
                <a:solidFill>
                  <a:schemeClr val="dk2"/>
                </a:solidFill>
              </a:rPr>
              <a:t>글과 사진의 관계</a:t>
            </a:r>
            <a:endParaRPr sz="1800" b="1"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ko">
                <a:solidFill>
                  <a:schemeClr val="dk2"/>
                </a:solidFill>
              </a:rPr>
              <a:t>사진이 글의 내용을 뒷받침하는지 살펴보고, 어긋나는 내용의 사례 검토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3" name="Google Shape;153;p29"/>
          <p:cNvSpPr txBox="1"/>
          <p:nvPr/>
        </p:nvSpPr>
        <p:spPr>
          <a:xfrm>
            <a:off x="1482800" y="4439425"/>
            <a:ext cx="7371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dirty="0">
                <a:solidFill>
                  <a:schemeClr val="dk1"/>
                </a:solidFill>
              </a:rPr>
              <a:t>💡</a:t>
            </a:r>
            <a:r>
              <a:rPr lang="ko" sz="1200" dirty="0">
                <a:solidFill>
                  <a:schemeClr val="dk1"/>
                </a:solidFill>
              </a:rPr>
              <a:t> </a:t>
            </a:r>
            <a:r>
              <a:rPr lang="ko" sz="1800" b="1" dirty="0">
                <a:solidFill>
                  <a:schemeClr val="dk2"/>
                </a:solidFill>
              </a:rPr>
              <a:t>정보의 신뢰성을 검토할 때 참고할 수 있는 단서 파악</a:t>
            </a:r>
            <a:endParaRPr b="1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52897B46-DEB7-0E2A-741F-66236AE58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>
            <a:extLst>
              <a:ext uri="{FF2B5EF4-FFF2-40B4-BE49-F238E27FC236}">
                <a16:creationId xmlns:a16="http://schemas.microsoft.com/office/drawing/2014/main" id="{8499E33A-0B26-22DF-CC85-8821A52EE9A2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" name="Google Shape;148;p29">
            <a:extLst>
              <a:ext uri="{FF2B5EF4-FFF2-40B4-BE49-F238E27FC236}">
                <a16:creationId xmlns:a16="http://schemas.microsoft.com/office/drawing/2014/main" id="{11316BB0-8831-A9AE-00AD-690FA7576287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49" name="Google Shape;149;p29">
            <a:extLst>
              <a:ext uri="{FF2B5EF4-FFF2-40B4-BE49-F238E27FC236}">
                <a16:creationId xmlns:a16="http://schemas.microsoft.com/office/drawing/2014/main" id="{FA130156-C029-3936-10EC-A9AA1D433A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9">
            <a:extLst>
              <a:ext uri="{FF2B5EF4-FFF2-40B4-BE49-F238E27FC236}">
                <a16:creationId xmlns:a16="http://schemas.microsoft.com/office/drawing/2014/main" id="{2A81D29B-0BA6-5C3C-A577-19D319745F1D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NanumGothic"/>
                <a:ea typeface="NanumGothic"/>
                <a:cs typeface="NanumGothic"/>
                <a:sym typeface="Nanum Gothic"/>
              </a:rPr>
              <a:t>분석 방향</a:t>
            </a:r>
            <a:endParaRPr sz="2000" b="1" i="0" u="none" strike="noStrike" cap="none" dirty="0">
              <a:solidFill>
                <a:srgbClr val="19264B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153" name="Google Shape;153;p29">
            <a:extLst>
              <a:ext uri="{FF2B5EF4-FFF2-40B4-BE49-F238E27FC236}">
                <a16:creationId xmlns:a16="http://schemas.microsoft.com/office/drawing/2014/main" id="{2BD4DF79-D016-6955-E09F-F08424F13384}"/>
              </a:ext>
            </a:extLst>
          </p:cNvPr>
          <p:cNvSpPr txBox="1"/>
          <p:nvPr/>
        </p:nvSpPr>
        <p:spPr>
          <a:xfrm>
            <a:off x="1293225" y="4142646"/>
            <a:ext cx="76612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ko" altLang="en-US" sz="2400" b="1" dirty="0">
                <a:solidFill>
                  <a:schemeClr val="dk1"/>
                </a:solidFill>
              </a:rPr>
              <a:t>💡 </a:t>
            </a:r>
            <a:r>
              <a:rPr lang="ko-KR" altLang="en-US" sz="2400" b="1" dirty="0">
                <a:solidFill>
                  <a:schemeClr val="dk1"/>
                </a:solidFill>
              </a:rPr>
              <a:t> </a:t>
            </a:r>
            <a:r>
              <a:rPr lang="en-US" altLang="ko" sz="2400" b="1" dirty="0">
                <a:solidFill>
                  <a:schemeClr val="dk1"/>
                </a:solidFill>
              </a:rPr>
              <a:t>Decision Tree </a:t>
            </a:r>
            <a:r>
              <a:rPr lang="ko-KR" altLang="en-US" sz="2400" b="1" dirty="0">
                <a:solidFill>
                  <a:schemeClr val="dk1"/>
                </a:solidFill>
              </a:rPr>
              <a:t>와 </a:t>
            </a:r>
            <a:r>
              <a:rPr lang="en-US" altLang="ko-KR" sz="2400" b="1" dirty="0">
                <a:solidFill>
                  <a:schemeClr val="dk1"/>
                </a:solidFill>
              </a:rPr>
              <a:t>Random Forest</a:t>
            </a:r>
            <a:r>
              <a:rPr lang="ko-KR" altLang="en-US" sz="2400" b="1" dirty="0">
                <a:solidFill>
                  <a:schemeClr val="dk1"/>
                </a:solidFill>
              </a:rPr>
              <a:t> </a:t>
            </a:r>
            <a:r>
              <a:rPr lang="ko-KR" altLang="en-US" sz="2400" b="1" dirty="0" err="1">
                <a:solidFill>
                  <a:schemeClr val="dk1"/>
                </a:solidFill>
              </a:rPr>
              <a:t>를</a:t>
            </a:r>
            <a:r>
              <a:rPr lang="ko-KR" altLang="en-US" sz="2400" b="1" dirty="0">
                <a:solidFill>
                  <a:schemeClr val="dk1"/>
                </a:solidFill>
              </a:rPr>
              <a:t> 활용한 분석</a:t>
            </a:r>
            <a:endParaRPr b="1" dirty="0">
              <a:solidFill>
                <a:schemeClr val="dk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9F9CDC-36D6-06CC-73BB-F661E13C9C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285" y="1213725"/>
            <a:ext cx="5127079" cy="2560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002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64B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30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0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0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" name="Google Shape;162;p30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3" name="Google Shape;163;p30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0"/>
          <p:cNvSpPr txBox="1"/>
          <p:nvPr/>
        </p:nvSpPr>
        <p:spPr>
          <a:xfrm>
            <a:off x="2082300" y="2110050"/>
            <a:ext cx="4979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lt1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</Words>
  <Application>Microsoft Macintosh PowerPoint</Application>
  <PresentationFormat>On-screen Show (16:9)</PresentationFormat>
  <Paragraphs>32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NanumGothic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박영서</cp:lastModifiedBy>
  <cp:revision>1</cp:revision>
  <dcterms:modified xsi:type="dcterms:W3CDTF">2026-10-27T06:25:29Z</dcterms:modified>
</cp:coreProperties>
</file>